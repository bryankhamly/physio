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318" r:id="rId41"/>
    <p:sldId id="319" r:id="rId42"/>
    <p:sldId id="320" r:id="rId43"/>
    <p:sldId id="321" r:id="rId44"/>
    <p:sldId id="322" r:id="rId45"/>
    <p:sldId id="323" r:id="rId46"/>
    <p:sldId id="324" r:id="rId47"/>
    <p:sldId id="325" r:id="rId48"/>
    <p:sldId id="306" r:id="rId49"/>
    <p:sldId id="307" r:id="rId50"/>
    <p:sldId id="308" r:id="rId51"/>
    <p:sldId id="309" r:id="rId5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88B3"/>
    <a:srgbClr val="BE004C"/>
    <a:srgbClr val="CCE4BB"/>
    <a:srgbClr val="69BB2D"/>
    <a:srgbClr val="A0CBD1"/>
    <a:srgbClr val="5B3163"/>
    <a:srgbClr val="45A1AC"/>
    <a:srgbClr val="533F7A"/>
    <a:srgbClr val="FF6600"/>
    <a:srgbClr val="015D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83010" autoAdjust="0"/>
  </p:normalViewPr>
  <p:slideViewPr>
    <p:cSldViewPr snapToGrid="0">
      <p:cViewPr varScale="1">
        <p:scale>
          <a:sx n="143" d="100"/>
          <a:sy n="143" d="100"/>
        </p:scale>
        <p:origin x="-2136" y="-104"/>
      </p:cViewPr>
      <p:guideLst>
        <p:guide orient="horz" pos="2160"/>
        <p:guide pos="36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interSettings" Target="printerSettings/printerSettings1.bin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2B7851-FA3F-1543-9FAB-DCD902E6CB3B}" type="datetimeFigureOut">
              <a:rPr lang="en-US" smtClean="0"/>
              <a:t>01/03/16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3212C-D7EE-654D-94D3-6D73D68942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48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43212C-D7EE-654D-94D3-6D73D68942D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082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601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806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011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6"/>
          <p:cNvSpPr txBox="1">
            <a:spLocks noChangeArrowheads="1"/>
          </p:cNvSpPr>
          <p:nvPr userDrawn="1"/>
        </p:nvSpPr>
        <p:spPr bwMode="auto">
          <a:xfrm>
            <a:off x="5723467" y="274638"/>
            <a:ext cx="3043238" cy="67710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900" dirty="0"/>
              <a:t>PowerPoint</a:t>
            </a:r>
            <a:r>
              <a:rPr lang="en-US" sz="1900" baseline="30000" dirty="0"/>
              <a:t>®</a:t>
            </a:r>
            <a:r>
              <a:rPr lang="en-US" sz="1900" dirty="0"/>
              <a:t> Lecture </a:t>
            </a:r>
            <a:r>
              <a:rPr lang="en-US" sz="1900" dirty="0" smtClean="0"/>
              <a:t>Presentation</a:t>
            </a:r>
          </a:p>
        </p:txBody>
      </p:sp>
      <p:sp>
        <p:nvSpPr>
          <p:cNvPr id="9" name="Text Box 7"/>
          <p:cNvSpPr txBox="1">
            <a:spLocks noChangeArrowheads="1"/>
          </p:cNvSpPr>
          <p:nvPr userDrawn="1"/>
        </p:nvSpPr>
        <p:spPr bwMode="auto">
          <a:xfrm>
            <a:off x="5723467" y="2741613"/>
            <a:ext cx="1670050" cy="5048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Aft>
                <a:spcPct val="50000"/>
              </a:spcAft>
              <a:buClr>
                <a:srgbClr val="669900"/>
              </a:buClr>
              <a:buFont typeface="Wingdings" charset="0"/>
              <a:buNone/>
            </a:pPr>
            <a:r>
              <a:rPr lang="en-US" sz="1800" b="1" dirty="0"/>
              <a:t>C H A P T E R</a:t>
            </a:r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auto">
          <a:xfrm>
            <a:off x="0" y="6611112"/>
            <a:ext cx="9144000" cy="2286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900" dirty="0"/>
              <a:t>© </a:t>
            </a:r>
            <a:r>
              <a:rPr lang="en-US" sz="900" dirty="0" smtClean="0"/>
              <a:t>2017 </a:t>
            </a:r>
            <a:r>
              <a:rPr lang="en-US" sz="900" dirty="0"/>
              <a:t>Pearson Education, Inc.</a:t>
            </a:r>
          </a:p>
        </p:txBody>
      </p:sp>
      <p:sp>
        <p:nvSpPr>
          <p:cNvPr id="3084" name="Rectangle 12"/>
          <p:cNvSpPr>
            <a:spLocks noChangeArrowheads="1"/>
          </p:cNvSpPr>
          <p:nvPr userDrawn="1"/>
        </p:nvSpPr>
        <p:spPr bwMode="auto">
          <a:xfrm>
            <a:off x="5730875" y="4011613"/>
            <a:ext cx="2895600" cy="685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3200" dirty="0">
              <a:solidFill>
                <a:srgbClr val="00ACF7"/>
              </a:solidFill>
            </a:endParaRPr>
          </a:p>
        </p:txBody>
      </p:sp>
      <p:pic>
        <p:nvPicPr>
          <p:cNvPr id="2" name="Picture 1" descr="STAN9804_06_mrktg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82283" cy="68671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BE004C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rgbClr val="BE004C"/>
              </a:buClr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buClr>
                <a:srgbClr val="BE004C"/>
              </a:buClr>
              <a:defRPr/>
            </a:lvl2pPr>
            <a:lvl3pPr>
              <a:lnSpc>
                <a:spcPct val="100000"/>
              </a:lnSpc>
              <a:buClr>
                <a:srgbClr val="BE004C"/>
              </a:buClr>
              <a:defRPr/>
            </a:lvl3pPr>
            <a:lvl4pPr>
              <a:lnSpc>
                <a:spcPct val="100000"/>
              </a:lnSpc>
              <a:buClr>
                <a:srgbClr val="BE004C"/>
              </a:buClr>
              <a:defRPr/>
            </a:lvl4pPr>
            <a:lvl5pPr>
              <a:lnSpc>
                <a:spcPct val="100000"/>
              </a:lnSpc>
              <a:buClr>
                <a:srgbClr val="BE004C"/>
              </a:buCl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76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Dou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2575" y="90488"/>
            <a:ext cx="8861425" cy="1077218"/>
          </a:xfrm>
        </p:spPr>
        <p:txBody>
          <a:bodyPr/>
          <a:lstStyle>
            <a:lvl1pPr>
              <a:defRPr>
                <a:solidFill>
                  <a:srgbClr val="BE004C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625" y="1554094"/>
            <a:ext cx="8537575" cy="4770505"/>
          </a:xfrm>
        </p:spPr>
        <p:txBody>
          <a:bodyPr/>
          <a:lstStyle>
            <a:lvl1pPr>
              <a:buClr>
                <a:srgbClr val="BE004C"/>
              </a:buClr>
              <a:defRPr/>
            </a:lvl1pPr>
            <a:lvl2pPr>
              <a:buClr>
                <a:srgbClr val="BE004C"/>
              </a:buClr>
              <a:defRPr sz="2400"/>
            </a:lvl2pPr>
            <a:lvl3pPr>
              <a:buClr>
                <a:srgbClr val="BE004C"/>
              </a:buClr>
              <a:defRPr/>
            </a:lvl3pPr>
            <a:lvl4pPr>
              <a:buClr>
                <a:srgbClr val="BE004C"/>
              </a:buClr>
              <a:defRPr/>
            </a:lvl4pPr>
            <a:lvl5pPr>
              <a:buClr>
                <a:srgbClr val="BE004C"/>
              </a:buCl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354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BE004C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625" y="1068388"/>
            <a:ext cx="4192588" cy="5256212"/>
          </a:xfrm>
        </p:spPr>
        <p:txBody>
          <a:bodyPr/>
          <a:lstStyle>
            <a:lvl1pPr>
              <a:buClr>
                <a:srgbClr val="BE004C"/>
              </a:buClr>
              <a:defRPr sz="2800"/>
            </a:lvl1pPr>
            <a:lvl2pPr>
              <a:buClr>
                <a:srgbClr val="BE004C"/>
              </a:buClr>
              <a:defRPr sz="2400"/>
            </a:lvl2pPr>
            <a:lvl3pPr>
              <a:buClr>
                <a:srgbClr val="BE004C"/>
              </a:buClr>
              <a:defRPr sz="2000"/>
            </a:lvl3pPr>
            <a:lvl4pPr>
              <a:buClr>
                <a:srgbClr val="BE004C"/>
              </a:buClr>
              <a:defRPr sz="1800"/>
            </a:lvl4pPr>
            <a:lvl5pPr>
              <a:buClr>
                <a:srgbClr val="BE004C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068388"/>
            <a:ext cx="4192587" cy="5256212"/>
          </a:xfrm>
        </p:spPr>
        <p:txBody>
          <a:bodyPr/>
          <a:lstStyle>
            <a:lvl1pPr>
              <a:buClr>
                <a:srgbClr val="BE004C"/>
              </a:buClr>
              <a:defRPr sz="2800"/>
            </a:lvl1pPr>
            <a:lvl2pPr>
              <a:buClr>
                <a:srgbClr val="BE004C"/>
              </a:buClr>
              <a:defRPr sz="2400"/>
            </a:lvl2pPr>
            <a:lvl3pPr>
              <a:buClr>
                <a:srgbClr val="BE004C"/>
              </a:buClr>
              <a:defRPr sz="2000"/>
            </a:lvl3pPr>
            <a:lvl4pPr>
              <a:buClr>
                <a:srgbClr val="BE004C"/>
              </a:buClr>
              <a:defRPr sz="1800"/>
            </a:lvl4pPr>
            <a:lvl5pPr>
              <a:buClr>
                <a:srgbClr val="BE004C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83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Dou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2575" y="90488"/>
            <a:ext cx="8861425" cy="1077218"/>
          </a:xfrm>
        </p:spPr>
        <p:txBody>
          <a:bodyPr/>
          <a:lstStyle>
            <a:lvl1pPr>
              <a:defRPr>
                <a:solidFill>
                  <a:srgbClr val="BE004C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625" y="1545214"/>
            <a:ext cx="4192588" cy="4779385"/>
          </a:xfrm>
        </p:spPr>
        <p:txBody>
          <a:bodyPr/>
          <a:lstStyle>
            <a:lvl1pPr>
              <a:buClr>
                <a:srgbClr val="BE004C"/>
              </a:buClr>
              <a:defRPr sz="2800"/>
            </a:lvl1pPr>
            <a:lvl2pPr>
              <a:buClr>
                <a:srgbClr val="BE004C"/>
              </a:buClr>
              <a:defRPr sz="2400"/>
            </a:lvl2pPr>
            <a:lvl3pPr>
              <a:buClr>
                <a:srgbClr val="BE004C"/>
              </a:buClr>
              <a:defRPr sz="2000"/>
            </a:lvl3pPr>
            <a:lvl4pPr>
              <a:buClr>
                <a:srgbClr val="BE004C"/>
              </a:buClr>
              <a:defRPr sz="1800"/>
            </a:lvl4pPr>
            <a:lvl5pPr>
              <a:buClr>
                <a:srgbClr val="BE004C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45336"/>
            <a:ext cx="4192587" cy="4782312"/>
          </a:xfrm>
        </p:spPr>
        <p:txBody>
          <a:bodyPr/>
          <a:lstStyle>
            <a:lvl1pPr>
              <a:buClr>
                <a:srgbClr val="BE004C"/>
              </a:buClr>
              <a:defRPr sz="2800"/>
            </a:lvl1pPr>
            <a:lvl2pPr>
              <a:buClr>
                <a:srgbClr val="BE004C"/>
              </a:buClr>
              <a:defRPr sz="2400"/>
            </a:lvl2pPr>
            <a:lvl3pPr>
              <a:buClr>
                <a:srgbClr val="BE004C"/>
              </a:buClr>
              <a:defRPr sz="2000"/>
            </a:lvl3pPr>
            <a:lvl4pPr>
              <a:buClr>
                <a:srgbClr val="BE004C"/>
              </a:buClr>
              <a:defRPr sz="1800"/>
            </a:lvl4pPr>
            <a:lvl5pPr>
              <a:buClr>
                <a:srgbClr val="BE004C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22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0253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82575" y="90488"/>
            <a:ext cx="88614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1625" y="1068388"/>
            <a:ext cx="8537575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2"/>
          <p:cNvSpPr>
            <a:spLocks/>
          </p:cNvSpPr>
          <p:nvPr userDrawn="1"/>
        </p:nvSpPr>
        <p:spPr bwMode="auto">
          <a:xfrm>
            <a:off x="0" y="0"/>
            <a:ext cx="9153144" cy="152400"/>
          </a:xfrm>
          <a:prstGeom prst="rect">
            <a:avLst/>
          </a:prstGeom>
          <a:solidFill>
            <a:srgbClr val="A188B3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endParaRPr lang="en-US" sz="3200" dirty="0"/>
          </a:p>
        </p:txBody>
      </p:sp>
      <p:sp>
        <p:nvSpPr>
          <p:cNvPr id="109570" name="Rectangle 2"/>
          <p:cNvSpPr>
            <a:spLocks noChangeArrowheads="1"/>
          </p:cNvSpPr>
          <p:nvPr/>
        </p:nvSpPr>
        <p:spPr bwMode="gray">
          <a:xfrm>
            <a:off x="87313" y="6611112"/>
            <a:ext cx="5399087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eaLnBrk="1" hangingPunct="1"/>
            <a:r>
              <a:rPr lang="en-GB" sz="900" dirty="0">
                <a:cs typeface="Arial" charset="0"/>
              </a:rPr>
              <a:t>© </a:t>
            </a:r>
            <a:r>
              <a:rPr lang="en-GB" sz="900" dirty="0" smtClean="0">
                <a:cs typeface="Arial" charset="0"/>
              </a:rPr>
              <a:t>2017 </a:t>
            </a:r>
            <a:r>
              <a:rPr lang="en-GB" sz="900" dirty="0">
                <a:cs typeface="Arial" charset="0"/>
              </a:rPr>
              <a:t>Pearson Education, Inc.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2" r:id="rId4"/>
    <p:sldLayoutId id="2147483654" r:id="rId5"/>
    <p:sldLayoutId id="2147483655" r:id="rId6"/>
  </p:sldLayoutIdLst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rgbClr val="BE004C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ACF7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rgbClr val="BE004C"/>
        </a:buClr>
        <a:buFont typeface="Times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rgbClr val="BE004C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rgbClr val="BE004C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rgbClr val="BE004C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lnSpc>
          <a:spcPct val="100000"/>
        </a:lnSpc>
        <a:spcBef>
          <a:spcPct val="20000"/>
        </a:spcBef>
        <a:spcAft>
          <a:spcPct val="0"/>
        </a:spcAft>
        <a:buClr>
          <a:srgbClr val="BE004C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ACF7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ACF7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ACF7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ACF7"/>
        </a:buClr>
        <a:buFont typeface="Times" charset="0"/>
        <a:buChar char="•"/>
        <a:defRPr sz="2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jp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jp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jp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.jp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.jp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9.jp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0.jp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.jp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2.jp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3.jp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6.jp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5711842" y="4011613"/>
            <a:ext cx="2895600" cy="1169551"/>
          </a:xfrm>
          <a:prstGeom prst="rect">
            <a:avLst/>
          </a:prstGeom>
          <a:noFill/>
          <a:ln/>
        </p:spPr>
        <p:txBody>
          <a:bodyPr>
            <a:spAutoFit/>
          </a:bodyPr>
          <a:lstStyle/>
          <a:p>
            <a:r>
              <a:rPr lang="en-US" sz="3500" dirty="0">
                <a:solidFill>
                  <a:schemeClr val="tx1"/>
                </a:solidFill>
              </a:rPr>
              <a:t>The Immune System</a:t>
            </a:r>
            <a:endParaRPr lang="en-US" sz="3500" dirty="0">
              <a:solidFill>
                <a:schemeClr val="tx1"/>
              </a:solidFill>
            </a:endParaRPr>
          </a:p>
        </p:txBody>
      </p:sp>
      <p:sp>
        <p:nvSpPr>
          <p:cNvPr id="2052" name="Rectangle 11"/>
          <p:cNvSpPr>
            <a:spLocks noChangeArrowheads="1"/>
          </p:cNvSpPr>
          <p:nvPr/>
        </p:nvSpPr>
        <p:spPr bwMode="auto">
          <a:xfrm>
            <a:off x="7334658" y="2212848"/>
            <a:ext cx="1524000" cy="881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sz="6000" b="1" i="1" dirty="0" smtClean="0">
                <a:solidFill>
                  <a:srgbClr val="BE004C"/>
                </a:solidFill>
                <a:cs typeface="Arial" charset="0"/>
              </a:rPr>
              <a:t>23b</a:t>
            </a:r>
            <a:endParaRPr lang="en-US" sz="6000" i="1" dirty="0">
              <a:solidFill>
                <a:srgbClr val="BE004C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 Outline </a:t>
            </a:r>
            <a:endParaRPr lang="en-US" dirty="0"/>
          </a:p>
        </p:txBody>
      </p:sp>
      <p:sp>
        <p:nvSpPr>
          <p:cNvPr id="7170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23.1</a:t>
            </a:r>
            <a:r>
              <a:rPr lang="en-US" dirty="0"/>
              <a:t>	</a:t>
            </a:r>
            <a:r>
              <a:rPr lang="en-US" dirty="0" smtClean="0"/>
              <a:t>Anatomy of the Immune System</a:t>
            </a:r>
          </a:p>
          <a:p>
            <a:pPr marL="0" indent="0">
              <a:buNone/>
            </a:pPr>
            <a:r>
              <a:rPr lang="en-US" dirty="0" smtClean="0"/>
              <a:t>23.2</a:t>
            </a:r>
            <a:r>
              <a:rPr lang="en-US" dirty="0"/>
              <a:t>	</a:t>
            </a:r>
            <a:r>
              <a:rPr lang="en-US" dirty="0" smtClean="0"/>
              <a:t>Pathogens That Activate the Immune 	Response</a:t>
            </a:r>
          </a:p>
          <a:p>
            <a:pPr marL="0" indent="0">
              <a:buNone/>
            </a:pPr>
            <a:r>
              <a:rPr lang="en-US" dirty="0" smtClean="0"/>
              <a:t>23.3</a:t>
            </a:r>
            <a:r>
              <a:rPr lang="en-US" dirty="0"/>
              <a:t>	</a:t>
            </a:r>
            <a:r>
              <a:rPr lang="en-US" dirty="0" smtClean="0"/>
              <a:t>Organization of the Body</a:t>
            </a:r>
            <a:r>
              <a:rPr lang="fr-FR" dirty="0" smtClean="0"/>
              <a:t>'</a:t>
            </a:r>
            <a:r>
              <a:rPr lang="en-US" dirty="0" smtClean="0"/>
              <a:t>s Defenses</a:t>
            </a:r>
          </a:p>
          <a:p>
            <a:pPr marL="0" indent="0">
              <a:buNone/>
            </a:pPr>
            <a:r>
              <a:rPr lang="en-US" dirty="0" smtClean="0"/>
              <a:t>23.4</a:t>
            </a:r>
            <a:r>
              <a:rPr lang="en-US" dirty="0"/>
              <a:t>	</a:t>
            </a:r>
            <a:r>
              <a:rPr lang="en-US" dirty="0" smtClean="0"/>
              <a:t>Humoral Immunity</a:t>
            </a:r>
          </a:p>
          <a:p>
            <a:pPr marL="0" indent="0">
              <a:buNone/>
            </a:pPr>
            <a:r>
              <a:rPr lang="en-US" dirty="0" smtClean="0"/>
              <a:t>23.5</a:t>
            </a:r>
            <a:r>
              <a:rPr lang="en-US" dirty="0"/>
              <a:t>	</a:t>
            </a:r>
            <a:r>
              <a:rPr lang="en-US" dirty="0" smtClean="0"/>
              <a:t>Cell-Mediated Immunity</a:t>
            </a:r>
          </a:p>
          <a:p>
            <a:pPr marL="0" indent="0">
              <a:buNone/>
            </a:pPr>
            <a:r>
              <a:rPr lang="en-US" dirty="0" smtClean="0"/>
              <a:t>23.6</a:t>
            </a:r>
            <a:r>
              <a:rPr lang="en-US" dirty="0"/>
              <a:t>	</a:t>
            </a:r>
            <a:r>
              <a:rPr lang="en-US" dirty="0" smtClean="0"/>
              <a:t>Immune Responses in Health and Disease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23.4 Humoral Immunity</a:t>
            </a:r>
            <a:endParaRPr lang="en-US" dirty="0"/>
          </a:p>
        </p:txBody>
      </p:sp>
      <p:sp>
        <p:nvSpPr>
          <p:cNvPr id="9218" name="Rectangle 1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Role of B lymphocytes in antibody production</a:t>
            </a:r>
          </a:p>
          <a:p>
            <a:pPr lvl="1"/>
            <a:r>
              <a:rPr lang="en-US" dirty="0" smtClean="0"/>
              <a:t>B lymphocyte exposure to antigen triggers clonal selection</a:t>
            </a:r>
          </a:p>
          <a:p>
            <a:pPr lvl="2"/>
            <a:r>
              <a:rPr lang="en-US" dirty="0" smtClean="0"/>
              <a:t>Memory B cells + plasma cells</a:t>
            </a:r>
          </a:p>
          <a:p>
            <a:pPr lvl="1"/>
            <a:r>
              <a:rPr lang="en-US" dirty="0" smtClean="0"/>
              <a:t>Plasma cells</a:t>
            </a:r>
          </a:p>
          <a:p>
            <a:pPr lvl="2"/>
            <a:r>
              <a:rPr lang="en-US" dirty="0" smtClean="0"/>
              <a:t>Life span: 4–7 days</a:t>
            </a:r>
          </a:p>
          <a:p>
            <a:pPr lvl="2"/>
            <a:r>
              <a:rPr lang="en-US" dirty="0" smtClean="0"/>
              <a:t>Secrete 2000 antibodies specific for antigen per second</a:t>
            </a:r>
          </a:p>
          <a:p>
            <a:pPr lvl="2"/>
            <a:r>
              <a:rPr lang="en-US" dirty="0" smtClean="0"/>
              <a:t>Antibodies circulate several weeks, binding to and marking antigen for destruction</a:t>
            </a:r>
          </a:p>
          <a:p>
            <a:pPr lvl="3"/>
            <a:r>
              <a:rPr lang="en-US" dirty="0" smtClean="0"/>
              <a:t>Phagocytosis</a:t>
            </a:r>
          </a:p>
          <a:p>
            <a:pPr lvl="3"/>
            <a:r>
              <a:rPr lang="en-US" dirty="0" smtClean="0"/>
              <a:t>Complement-mediated lysis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of B Lymphocytes in Antibody Production</a:t>
            </a:r>
            <a:endParaRPr lang="en-US" dirty="0"/>
          </a:p>
        </p:txBody>
      </p:sp>
      <p:sp>
        <p:nvSpPr>
          <p:cNvPr id="11266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Sometimes proliferation and differentiation of B cells in response to antigen depends on helper T cells</a:t>
            </a:r>
          </a:p>
          <a:p>
            <a:pPr lvl="1"/>
            <a:r>
              <a:rPr lang="en-US" dirty="0" smtClean="0"/>
              <a:t>Antigens: T-dependent antigens</a:t>
            </a:r>
          </a:p>
          <a:p>
            <a:pPr lvl="1"/>
            <a:r>
              <a:rPr lang="en-US" dirty="0" smtClean="0"/>
              <a:t>Helper T cells respond to specific antigen</a:t>
            </a:r>
          </a:p>
          <a:p>
            <a:pPr lvl="2"/>
            <a:r>
              <a:rPr lang="en-US" dirty="0" smtClean="0"/>
              <a:t>Secrete IL-2 (among other cytokines)</a:t>
            </a:r>
          </a:p>
          <a:p>
            <a:r>
              <a:rPr lang="en-US" dirty="0" smtClean="0"/>
              <a:t>IL-2 + T-dependent </a:t>
            </a:r>
            <a:r>
              <a:rPr lang="en-US" dirty="0"/>
              <a:t>antigens </a:t>
            </a:r>
            <a:r>
              <a:rPr lang="en-US" dirty="0" smtClean="0"/>
              <a:t>→</a:t>
            </a:r>
            <a:r>
              <a:rPr lang="en-US" dirty="0" smtClean="0">
                <a:sym typeface="Symbol" charset="0"/>
              </a:rPr>
              <a:t> </a:t>
            </a:r>
            <a:r>
              <a:rPr lang="en-US" dirty="0" smtClean="0">
                <a:sym typeface="Wingdings" charset="0"/>
              </a:rPr>
              <a:t>activate B cells</a:t>
            </a:r>
            <a:endParaRPr lang="en-US" dirty="0">
              <a:sym typeface="Wingdings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of B Lymphocytes in Antibody Production</a:t>
            </a:r>
            <a:endParaRPr lang="en-US" dirty="0"/>
          </a:p>
        </p:txBody>
      </p:sp>
      <p:sp>
        <p:nvSpPr>
          <p:cNvPr id="13314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 cells can proliferate and differentiate into plasma cells (but not memory cells) in the absence of T cells</a:t>
            </a:r>
          </a:p>
          <a:p>
            <a:r>
              <a:rPr lang="en-US" dirty="0" smtClean="0"/>
              <a:t>Antigens: polysaccharides on bacterial surfaces</a:t>
            </a:r>
          </a:p>
          <a:p>
            <a:r>
              <a:rPr lang="en-US" dirty="0" smtClean="0"/>
              <a:t>Response weaker than helper T cell–dependent response</a:t>
            </a:r>
          </a:p>
          <a:p>
            <a:r>
              <a:rPr lang="en-US" dirty="0" smtClean="0"/>
              <a:t>No memory for subsequent exposures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Antibody Function in Humoral Immunity</a:t>
            </a:r>
            <a:endParaRPr lang="en-US" dirty="0"/>
          </a:p>
        </p:txBody>
      </p:sp>
      <p:sp>
        <p:nvSpPr>
          <p:cNvPr id="15362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Antibody functions</a:t>
            </a:r>
          </a:p>
          <a:p>
            <a:pPr lvl="1"/>
            <a:r>
              <a:rPr lang="en-US" dirty="0" smtClean="0"/>
              <a:t>Binds to specific antigen</a:t>
            </a:r>
          </a:p>
          <a:p>
            <a:pPr lvl="1"/>
            <a:r>
              <a:rPr lang="en-US" dirty="0" smtClean="0"/>
              <a:t>Aids in inactivation or destruction of antigen</a:t>
            </a:r>
          </a:p>
          <a:p>
            <a:r>
              <a:rPr lang="en-US" dirty="0" smtClean="0"/>
              <a:t>Antibody: antigen-binding site and tail</a:t>
            </a:r>
          </a:p>
          <a:p>
            <a:r>
              <a:rPr lang="en-US" dirty="0" smtClean="0"/>
              <a:t>Antigen-binding site recognizes and binds antigen</a:t>
            </a:r>
          </a:p>
          <a:p>
            <a:r>
              <a:rPr lang="en-US" dirty="0" smtClean="0"/>
              <a:t>Tail is involved in inactivation or destruction of antigen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3" name="Rectangle 28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23.15  The five major classes of antibodies.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pic>
        <p:nvPicPr>
          <p:cNvPr id="35" name="Picture 34" descr="figure_23_15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05"/>
          <a:stretch/>
        </p:blipFill>
        <p:spPr>
          <a:xfrm>
            <a:off x="266700" y="482853"/>
            <a:ext cx="8601456" cy="591265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93016" y="1643426"/>
            <a:ext cx="1216978" cy="240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50" b="1" dirty="0"/>
              <a:t>J (joining) chain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430" y="475373"/>
            <a:ext cx="1089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0" dirty="0">
                <a:latin typeface="Arial Black"/>
                <a:cs typeface="Arial Black"/>
              </a:rPr>
              <a:t>Class of</a:t>
            </a:r>
          </a:p>
          <a:p>
            <a:pPr algn="l"/>
            <a:r>
              <a:rPr lang="en-US" sz="1000" dirty="0">
                <a:latin typeface="Arial Black"/>
                <a:cs typeface="Arial Black"/>
              </a:rPr>
              <a:t>antibody IgM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18180" y="627773"/>
            <a:ext cx="8534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0" dirty="0">
                <a:latin typeface="Arial Black"/>
                <a:cs typeface="Arial Black"/>
              </a:rPr>
              <a:t>Structure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85005" y="627773"/>
            <a:ext cx="8000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0" dirty="0">
                <a:latin typeface="Arial Black"/>
                <a:cs typeface="Arial Black"/>
              </a:rPr>
              <a:t>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1975" y="636354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0" dirty="0">
                <a:latin typeface="Arial Black"/>
                <a:cs typeface="Arial Black"/>
              </a:rPr>
              <a:t>Roles in antigen disposal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964" y="1102410"/>
            <a:ext cx="416494" cy="240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50" b="1" dirty="0"/>
              <a:t>IgM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3489" y="2623235"/>
            <a:ext cx="416494" cy="240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50" b="1" dirty="0"/>
              <a:t>IgD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964" y="3340785"/>
            <a:ext cx="416494" cy="240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50" b="1" dirty="0" smtClean="0"/>
              <a:t>IgG</a:t>
            </a:r>
            <a:endParaRPr lang="en-US" sz="105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237139" y="4674285"/>
            <a:ext cx="394140" cy="240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50" b="1" dirty="0" smtClean="0"/>
              <a:t>IgE</a:t>
            </a:r>
            <a:endParaRPr lang="en-US" sz="1050" b="1" dirty="0"/>
          </a:p>
        </p:txBody>
      </p:sp>
      <p:sp>
        <p:nvSpPr>
          <p:cNvPr id="45" name="TextBox 44"/>
          <p:cNvSpPr txBox="1"/>
          <p:nvPr/>
        </p:nvSpPr>
        <p:spPr>
          <a:xfrm>
            <a:off x="291114" y="5512485"/>
            <a:ext cx="402674" cy="240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50" b="1" dirty="0" smtClean="0"/>
              <a:t>IgA</a:t>
            </a:r>
            <a:endParaRPr lang="en-US" sz="105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904014" y="6172885"/>
            <a:ext cx="1216978" cy="240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050" b="1" dirty="0"/>
              <a:t>J (joining) chain</a:t>
            </a:r>
          </a:p>
        </p:txBody>
      </p:sp>
      <p:sp>
        <p:nvSpPr>
          <p:cNvPr id="47" name="Freeform 46"/>
          <p:cNvSpPr/>
          <p:nvPr/>
        </p:nvSpPr>
        <p:spPr>
          <a:xfrm>
            <a:off x="3044825" y="5937503"/>
            <a:ext cx="184150" cy="368300"/>
          </a:xfrm>
          <a:custGeom>
            <a:avLst/>
            <a:gdLst>
              <a:gd name="connsiteX0" fmla="*/ 0 w 184150"/>
              <a:gd name="connsiteY0" fmla="*/ 368300 h 368300"/>
              <a:gd name="connsiteX1" fmla="*/ 184150 w 184150"/>
              <a:gd name="connsiteY1" fmla="*/ 0 h 368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4150" h="368300">
                <a:moveTo>
                  <a:pt x="0" y="368300"/>
                </a:moveTo>
                <a:lnTo>
                  <a:pt x="184150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8" name="Freeform 47"/>
          <p:cNvSpPr/>
          <p:nvPr/>
        </p:nvSpPr>
        <p:spPr>
          <a:xfrm>
            <a:off x="2641600" y="1654428"/>
            <a:ext cx="215900" cy="111125"/>
          </a:xfrm>
          <a:custGeom>
            <a:avLst/>
            <a:gdLst>
              <a:gd name="connsiteX0" fmla="*/ 0 w 215900"/>
              <a:gd name="connsiteY0" fmla="*/ 111125 h 111125"/>
              <a:gd name="connsiteX1" fmla="*/ 215900 w 215900"/>
              <a:gd name="connsiteY1" fmla="*/ 0 h 11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5900" h="111125">
                <a:moveTo>
                  <a:pt x="0" y="111125"/>
                </a:moveTo>
                <a:lnTo>
                  <a:pt x="215900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082972" y="1104560"/>
            <a:ext cx="199543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dirty="0"/>
              <a:t>The most common class of</a:t>
            </a:r>
          </a:p>
          <a:p>
            <a:pPr algn="l"/>
            <a:r>
              <a:rPr lang="en-US" sz="1050" b="1" dirty="0"/>
              <a:t>antibody produced in the </a:t>
            </a:r>
          </a:p>
          <a:p>
            <a:pPr algn="l"/>
            <a:r>
              <a:rPr lang="en-US" sz="1050" b="1" dirty="0"/>
              <a:t>primary response to antigen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74503" y="2607393"/>
            <a:ext cx="170344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dirty="0"/>
              <a:t>Important as an antigen</a:t>
            </a:r>
          </a:p>
          <a:p>
            <a:pPr algn="l"/>
            <a:r>
              <a:rPr lang="en-US" sz="1050" b="1" dirty="0"/>
              <a:t>receptor on B cells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74505" y="3322826"/>
            <a:ext cx="2352320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dirty="0"/>
              <a:t>The most common class of</a:t>
            </a:r>
          </a:p>
          <a:p>
            <a:pPr algn="l"/>
            <a:r>
              <a:rPr lang="en-US" sz="1050" b="1" dirty="0"/>
              <a:t>antibody in the blood, and the</a:t>
            </a:r>
          </a:p>
          <a:p>
            <a:pPr algn="l"/>
            <a:r>
              <a:rPr lang="en-US" sz="1050" b="1" dirty="0"/>
              <a:t>major class of antibody produced</a:t>
            </a:r>
          </a:p>
          <a:p>
            <a:pPr algn="l"/>
            <a:r>
              <a:rPr lang="en-US" sz="1050" b="1" dirty="0"/>
              <a:t>in secondary responses. Crosses</a:t>
            </a:r>
          </a:p>
          <a:p>
            <a:pPr algn="l"/>
            <a:r>
              <a:rPr lang="en-US" sz="1050" b="1" dirty="0"/>
              <a:t>the placenta, so it is important in</a:t>
            </a:r>
          </a:p>
          <a:p>
            <a:pPr algn="l"/>
            <a:r>
              <a:rPr lang="en-US" sz="1050" b="1" dirty="0"/>
              <a:t>fetal and newborn immunity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74505" y="4664792"/>
            <a:ext cx="147989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dirty="0"/>
              <a:t>Involved in allergies</a:t>
            </a:r>
          </a:p>
          <a:p>
            <a:pPr algn="l"/>
            <a:r>
              <a:rPr lang="en-US" sz="1050" b="1" dirty="0"/>
              <a:t>such as hay fever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78736" y="5498760"/>
            <a:ext cx="218521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dirty="0"/>
              <a:t>Crosses epithelial cells, so is</a:t>
            </a:r>
          </a:p>
          <a:p>
            <a:pPr algn="l"/>
            <a:r>
              <a:rPr lang="en-US" sz="1050" b="1" dirty="0"/>
              <a:t>present on mucosal surfaces</a:t>
            </a:r>
          </a:p>
          <a:p>
            <a:pPr algn="l"/>
            <a:r>
              <a:rPr lang="en-US" sz="1050" b="1" dirty="0"/>
              <a:t>and in breast milk; is important</a:t>
            </a:r>
          </a:p>
          <a:p>
            <a:pPr algn="l"/>
            <a:r>
              <a:rPr lang="en-US" sz="1050" b="1" dirty="0"/>
              <a:t>in immunity in newborns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08669" y="5498760"/>
            <a:ext cx="15290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dirty="0"/>
              <a:t>Neutralizes antigen</a:t>
            </a:r>
          </a:p>
          <a:p>
            <a:pPr algn="l"/>
            <a:r>
              <a:rPr lang="en-US" sz="1050" b="1" dirty="0"/>
              <a:t>Agglutinates antigen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7139" y="4664795"/>
            <a:ext cx="24047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dirty="0"/>
              <a:t>Neutralizes antigen</a:t>
            </a:r>
          </a:p>
          <a:p>
            <a:pPr algn="l"/>
            <a:r>
              <a:rPr lang="en-US" sz="1050" b="1" dirty="0"/>
              <a:t>Agglutinates antigen</a:t>
            </a:r>
          </a:p>
          <a:p>
            <a:pPr algn="l"/>
            <a:r>
              <a:rPr lang="en-US" sz="1050" b="1" dirty="0"/>
              <a:t>Binds to mast cells and basophils,</a:t>
            </a:r>
          </a:p>
          <a:p>
            <a:pPr algn="l"/>
            <a:r>
              <a:rPr lang="en-US" sz="1050" b="1" dirty="0"/>
              <a:t>causing them to release histamine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17136" y="3322831"/>
            <a:ext cx="1828965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dirty="0"/>
              <a:t>Neutralizes antigen</a:t>
            </a:r>
          </a:p>
          <a:p>
            <a:pPr algn="l"/>
            <a:r>
              <a:rPr lang="en-US" sz="1050" b="1" dirty="0"/>
              <a:t>Agglutinates antigen</a:t>
            </a:r>
          </a:p>
          <a:p>
            <a:pPr algn="l"/>
            <a:r>
              <a:rPr lang="en-US" sz="1050" b="1" dirty="0"/>
              <a:t>Activates complement</a:t>
            </a:r>
          </a:p>
          <a:p>
            <a:pPr algn="l"/>
            <a:r>
              <a:rPr lang="en-US" sz="1050" b="1" dirty="0"/>
              <a:t>Opsonizes antigen</a:t>
            </a:r>
          </a:p>
          <a:p>
            <a:pPr algn="l"/>
            <a:r>
              <a:rPr lang="en-US" sz="1050" b="1" dirty="0"/>
              <a:t>Enhances NK cell activity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2900" y="2615863"/>
            <a:ext cx="15290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dirty="0"/>
              <a:t>Neutralizes antigen</a:t>
            </a:r>
          </a:p>
          <a:p>
            <a:pPr algn="l"/>
            <a:r>
              <a:rPr lang="en-US" sz="1050" b="1" dirty="0"/>
              <a:t>Agglutinates antigen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17132" y="1096096"/>
            <a:ext cx="1633781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b="1" dirty="0"/>
              <a:t>Neutralizes antigen</a:t>
            </a:r>
          </a:p>
          <a:p>
            <a:pPr algn="l"/>
            <a:r>
              <a:rPr lang="en-US" sz="1050" b="1" dirty="0"/>
              <a:t>Agglutinates antigen</a:t>
            </a:r>
          </a:p>
          <a:p>
            <a:pPr algn="l"/>
            <a:r>
              <a:rPr lang="en-US" sz="1050" b="1" dirty="0"/>
              <a:t>Activates complement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Antibody Function in Humoral Immunity</a:t>
            </a:r>
            <a:endParaRPr lang="en-US" dirty="0"/>
          </a:p>
        </p:txBody>
      </p:sp>
      <p:sp>
        <p:nvSpPr>
          <p:cNvPr id="19458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Antibody actions</a:t>
            </a:r>
          </a:p>
          <a:p>
            <a:pPr lvl="1"/>
            <a:r>
              <a:rPr lang="en-US" dirty="0" smtClean="0"/>
              <a:t>All classes: neutralization and agglutination</a:t>
            </a:r>
          </a:p>
          <a:p>
            <a:pPr lvl="1"/>
            <a:r>
              <a:rPr lang="en-US" dirty="0" smtClean="0"/>
              <a:t>IgM and IgG: activate complement</a:t>
            </a:r>
          </a:p>
          <a:p>
            <a:pPr lvl="1"/>
            <a:r>
              <a:rPr lang="en-US" dirty="0" smtClean="0"/>
              <a:t>IgG: opsonization</a:t>
            </a:r>
          </a:p>
          <a:p>
            <a:pPr lvl="1"/>
            <a:r>
              <a:rPr lang="en-US" dirty="0" smtClean="0"/>
              <a:t>IgE: histamine release from mast cells and basophils</a:t>
            </a:r>
          </a:p>
          <a:p>
            <a:pPr lvl="1"/>
            <a:r>
              <a:rPr lang="en-US" dirty="0" smtClean="0"/>
              <a:t>IgG: NK cells</a:t>
            </a:r>
          </a:p>
          <a:p>
            <a:pPr lvl="2"/>
            <a:r>
              <a:rPr lang="en-US" dirty="0" smtClean="0"/>
              <a:t>NK cells have receptors for the antibody tail</a:t>
            </a:r>
          </a:p>
          <a:p>
            <a:pPr lvl="2"/>
            <a:r>
              <a:rPr lang="en-US" dirty="0" smtClean="0"/>
              <a:t>Antibodies mark cells for destruction</a:t>
            </a:r>
          </a:p>
          <a:p>
            <a:pPr lvl="2"/>
            <a:r>
              <a:rPr lang="en-US" dirty="0" smtClean="0"/>
              <a:t>NK cells produce pores in the membranes of cells, causing lysis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1" name="Rectangle 40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23.16  Antibody-mediated mechanisms of antigen disposal.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pic>
        <p:nvPicPr>
          <p:cNvPr id="47" name="Picture 46" descr="figure_23_16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43"/>
          <a:stretch/>
        </p:blipFill>
        <p:spPr>
          <a:xfrm>
            <a:off x="3200400" y="390864"/>
            <a:ext cx="2660904" cy="625700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237546" y="433012"/>
            <a:ext cx="47961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500" b="1" dirty="0"/>
              <a:t>Pathogen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83671" y="1029912"/>
            <a:ext cx="47961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500" b="1" dirty="0"/>
              <a:t>Antibody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62946" y="1296612"/>
            <a:ext cx="5822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500" b="1" dirty="0"/>
              <a:t>Target tissue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40896" y="880687"/>
            <a:ext cx="8615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500" b="1" dirty="0"/>
              <a:t>Antibodies block the</a:t>
            </a:r>
          </a:p>
          <a:p>
            <a:pPr algn="l"/>
            <a:r>
              <a:rPr lang="en-US" sz="500" b="1" dirty="0"/>
              <a:t>activity of a pathogen.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8371" y="772737"/>
            <a:ext cx="71045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500" dirty="0">
                <a:latin typeface="Arial Black"/>
                <a:cs typeface="Arial Black"/>
              </a:rPr>
              <a:t>Neutralization: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8371" y="1950662"/>
            <a:ext cx="71045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500" dirty="0">
                <a:latin typeface="Arial Black"/>
                <a:cs typeface="Arial Black"/>
              </a:rPr>
              <a:t>Agglutination: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40896" y="2055437"/>
            <a:ext cx="864339" cy="3702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550" b="1" dirty="0"/>
              <a:t>Multiple pathogens</a:t>
            </a:r>
          </a:p>
          <a:p>
            <a:pPr algn="l">
              <a:lnSpc>
                <a:spcPct val="110000"/>
              </a:lnSpc>
            </a:pPr>
            <a:r>
              <a:rPr lang="en-US" sz="550" b="1" dirty="0"/>
              <a:t>are aggregated by</a:t>
            </a:r>
          </a:p>
          <a:p>
            <a:pPr algn="l">
              <a:lnSpc>
                <a:spcPct val="110000"/>
              </a:lnSpc>
            </a:pPr>
            <a:r>
              <a:rPr lang="en-US" sz="550" b="1" dirty="0"/>
              <a:t>antibody molecules.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31196" y="1696662"/>
            <a:ext cx="479618" cy="175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500" b="1" dirty="0"/>
              <a:t>Pathogen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24971" y="1706187"/>
            <a:ext cx="479618" cy="175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500" b="1" dirty="0"/>
              <a:t>Antibody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67821" y="2992062"/>
            <a:ext cx="479618" cy="175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500" b="1" dirty="0"/>
              <a:t>Pathogen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61396" y="3023812"/>
            <a:ext cx="479618" cy="175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500" b="1" dirty="0"/>
              <a:t>Antibody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62946" y="3865187"/>
            <a:ext cx="569387" cy="175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500" b="1" dirty="0"/>
              <a:t>Macrophage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64721" y="3239712"/>
            <a:ext cx="66093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500" dirty="0">
                <a:latin typeface="Arial Black"/>
                <a:cs typeface="Arial Black"/>
              </a:rPr>
              <a:t>Opsonization: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37721" y="3338137"/>
            <a:ext cx="882135" cy="463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550" b="1" dirty="0"/>
              <a:t>Pathogens bound by</a:t>
            </a:r>
          </a:p>
          <a:p>
            <a:pPr algn="l">
              <a:lnSpc>
                <a:spcPct val="110000"/>
              </a:lnSpc>
            </a:pPr>
            <a:r>
              <a:rPr lang="en-US" sz="550" b="1" dirty="0"/>
              <a:t>antibodies are more</a:t>
            </a:r>
          </a:p>
          <a:p>
            <a:pPr algn="l">
              <a:lnSpc>
                <a:spcPct val="110000"/>
              </a:lnSpc>
            </a:pPr>
            <a:r>
              <a:rPr lang="en-US" sz="550" b="1" dirty="0"/>
              <a:t>efﬁciently engulfed</a:t>
            </a:r>
          </a:p>
          <a:p>
            <a:pPr algn="l">
              <a:lnSpc>
                <a:spcPct val="110000"/>
              </a:lnSpc>
            </a:pPr>
            <a:r>
              <a:rPr lang="en-US" sz="550" b="1" dirty="0"/>
              <a:t>by phagocytes.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61546" y="5805112"/>
            <a:ext cx="112082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500" dirty="0">
                <a:latin typeface="Arial Black"/>
                <a:cs typeface="Arial Black"/>
              </a:rPr>
              <a:t>Enhanced NK cell activity: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34546" y="4617662"/>
            <a:ext cx="1120820" cy="463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550" b="1" dirty="0"/>
              <a:t>Antibodies bound to</a:t>
            </a:r>
          </a:p>
          <a:p>
            <a:pPr algn="l">
              <a:lnSpc>
                <a:spcPct val="110000"/>
              </a:lnSpc>
            </a:pPr>
            <a:r>
              <a:rPr lang="en-US" sz="550" b="1" dirty="0"/>
              <a:t>pathogens activate the</a:t>
            </a:r>
          </a:p>
          <a:p>
            <a:pPr algn="l">
              <a:lnSpc>
                <a:spcPct val="110000"/>
              </a:lnSpc>
            </a:pPr>
            <a:r>
              <a:rPr lang="en-US" sz="550" b="1" dirty="0"/>
              <a:t>complement cascade,</a:t>
            </a:r>
          </a:p>
          <a:p>
            <a:pPr algn="l">
              <a:lnSpc>
                <a:spcPct val="110000"/>
              </a:lnSpc>
            </a:pPr>
            <a:r>
              <a:rPr lang="en-US" sz="550" b="1" dirty="0"/>
              <a:t>resulting in lysis of the cell.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43896" y="4290637"/>
            <a:ext cx="723275" cy="26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500" b="1" dirty="0"/>
              <a:t>First complement</a:t>
            </a:r>
          </a:p>
          <a:p>
            <a:pPr algn="l">
              <a:lnSpc>
                <a:spcPct val="110000"/>
              </a:lnSpc>
            </a:pPr>
            <a:r>
              <a:rPr lang="en-US" sz="500" b="1" dirty="0"/>
              <a:t>component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50246" y="5128837"/>
            <a:ext cx="479618" cy="175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500" b="1" dirty="0"/>
              <a:t>Pathogen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70971" y="5090737"/>
            <a:ext cx="327214" cy="175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500" b="1" dirty="0"/>
              <a:t>Pore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21796" y="5843212"/>
            <a:ext cx="430501" cy="175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500" b="1" dirty="0"/>
              <a:t>Perforin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21796" y="6230562"/>
            <a:ext cx="327214" cy="175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500" b="1" dirty="0"/>
              <a:t>Pore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80471" y="6443287"/>
            <a:ext cx="779656" cy="175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500" b="1" dirty="0"/>
              <a:t>Abnormal body cell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62946" y="5595562"/>
            <a:ext cx="402674" cy="175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500" b="1" dirty="0"/>
              <a:t>NK cell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28196" y="5903537"/>
            <a:ext cx="1120820" cy="463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550" b="1" dirty="0"/>
              <a:t>Abnormal body cells that</a:t>
            </a:r>
          </a:p>
          <a:p>
            <a:pPr algn="l">
              <a:lnSpc>
                <a:spcPct val="110000"/>
              </a:lnSpc>
            </a:pPr>
            <a:r>
              <a:rPr lang="en-US" sz="550" b="1" dirty="0"/>
              <a:t>are bound by antibodies are</a:t>
            </a:r>
          </a:p>
          <a:p>
            <a:pPr algn="l">
              <a:lnSpc>
                <a:spcPct val="110000"/>
              </a:lnSpc>
            </a:pPr>
            <a:r>
              <a:rPr lang="en-US" sz="550" b="1" dirty="0"/>
              <a:t>recognized by NK cells and</a:t>
            </a:r>
          </a:p>
          <a:p>
            <a:pPr algn="l">
              <a:lnSpc>
                <a:spcPct val="110000"/>
              </a:lnSpc>
            </a:pPr>
            <a:r>
              <a:rPr lang="en-US" sz="550" b="1" dirty="0"/>
              <a:t>are subsequently lysed.</a:t>
            </a:r>
          </a:p>
        </p:txBody>
      </p:sp>
      <p:sp>
        <p:nvSpPr>
          <p:cNvPr id="72" name="Freeform 71"/>
          <p:cNvSpPr/>
          <p:nvPr/>
        </p:nvSpPr>
        <p:spPr>
          <a:xfrm>
            <a:off x="4175125" y="6181005"/>
            <a:ext cx="120650" cy="139700"/>
          </a:xfrm>
          <a:custGeom>
            <a:avLst/>
            <a:gdLst>
              <a:gd name="connsiteX0" fmla="*/ 0 w 120650"/>
              <a:gd name="connsiteY0" fmla="*/ 0 h 139700"/>
              <a:gd name="connsiteX1" fmla="*/ 120650 w 120650"/>
              <a:gd name="connsiteY1" fmla="*/ 139700 h 13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650" h="139700">
                <a:moveTo>
                  <a:pt x="0" y="0"/>
                </a:moveTo>
                <a:lnTo>
                  <a:pt x="120650" y="13970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73" name="Freeform 72"/>
          <p:cNvSpPr/>
          <p:nvPr/>
        </p:nvSpPr>
        <p:spPr>
          <a:xfrm>
            <a:off x="4032250" y="5933355"/>
            <a:ext cx="263525" cy="6350"/>
          </a:xfrm>
          <a:custGeom>
            <a:avLst/>
            <a:gdLst>
              <a:gd name="connsiteX0" fmla="*/ 0 w 263525"/>
              <a:gd name="connsiteY0" fmla="*/ 0 h 6350"/>
              <a:gd name="connsiteX1" fmla="*/ 263525 w 263525"/>
              <a:gd name="connsiteY1" fmla="*/ 635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3525" h="6350">
                <a:moveTo>
                  <a:pt x="0" y="0"/>
                </a:moveTo>
                <a:lnTo>
                  <a:pt x="263525" y="635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74" name="Freeform 73"/>
          <p:cNvSpPr/>
          <p:nvPr/>
        </p:nvSpPr>
        <p:spPr>
          <a:xfrm>
            <a:off x="4232275" y="5060230"/>
            <a:ext cx="171450" cy="127000"/>
          </a:xfrm>
          <a:custGeom>
            <a:avLst/>
            <a:gdLst>
              <a:gd name="connsiteX0" fmla="*/ 0 w 171450"/>
              <a:gd name="connsiteY0" fmla="*/ 127000 h 127000"/>
              <a:gd name="connsiteX1" fmla="*/ 171450 w 171450"/>
              <a:gd name="connsiteY1" fmla="*/ 0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1450" h="127000">
                <a:moveTo>
                  <a:pt x="0" y="127000"/>
                </a:moveTo>
                <a:lnTo>
                  <a:pt x="171450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75" name="Freeform 74"/>
          <p:cNvSpPr/>
          <p:nvPr/>
        </p:nvSpPr>
        <p:spPr>
          <a:xfrm>
            <a:off x="3721100" y="4469680"/>
            <a:ext cx="111125" cy="69850"/>
          </a:xfrm>
          <a:custGeom>
            <a:avLst/>
            <a:gdLst>
              <a:gd name="connsiteX0" fmla="*/ 0 w 111125"/>
              <a:gd name="connsiteY0" fmla="*/ 0 h 69850"/>
              <a:gd name="connsiteX1" fmla="*/ 111125 w 111125"/>
              <a:gd name="connsiteY1" fmla="*/ 69850 h 6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125" h="69850">
                <a:moveTo>
                  <a:pt x="0" y="0"/>
                </a:moveTo>
                <a:lnTo>
                  <a:pt x="111125" y="6985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76" name="Freeform 75"/>
          <p:cNvSpPr/>
          <p:nvPr/>
        </p:nvSpPr>
        <p:spPr>
          <a:xfrm>
            <a:off x="4152900" y="3113955"/>
            <a:ext cx="95250" cy="428625"/>
          </a:xfrm>
          <a:custGeom>
            <a:avLst/>
            <a:gdLst>
              <a:gd name="connsiteX0" fmla="*/ 0 w 95250"/>
              <a:gd name="connsiteY0" fmla="*/ 428625 h 428625"/>
              <a:gd name="connsiteX1" fmla="*/ 95250 w 95250"/>
              <a:gd name="connsiteY1" fmla="*/ 0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0" h="428625">
                <a:moveTo>
                  <a:pt x="0" y="428625"/>
                </a:moveTo>
                <a:lnTo>
                  <a:pt x="95250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77" name="Freeform 76"/>
          <p:cNvSpPr/>
          <p:nvPr/>
        </p:nvSpPr>
        <p:spPr>
          <a:xfrm>
            <a:off x="3781425" y="3164755"/>
            <a:ext cx="3175" cy="403225"/>
          </a:xfrm>
          <a:custGeom>
            <a:avLst/>
            <a:gdLst>
              <a:gd name="connsiteX0" fmla="*/ 3175 w 3175"/>
              <a:gd name="connsiteY0" fmla="*/ 403225 h 403225"/>
              <a:gd name="connsiteX1" fmla="*/ 0 w 3175"/>
              <a:gd name="connsiteY1" fmla="*/ 0 h 403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" h="403225">
                <a:moveTo>
                  <a:pt x="3175" y="403225"/>
                </a:moveTo>
                <a:cubicBezTo>
                  <a:pt x="2117" y="268817"/>
                  <a:pt x="1058" y="134408"/>
                  <a:pt x="0" y="0"/>
                </a:cubicBez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78" name="Freeform 77"/>
          <p:cNvSpPr/>
          <p:nvPr/>
        </p:nvSpPr>
        <p:spPr>
          <a:xfrm>
            <a:off x="3495675" y="1834430"/>
            <a:ext cx="127000" cy="139700"/>
          </a:xfrm>
          <a:custGeom>
            <a:avLst/>
            <a:gdLst>
              <a:gd name="connsiteX0" fmla="*/ 0 w 127000"/>
              <a:gd name="connsiteY0" fmla="*/ 0 h 139700"/>
              <a:gd name="connsiteX1" fmla="*/ 127000 w 127000"/>
              <a:gd name="connsiteY1" fmla="*/ 139700 h 13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0" h="139700">
                <a:moveTo>
                  <a:pt x="0" y="0"/>
                </a:moveTo>
                <a:lnTo>
                  <a:pt x="127000" y="13970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79" name="Freeform 78"/>
          <p:cNvSpPr/>
          <p:nvPr/>
        </p:nvSpPr>
        <p:spPr>
          <a:xfrm>
            <a:off x="4133850" y="1805855"/>
            <a:ext cx="158750" cy="146050"/>
          </a:xfrm>
          <a:custGeom>
            <a:avLst/>
            <a:gdLst>
              <a:gd name="connsiteX0" fmla="*/ 0 w 158750"/>
              <a:gd name="connsiteY0" fmla="*/ 146050 h 146050"/>
              <a:gd name="connsiteX1" fmla="*/ 158750 w 158750"/>
              <a:gd name="connsiteY1" fmla="*/ 0 h 146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8750" h="146050">
                <a:moveTo>
                  <a:pt x="0" y="146050"/>
                </a:moveTo>
                <a:lnTo>
                  <a:pt x="158750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765665" y="4521728"/>
            <a:ext cx="103105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500" dirty="0">
                <a:latin typeface="Arial Black"/>
                <a:cs typeface="Arial Black"/>
              </a:rPr>
              <a:t>Complement activation:</a:t>
            </a:r>
          </a:p>
        </p:txBody>
      </p:sp>
      <p:sp>
        <p:nvSpPr>
          <p:cNvPr id="81" name="Freeform 80"/>
          <p:cNvSpPr/>
          <p:nvPr/>
        </p:nvSpPr>
        <p:spPr>
          <a:xfrm>
            <a:off x="4216400" y="834305"/>
            <a:ext cx="3175" cy="238125"/>
          </a:xfrm>
          <a:custGeom>
            <a:avLst/>
            <a:gdLst>
              <a:gd name="connsiteX0" fmla="*/ 3175 w 3175"/>
              <a:gd name="connsiteY0" fmla="*/ 238125 h 238125"/>
              <a:gd name="connsiteX1" fmla="*/ 0 w 3175"/>
              <a:gd name="connsiteY1" fmla="*/ 0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" h="238125">
                <a:moveTo>
                  <a:pt x="3175" y="238125"/>
                </a:moveTo>
                <a:cubicBezTo>
                  <a:pt x="2117" y="158750"/>
                  <a:pt x="1058" y="79375"/>
                  <a:pt x="0" y="0"/>
                </a:cubicBez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82" name="Freeform 81"/>
          <p:cNvSpPr/>
          <p:nvPr/>
        </p:nvSpPr>
        <p:spPr>
          <a:xfrm>
            <a:off x="3654425" y="519980"/>
            <a:ext cx="282575" cy="215900"/>
          </a:xfrm>
          <a:custGeom>
            <a:avLst/>
            <a:gdLst>
              <a:gd name="connsiteX0" fmla="*/ 0 w 282575"/>
              <a:gd name="connsiteY0" fmla="*/ 0 h 215900"/>
              <a:gd name="connsiteX1" fmla="*/ 282575 w 282575"/>
              <a:gd name="connsiteY1" fmla="*/ 215900 h 21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2575" h="215900">
                <a:moveTo>
                  <a:pt x="0" y="0"/>
                </a:moveTo>
                <a:lnTo>
                  <a:pt x="282575" y="21590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23.5 Cell-Mediated Immunity</a:t>
            </a:r>
            <a:endParaRPr lang="en-US" dirty="0"/>
          </a:p>
        </p:txBody>
      </p:sp>
      <p:sp>
        <p:nvSpPr>
          <p:cNvPr id="23554" name="Rectangle 1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Roles of T lymphocytes in cell-mediated immunity</a:t>
            </a:r>
          </a:p>
          <a:p>
            <a:pPr lvl="1"/>
            <a:r>
              <a:rPr lang="en-US" dirty="0" smtClean="0"/>
              <a:t>Helper T cells </a:t>
            </a:r>
          </a:p>
          <a:p>
            <a:pPr lvl="2"/>
            <a:r>
              <a:rPr lang="en-US" dirty="0" smtClean="0"/>
              <a:t>Secrete cytokines that enhance activity of B cells and other T cells </a:t>
            </a:r>
          </a:p>
          <a:p>
            <a:pPr lvl="2"/>
            <a:r>
              <a:rPr lang="en-US" dirty="0" smtClean="0"/>
              <a:t>Enhance activity of macrophages and NK cells</a:t>
            </a:r>
          </a:p>
          <a:p>
            <a:pPr lvl="1"/>
            <a:r>
              <a:rPr lang="en-US" dirty="0" smtClean="0"/>
              <a:t>Cytotoxic T cells </a:t>
            </a:r>
          </a:p>
          <a:p>
            <a:pPr lvl="2"/>
            <a:r>
              <a:rPr lang="en-US" dirty="0" smtClean="0"/>
              <a:t>Kill virus-infected cells, abnormal cells, and bacteria</a:t>
            </a:r>
          </a:p>
          <a:p>
            <a:pPr lvl="2"/>
            <a:r>
              <a:rPr lang="en-US" dirty="0" smtClean="0"/>
              <a:t>Suppressor T cells </a:t>
            </a:r>
          </a:p>
          <a:p>
            <a:pPr lvl="3"/>
            <a:r>
              <a:rPr lang="en-US" dirty="0" smtClean="0"/>
              <a:t>Secrete cytokines that suppress activity of B cells and other T cells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T Lymphocytes in Cell-Mediated Immunity</a:t>
            </a:r>
            <a:endParaRPr lang="en-US" dirty="0"/>
          </a:p>
        </p:txBody>
      </p:sp>
      <p:sp>
        <p:nvSpPr>
          <p:cNvPr id="25602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Major histocompatibility complex (MHC) molecules</a:t>
            </a:r>
          </a:p>
          <a:p>
            <a:pPr lvl="1"/>
            <a:r>
              <a:rPr lang="en-US" dirty="0" smtClean="0"/>
              <a:t>T cells have antigen receptors</a:t>
            </a:r>
          </a:p>
          <a:p>
            <a:pPr lvl="2"/>
            <a:r>
              <a:rPr lang="en-US" dirty="0" smtClean="0"/>
              <a:t>Only recognize antigen when it is associated with MHC molecules</a:t>
            </a:r>
          </a:p>
          <a:p>
            <a:pPr lvl="1"/>
            <a:r>
              <a:rPr lang="en-US" dirty="0" smtClean="0"/>
              <a:t>MHC molecules bind antigen within the cell and transport antigen to the surface, where it can be recognized by T cells: antigen presentation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T Lymphocytes in Cell-Mediated Immunity</a:t>
            </a:r>
            <a:endParaRPr lang="en-US" dirty="0"/>
          </a:p>
        </p:txBody>
      </p:sp>
      <p:sp>
        <p:nvSpPr>
          <p:cNvPr id="27650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MHC marks body cells as "self"</a:t>
            </a:r>
          </a:p>
          <a:p>
            <a:pPr lvl="1"/>
            <a:r>
              <a:rPr lang="en-US" dirty="0" smtClean="0"/>
              <a:t>Two classes of MHC molecules</a:t>
            </a:r>
          </a:p>
          <a:p>
            <a:pPr lvl="2"/>
            <a:r>
              <a:rPr lang="en-US" dirty="0" smtClean="0"/>
              <a:t>Class I MHC: surface of all nucleated cells</a:t>
            </a:r>
          </a:p>
          <a:p>
            <a:pPr lvl="2"/>
            <a:r>
              <a:rPr lang="en-US" dirty="0" smtClean="0"/>
              <a:t>Class II MHC: surface of macrophages, activated B cells, activated T cells, and thymus cells</a:t>
            </a:r>
          </a:p>
          <a:p>
            <a:pPr lvl="1"/>
            <a:r>
              <a:rPr lang="en-US" dirty="0" smtClean="0"/>
              <a:t>MHC molecules unique to individual person: human leukocyte antigen (HLA)</a:t>
            </a:r>
          </a:p>
          <a:p>
            <a:pPr lvl="2"/>
            <a:r>
              <a:rPr lang="en-US" dirty="0" smtClean="0"/>
              <a:t>Tissue type</a:t>
            </a:r>
          </a:p>
          <a:p>
            <a:pPr lvl="2"/>
            <a:r>
              <a:rPr lang="en-US" dirty="0" smtClean="0"/>
              <a:t>Marks person as "self"</a:t>
            </a:r>
          </a:p>
          <a:p>
            <a:pPr lvl="2"/>
            <a:r>
              <a:rPr lang="en-US" dirty="0" smtClean="0"/>
              <a:t>Responsible for tissue or organ rejection</a:t>
            </a:r>
            <a:r>
              <a:rPr lang="en-US" dirty="0" smtClean="0">
                <a:sym typeface="Wingdings" charset="0"/>
              </a:rPr>
              <a:t>—</a:t>
            </a:r>
            <a:r>
              <a:rPr lang="en-US" dirty="0" smtClean="0"/>
              <a:t>stimulates immune response to foreign tissue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T Lymphocytes in Cell-Mediated Immunity</a:t>
            </a:r>
            <a:endParaRPr lang="en-US" dirty="0"/>
          </a:p>
        </p:txBody>
      </p:sp>
      <p:sp>
        <p:nvSpPr>
          <p:cNvPr id="29698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Final maturation of T cells depends on contact with MHC molecules</a:t>
            </a:r>
          </a:p>
          <a:p>
            <a:r>
              <a:rPr lang="en-US" dirty="0" smtClean="0"/>
              <a:t>Bind with Type I </a:t>
            </a:r>
            <a:r>
              <a:rPr lang="en-US" dirty="0"/>
              <a:t>MHC </a:t>
            </a:r>
            <a:r>
              <a:rPr lang="en-US" dirty="0" smtClean="0"/>
              <a:t>→ </a:t>
            </a:r>
            <a:r>
              <a:rPr lang="en-US" dirty="0" smtClean="0">
                <a:sym typeface="Wingdings" charset="0"/>
              </a:rPr>
              <a:t>cytotoxic T (CD8) cells</a:t>
            </a:r>
          </a:p>
          <a:p>
            <a:r>
              <a:rPr lang="en-US" dirty="0" smtClean="0">
                <a:sym typeface="Wingdings" charset="0"/>
              </a:rPr>
              <a:t>Bind with Type II MHC </a:t>
            </a:r>
            <a:r>
              <a:rPr lang="en-US" dirty="0"/>
              <a:t>→</a:t>
            </a:r>
            <a:r>
              <a:rPr lang="en-US" dirty="0" smtClean="0">
                <a:sym typeface="Wingdings" charset="0"/>
              </a:rPr>
              <a:t> helper T (CD4) cells</a:t>
            </a:r>
            <a:endParaRPr lang="en-US" dirty="0">
              <a:sym typeface="Wingdings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T Lymphocytes in Cell-Mediated Immunity</a:t>
            </a:r>
            <a:endParaRPr lang="en-US" dirty="0"/>
          </a:p>
        </p:txBody>
      </p:sp>
      <p:sp>
        <p:nvSpPr>
          <p:cNvPr id="31746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Role of MHC molecules in antigen presentation</a:t>
            </a:r>
          </a:p>
          <a:p>
            <a:pPr lvl="1"/>
            <a:r>
              <a:rPr lang="en-US" dirty="0" smtClean="0"/>
              <a:t>MHC molecules have binding sites for antigen</a:t>
            </a:r>
          </a:p>
          <a:p>
            <a:pPr lvl="1"/>
            <a:r>
              <a:rPr lang="en-US" dirty="0" smtClean="0"/>
              <a:t>MHC + antigen </a:t>
            </a:r>
            <a:r>
              <a:rPr lang="en-US" dirty="0"/>
              <a:t>→</a:t>
            </a:r>
            <a:r>
              <a:rPr lang="en-US" dirty="0" smtClean="0">
                <a:sym typeface="Wingdings" charset="0"/>
              </a:rPr>
              <a:t> cell surface (presentation)</a:t>
            </a:r>
          </a:p>
          <a:p>
            <a:pPr lvl="1"/>
            <a:r>
              <a:rPr lang="en-US" dirty="0" smtClean="0"/>
              <a:t>Type I MHC </a:t>
            </a:r>
          </a:p>
          <a:p>
            <a:pPr lvl="2"/>
            <a:r>
              <a:rPr lang="en-US" dirty="0" smtClean="0"/>
              <a:t>Bind antigens in infected cells or tumor cells (which can be any nucleated cell)</a:t>
            </a:r>
          </a:p>
          <a:p>
            <a:pPr lvl="1"/>
            <a:r>
              <a:rPr lang="en-US" dirty="0" smtClean="0"/>
              <a:t>Type II MHC </a:t>
            </a:r>
          </a:p>
          <a:p>
            <a:pPr lvl="2"/>
            <a:r>
              <a:rPr lang="en-US" dirty="0" smtClean="0"/>
              <a:t>Bind antigens taken into cell by phagocytosis </a:t>
            </a:r>
            <a:br>
              <a:rPr lang="en-US" dirty="0" smtClean="0"/>
            </a:br>
            <a:r>
              <a:rPr lang="en-US" dirty="0" smtClean="0"/>
              <a:t>or receptor-mediated endocytosis (which can occur only in cells that perform these functions</a:t>
            </a:r>
            <a:r>
              <a:rPr lang="en-US" dirty="0" smtClean="0">
                <a:sym typeface="Wingdings" charset="0"/>
              </a:rPr>
              <a:t>—</a:t>
            </a:r>
            <a:r>
              <a:rPr lang="en-US" dirty="0" smtClean="0"/>
              <a:t>B cells, T cells, macrophages)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of T Lymphocytes in Cell-Mediated Immunity</a:t>
            </a:r>
            <a:endParaRPr lang="en-US" dirty="0"/>
          </a:p>
        </p:txBody>
      </p:sp>
      <p:sp>
        <p:nvSpPr>
          <p:cNvPr id="33794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Recognition by T cells</a:t>
            </a:r>
          </a:p>
          <a:p>
            <a:pPr lvl="1"/>
            <a:r>
              <a:rPr lang="en-US" dirty="0" smtClean="0"/>
              <a:t>Helper T cells</a:t>
            </a:r>
          </a:p>
          <a:p>
            <a:pPr lvl="2"/>
            <a:r>
              <a:rPr lang="en-US" dirty="0" smtClean="0"/>
              <a:t>CD4: binds class II MHC; enhances macrophage–T cell interaction</a:t>
            </a:r>
          </a:p>
          <a:p>
            <a:pPr lvl="1"/>
            <a:r>
              <a:rPr lang="en-US" dirty="0" smtClean="0"/>
              <a:t>Cytotoxic T cells</a:t>
            </a:r>
          </a:p>
          <a:p>
            <a:pPr lvl="2"/>
            <a:r>
              <a:rPr lang="en-US" dirty="0" smtClean="0"/>
              <a:t>CD8: binds class I MHC; enhances abnormal cell–T cell interaction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72" name="Rectangle 35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23.17  Presentation of antigens to T cells by major histocompatibility complex (MHC) molecules.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pic>
        <p:nvPicPr>
          <p:cNvPr id="42" name="Picture 41" descr="figure_23_17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83"/>
          <a:stretch/>
        </p:blipFill>
        <p:spPr>
          <a:xfrm>
            <a:off x="266700" y="800100"/>
            <a:ext cx="8601456" cy="50874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7814" y="928430"/>
            <a:ext cx="999987" cy="461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Virus-</a:t>
            </a:r>
          </a:p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infected cell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82948" y="1212062"/>
            <a:ext cx="1451846" cy="461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Newly synthesized</a:t>
            </a:r>
          </a:p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virus proteins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70251" y="1885160"/>
            <a:ext cx="1271383" cy="461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Fragmented</a:t>
            </a:r>
          </a:p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virus proteins…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31585" y="2443959"/>
            <a:ext cx="1290037" cy="461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…associate with</a:t>
            </a:r>
          </a:p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class I MHC</a:t>
            </a:r>
          </a:p>
        </p:txBody>
      </p:sp>
      <p:sp>
        <p:nvSpPr>
          <p:cNvPr id="47" name="Freeform 46"/>
          <p:cNvSpPr/>
          <p:nvPr/>
        </p:nvSpPr>
        <p:spPr>
          <a:xfrm>
            <a:off x="2383367" y="1358900"/>
            <a:ext cx="249766" cy="0"/>
          </a:xfrm>
          <a:custGeom>
            <a:avLst/>
            <a:gdLst>
              <a:gd name="connsiteX0" fmla="*/ 0 w 249766"/>
              <a:gd name="connsiteY0" fmla="*/ 0 h 0"/>
              <a:gd name="connsiteX1" fmla="*/ 249766 w 249766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9766">
                <a:moveTo>
                  <a:pt x="0" y="0"/>
                </a:moveTo>
                <a:lnTo>
                  <a:pt x="249766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8" name="Freeform 47"/>
          <p:cNvSpPr/>
          <p:nvPr/>
        </p:nvSpPr>
        <p:spPr>
          <a:xfrm>
            <a:off x="2319867" y="2036233"/>
            <a:ext cx="317500" cy="4234"/>
          </a:xfrm>
          <a:custGeom>
            <a:avLst/>
            <a:gdLst>
              <a:gd name="connsiteX0" fmla="*/ 0 w 317500"/>
              <a:gd name="connsiteY0" fmla="*/ 0 h 4234"/>
              <a:gd name="connsiteX1" fmla="*/ 317500 w 317500"/>
              <a:gd name="connsiteY1" fmla="*/ 4234 h 4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0" h="4234">
                <a:moveTo>
                  <a:pt x="0" y="0"/>
                </a:moveTo>
                <a:lnTo>
                  <a:pt x="317500" y="4234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9" name="Freeform 48"/>
          <p:cNvSpPr/>
          <p:nvPr/>
        </p:nvSpPr>
        <p:spPr>
          <a:xfrm>
            <a:off x="1845733" y="3831167"/>
            <a:ext cx="359834" cy="105833"/>
          </a:xfrm>
          <a:custGeom>
            <a:avLst/>
            <a:gdLst>
              <a:gd name="connsiteX0" fmla="*/ 0 w 359834"/>
              <a:gd name="connsiteY0" fmla="*/ 0 h 105833"/>
              <a:gd name="connsiteX1" fmla="*/ 359834 w 359834"/>
              <a:gd name="connsiteY1" fmla="*/ 105833 h 105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9834" h="105833">
                <a:moveTo>
                  <a:pt x="0" y="0"/>
                </a:moveTo>
                <a:lnTo>
                  <a:pt x="359834" y="105833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0" name="Freeform 49"/>
          <p:cNvSpPr/>
          <p:nvPr/>
        </p:nvSpPr>
        <p:spPr>
          <a:xfrm>
            <a:off x="1871133" y="4521200"/>
            <a:ext cx="368300" cy="0"/>
          </a:xfrm>
          <a:custGeom>
            <a:avLst/>
            <a:gdLst>
              <a:gd name="connsiteX0" fmla="*/ 0 w 368300"/>
              <a:gd name="connsiteY0" fmla="*/ 0 h 0"/>
              <a:gd name="connsiteX1" fmla="*/ 368300 w 3683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830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1" name="Freeform 50"/>
          <p:cNvSpPr/>
          <p:nvPr/>
        </p:nvSpPr>
        <p:spPr>
          <a:xfrm>
            <a:off x="1879600" y="4191000"/>
            <a:ext cx="355600" cy="0"/>
          </a:xfrm>
          <a:custGeom>
            <a:avLst/>
            <a:gdLst>
              <a:gd name="connsiteX0" fmla="*/ 0 w 355600"/>
              <a:gd name="connsiteY0" fmla="*/ 0 h 0"/>
              <a:gd name="connsiteX1" fmla="*/ 355600 w 3556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5600">
                <a:moveTo>
                  <a:pt x="0" y="0"/>
                </a:moveTo>
                <a:lnTo>
                  <a:pt x="355600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2" name="Freeform 51"/>
          <p:cNvSpPr/>
          <p:nvPr/>
        </p:nvSpPr>
        <p:spPr>
          <a:xfrm>
            <a:off x="2586567" y="4178300"/>
            <a:ext cx="317500" cy="4233"/>
          </a:xfrm>
          <a:custGeom>
            <a:avLst/>
            <a:gdLst>
              <a:gd name="connsiteX0" fmla="*/ 0 w 317500"/>
              <a:gd name="connsiteY0" fmla="*/ 0 h 4233"/>
              <a:gd name="connsiteX1" fmla="*/ 317500 w 317500"/>
              <a:gd name="connsiteY1" fmla="*/ 4233 h 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500" h="4233">
                <a:moveTo>
                  <a:pt x="0" y="0"/>
                </a:moveTo>
                <a:lnTo>
                  <a:pt x="317500" y="4233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3" name="Freeform 52"/>
          <p:cNvSpPr/>
          <p:nvPr/>
        </p:nvSpPr>
        <p:spPr>
          <a:xfrm>
            <a:off x="6392333" y="4525433"/>
            <a:ext cx="368300" cy="0"/>
          </a:xfrm>
          <a:custGeom>
            <a:avLst/>
            <a:gdLst>
              <a:gd name="connsiteX0" fmla="*/ 0 w 368300"/>
              <a:gd name="connsiteY0" fmla="*/ 0 h 0"/>
              <a:gd name="connsiteX1" fmla="*/ 368300 w 3683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8300">
                <a:moveTo>
                  <a:pt x="0" y="0"/>
                </a:moveTo>
                <a:lnTo>
                  <a:pt x="368300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4" name="Freeform 53"/>
          <p:cNvSpPr/>
          <p:nvPr/>
        </p:nvSpPr>
        <p:spPr>
          <a:xfrm>
            <a:off x="6405033" y="4191000"/>
            <a:ext cx="351367" cy="0"/>
          </a:xfrm>
          <a:custGeom>
            <a:avLst/>
            <a:gdLst>
              <a:gd name="connsiteX0" fmla="*/ 0 w 351367"/>
              <a:gd name="connsiteY0" fmla="*/ 0 h 0"/>
              <a:gd name="connsiteX1" fmla="*/ 351367 w 35136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1367">
                <a:moveTo>
                  <a:pt x="0" y="0"/>
                </a:moveTo>
                <a:lnTo>
                  <a:pt x="351367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5" name="Freeform 54"/>
          <p:cNvSpPr/>
          <p:nvPr/>
        </p:nvSpPr>
        <p:spPr>
          <a:xfrm>
            <a:off x="6989233" y="4178300"/>
            <a:ext cx="325967" cy="4233"/>
          </a:xfrm>
          <a:custGeom>
            <a:avLst/>
            <a:gdLst>
              <a:gd name="connsiteX0" fmla="*/ 0 w 325967"/>
              <a:gd name="connsiteY0" fmla="*/ 0 h 4233"/>
              <a:gd name="connsiteX1" fmla="*/ 325967 w 325967"/>
              <a:gd name="connsiteY1" fmla="*/ 4233 h 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5967" h="4233">
                <a:moveTo>
                  <a:pt x="0" y="0"/>
                </a:moveTo>
                <a:lnTo>
                  <a:pt x="325967" y="4233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6" name="Freeform 55"/>
          <p:cNvSpPr/>
          <p:nvPr/>
        </p:nvSpPr>
        <p:spPr>
          <a:xfrm>
            <a:off x="6426200" y="3839633"/>
            <a:ext cx="296333" cy="97367"/>
          </a:xfrm>
          <a:custGeom>
            <a:avLst/>
            <a:gdLst>
              <a:gd name="connsiteX0" fmla="*/ 0 w 296333"/>
              <a:gd name="connsiteY0" fmla="*/ 0 h 97367"/>
              <a:gd name="connsiteX1" fmla="*/ 296333 w 296333"/>
              <a:gd name="connsiteY1" fmla="*/ 97367 h 97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6333" h="97367">
                <a:moveTo>
                  <a:pt x="0" y="0"/>
                </a:moveTo>
                <a:lnTo>
                  <a:pt x="296333" y="97367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7" name="Freeform 56"/>
          <p:cNvSpPr/>
          <p:nvPr/>
        </p:nvSpPr>
        <p:spPr>
          <a:xfrm>
            <a:off x="6849533" y="2040467"/>
            <a:ext cx="309034" cy="4233"/>
          </a:xfrm>
          <a:custGeom>
            <a:avLst/>
            <a:gdLst>
              <a:gd name="connsiteX0" fmla="*/ 0 w 309034"/>
              <a:gd name="connsiteY0" fmla="*/ 0 h 4233"/>
              <a:gd name="connsiteX1" fmla="*/ 309034 w 309034"/>
              <a:gd name="connsiteY1" fmla="*/ 4233 h 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9034" h="4233">
                <a:moveTo>
                  <a:pt x="0" y="0"/>
                </a:moveTo>
                <a:lnTo>
                  <a:pt x="309034" y="4233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8" name="Freeform 57"/>
          <p:cNvSpPr/>
          <p:nvPr/>
        </p:nvSpPr>
        <p:spPr>
          <a:xfrm>
            <a:off x="6904567" y="1358900"/>
            <a:ext cx="254000" cy="0"/>
          </a:xfrm>
          <a:custGeom>
            <a:avLst/>
            <a:gdLst>
              <a:gd name="connsiteX0" fmla="*/ 0 w 254000"/>
              <a:gd name="connsiteY0" fmla="*/ 0 h 0"/>
              <a:gd name="connsiteX1" fmla="*/ 254000 w 25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>
                <a:moveTo>
                  <a:pt x="0" y="0"/>
                </a:moveTo>
                <a:lnTo>
                  <a:pt x="254000" y="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3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07668" y="3681468"/>
            <a:ext cx="999918" cy="2757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Class I MHC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2743" y="4011668"/>
            <a:ext cx="1088509" cy="461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Virus antigen</a:t>
            </a:r>
          </a:p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fragment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50593" y="4370443"/>
            <a:ext cx="474578" cy="2757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TCR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44418" y="4027543"/>
            <a:ext cx="474578" cy="2757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CD8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3868" y="5199118"/>
            <a:ext cx="1227219" cy="2757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Cytotoxic T cell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54493" y="4030718"/>
            <a:ext cx="474578" cy="2757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dirty="0" smtClean="0">
                <a:solidFill>
                  <a:srgbClr val="000000"/>
                </a:solidFill>
              </a:rPr>
              <a:t>CD4</a:t>
            </a:r>
            <a:endParaRPr lang="en-US" sz="1100" b="1" dirty="0">
              <a:solidFill>
                <a:srgbClr val="000000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984493" y="4367268"/>
            <a:ext cx="474578" cy="2757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TCR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05068" y="5205468"/>
            <a:ext cx="1023544" cy="2757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Helper T cell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3943" y="4008493"/>
            <a:ext cx="1088509" cy="461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Virus antigen</a:t>
            </a:r>
          </a:p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fragment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44743" y="3678293"/>
            <a:ext cx="1039110" cy="2757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Class II MHC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52843" y="2440043"/>
            <a:ext cx="1290037" cy="461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…associate with</a:t>
            </a:r>
          </a:p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class II MHC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98918" y="1887593"/>
            <a:ext cx="1290037" cy="461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Fragmented</a:t>
            </a:r>
          </a:p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virus proteins…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98918" y="1208143"/>
            <a:ext cx="1133644" cy="461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Internalized</a:t>
            </a:r>
          </a:p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virus proteins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82793" y="922393"/>
            <a:ext cx="1197764" cy="461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Macrophage or</a:t>
            </a:r>
          </a:p>
          <a:p>
            <a:pPr algn="l">
              <a:lnSpc>
                <a:spcPct val="110000"/>
              </a:lnSpc>
            </a:pPr>
            <a:r>
              <a:rPr lang="en-US" sz="1100" b="1" dirty="0">
                <a:solidFill>
                  <a:srgbClr val="000000"/>
                </a:solidFill>
              </a:rPr>
              <a:t>dendritic cell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Helper T Cell Activation</a:t>
            </a:r>
            <a:endParaRPr lang="en-US" dirty="0"/>
          </a:p>
        </p:txBody>
      </p:sp>
      <p:sp>
        <p:nvSpPr>
          <p:cNvPr id="37890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Helper T cells coordinate immune response</a:t>
            </a:r>
          </a:p>
          <a:p>
            <a:r>
              <a:rPr lang="en-US" dirty="0" smtClean="0"/>
              <a:t>Events of activation</a:t>
            </a:r>
          </a:p>
          <a:p>
            <a:pPr lvl="1"/>
            <a:r>
              <a:rPr lang="en-US" dirty="0" smtClean="0"/>
              <a:t>Bind to class II MHC–foreign antigen complex </a:t>
            </a:r>
            <a:br>
              <a:rPr lang="en-US" dirty="0" smtClean="0"/>
            </a:br>
            <a:r>
              <a:rPr lang="en-US" dirty="0" smtClean="0"/>
              <a:t>on surface of macrophages and B cells</a:t>
            </a:r>
          </a:p>
          <a:p>
            <a:pPr lvl="1"/>
            <a:r>
              <a:rPr lang="en-US" dirty="0" smtClean="0"/>
              <a:t>Macrophages and B cells secrete IL-1, which induces proliferation and differentiation of helper T cells</a:t>
            </a:r>
          </a:p>
          <a:p>
            <a:r>
              <a:rPr lang="en-US" dirty="0" smtClean="0"/>
              <a:t>Helper T cell differentiation</a:t>
            </a:r>
          </a:p>
          <a:p>
            <a:pPr lvl="1"/>
            <a:r>
              <a:rPr lang="en-US" dirty="0" smtClean="0"/>
              <a:t>Secretory cells (effector cells) and memory cells</a:t>
            </a:r>
          </a:p>
          <a:p>
            <a:pPr lvl="1"/>
            <a:r>
              <a:rPr lang="en-US" dirty="0" smtClean="0"/>
              <a:t>Secretory cells: secrete cytokines that stimulate and regulate immune response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table_23_01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53"/>
          <a:stretch/>
        </p:blipFill>
        <p:spPr>
          <a:xfrm>
            <a:off x="266700" y="901700"/>
            <a:ext cx="8601456" cy="48513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Cytotoxic T Cell Activation: The Destruction of Virus-Infected Cells and Tumor Cells</a:t>
            </a:r>
            <a:endParaRPr lang="en-US" dirty="0"/>
          </a:p>
        </p:txBody>
      </p:sp>
      <p:sp>
        <p:nvSpPr>
          <p:cNvPr id="41986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Cell binds to class I MHC–foreign antigen complex on surface of infected cell or tumor cell</a:t>
            </a:r>
          </a:p>
          <a:p>
            <a:r>
              <a:rPr lang="en-US" dirty="0" smtClean="0"/>
              <a:t>Helper T cell secretes IL-2, which signals activation of cytotoxic T cell</a:t>
            </a:r>
          </a:p>
          <a:p>
            <a:r>
              <a:rPr lang="en-US" dirty="0" smtClean="0"/>
              <a:t>Cell secretes perforins</a:t>
            </a:r>
          </a:p>
          <a:p>
            <a:pPr lvl="1"/>
            <a:r>
              <a:rPr lang="en-US" dirty="0" smtClean="0"/>
              <a:t>Form pores in the membranes of infected cells</a:t>
            </a:r>
          </a:p>
          <a:p>
            <a:pPr lvl="1"/>
            <a:r>
              <a:rPr lang="en-US" dirty="0" smtClean="0"/>
              <a:t>Lysis</a:t>
            </a:r>
          </a:p>
          <a:p>
            <a:r>
              <a:rPr lang="en-US" dirty="0" smtClean="0"/>
              <a:t>Cell secretes fragmentins</a:t>
            </a:r>
          </a:p>
          <a:p>
            <a:pPr lvl="1"/>
            <a:r>
              <a:rPr lang="en-US" dirty="0" smtClean="0"/>
              <a:t>Enter infected cells through perforin-induced pores</a:t>
            </a:r>
          </a:p>
          <a:p>
            <a:pPr lvl="1"/>
            <a:r>
              <a:rPr lang="en-US" dirty="0" smtClean="0"/>
              <a:t>Trigger apoptosis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Cytotoxic T Cell Activation: The Destruction of Virus-Infected Cells and Tumor Cells</a:t>
            </a:r>
            <a:endParaRPr lang="en-US" dirty="0"/>
          </a:p>
        </p:txBody>
      </p:sp>
      <p:sp>
        <p:nvSpPr>
          <p:cNvPr id="44034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Tumor cells </a:t>
            </a:r>
            <a:r>
              <a:rPr lang="en-US" dirty="0"/>
              <a:t>→</a:t>
            </a:r>
            <a:r>
              <a:rPr lang="en-US" dirty="0" smtClean="0">
                <a:sym typeface="Wingdings" charset="0"/>
              </a:rPr>
              <a:t> tumor antigens</a:t>
            </a:r>
          </a:p>
          <a:p>
            <a:r>
              <a:rPr lang="en-US" dirty="0" smtClean="0">
                <a:sym typeface="Wingdings" charset="0"/>
              </a:rPr>
              <a:t>Class I MHC molecules bring antigens to surface </a:t>
            </a:r>
            <a:br>
              <a:rPr lang="en-US" dirty="0" smtClean="0">
                <a:sym typeface="Wingdings" charset="0"/>
              </a:rPr>
            </a:br>
            <a:r>
              <a:rPr lang="en-US" dirty="0" smtClean="0">
                <a:sym typeface="Wingdings" charset="0"/>
              </a:rPr>
              <a:t>and present them to cytotoxic T cells</a:t>
            </a:r>
          </a:p>
          <a:p>
            <a:r>
              <a:rPr lang="en-US" dirty="0" smtClean="0">
                <a:sym typeface="Wingdings" charset="0"/>
              </a:rPr>
              <a:t>Cytotoxic T cells destroy tumor cells</a:t>
            </a:r>
          </a:p>
          <a:p>
            <a:r>
              <a:rPr lang="en-US" dirty="0" smtClean="0"/>
              <a:t>Some cancers and viruses inhibit production of class I MHC molecules, thereby protecting them from the immune system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23.18  The role of helper T cells in activation of B cells and cytotoxic T cells.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pic>
        <p:nvPicPr>
          <p:cNvPr id="30" name="Picture 29" descr="figure_23_18_unlabeled_Slide09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24"/>
          <a:stretch/>
        </p:blipFill>
        <p:spPr>
          <a:xfrm>
            <a:off x="2628900" y="392015"/>
            <a:ext cx="3767328" cy="623048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705316" y="761226"/>
            <a:ext cx="614208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Antigen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40880" y="363295"/>
            <a:ext cx="8644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Macrophage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2611" y="363295"/>
            <a:ext cx="8644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Infected cell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5510" y="1569792"/>
            <a:ext cx="877276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900" b="1"/>
            </a:lvl1pPr>
          </a:lstStyle>
          <a:p>
            <a:pPr algn="l"/>
            <a:r>
              <a:rPr lang="en-US" dirty="0"/>
              <a:t>Antigen</a:t>
            </a:r>
          </a:p>
          <a:p>
            <a:pPr algn="l"/>
            <a:r>
              <a:rPr lang="en-US" dirty="0"/>
              <a:t>presentation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76913" y="1569794"/>
            <a:ext cx="877276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lnSpc>
                <a:spcPct val="95000"/>
              </a:lnSpc>
              <a:defRPr sz="900" b="1"/>
            </a:lvl1pPr>
          </a:lstStyle>
          <a:p>
            <a:r>
              <a:rPr lang="en-US" dirty="0"/>
              <a:t>Antigen</a:t>
            </a:r>
          </a:p>
          <a:p>
            <a:r>
              <a:rPr lang="en-US" dirty="0"/>
              <a:t>presentation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213" y="2247127"/>
            <a:ext cx="871020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Helper T-cell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92912" y="2247128"/>
            <a:ext cx="1037664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Cytotoxic T-cell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5743" y="2209028"/>
            <a:ext cx="498961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B-cell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58843" y="2501130"/>
            <a:ext cx="389857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IL-2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56874" y="2496897"/>
            <a:ext cx="389857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IL-2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04008" y="3593327"/>
            <a:ext cx="1018503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900" b="1" dirty="0"/>
              <a:t>Activated</a:t>
            </a:r>
          </a:p>
          <a:p>
            <a:pPr>
              <a:lnSpc>
                <a:spcPct val="95000"/>
              </a:lnSpc>
            </a:pPr>
            <a:r>
              <a:rPr lang="en-US" sz="900" b="1" dirty="0"/>
              <a:t>cytotoxic T-cell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00486" y="3699164"/>
            <a:ext cx="813481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900" b="1" dirty="0"/>
              <a:t>Plasma cell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69203" y="3707629"/>
            <a:ext cx="633507" cy="394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Memory</a:t>
            </a:r>
          </a:p>
          <a:p>
            <a:pPr algn="l">
              <a:lnSpc>
                <a:spcPct val="110000"/>
              </a:lnSpc>
            </a:pPr>
            <a:r>
              <a:rPr lang="en-US" sz="900" b="1" dirty="0"/>
              <a:t>B-cell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3272" y="4761725"/>
            <a:ext cx="864345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lnSpc>
                <a:spcPct val="95000"/>
              </a:lnSpc>
              <a:defRPr sz="900" b="1"/>
            </a:lvl1pPr>
          </a:lstStyle>
          <a:p>
            <a:r>
              <a:rPr lang="en-US" dirty="0"/>
              <a:t>Perforins</a:t>
            </a:r>
          </a:p>
          <a:p>
            <a:r>
              <a:rPr lang="en-US" dirty="0"/>
              <a:t>fragmenting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8501" y="5532195"/>
            <a:ext cx="780964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Antibodies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6541" y="6430720"/>
            <a:ext cx="114051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Infected cell 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71199" y="5358630"/>
            <a:ext cx="4005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H</a:t>
            </a:r>
            <a:r>
              <a:rPr lang="en-US" sz="900" b="1" baseline="-25000" dirty="0"/>
              <a:t>2</a:t>
            </a:r>
            <a:r>
              <a:rPr lang="en-US" sz="900" b="1" dirty="0"/>
              <a:t>O</a:t>
            </a:r>
          </a:p>
        </p:txBody>
      </p:sp>
      <p:sp>
        <p:nvSpPr>
          <p:cNvPr id="48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1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23.18  The role of helper T cells in activation of B cells and cytotoxic T cells.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48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2</a:t>
            </a:r>
            <a:endParaRPr lang="en-US" sz="1200" b="1" dirty="0">
              <a:cs typeface="Arial" charset="0"/>
            </a:endParaRPr>
          </a:p>
        </p:txBody>
      </p:sp>
      <p:pic>
        <p:nvPicPr>
          <p:cNvPr id="22" name="Picture 21" descr="figure_23_18_unlabeled_Slide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68"/>
          <a:stretch/>
        </p:blipFill>
        <p:spPr>
          <a:xfrm>
            <a:off x="2628900" y="392015"/>
            <a:ext cx="3767328" cy="619544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32611" y="363295"/>
            <a:ext cx="8644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Infected cell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5510" y="1569792"/>
            <a:ext cx="877276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900" b="1"/>
            </a:lvl1pPr>
          </a:lstStyle>
          <a:p>
            <a:pPr algn="l"/>
            <a:r>
              <a:rPr lang="en-US" dirty="0"/>
              <a:t>Antigen</a:t>
            </a:r>
          </a:p>
          <a:p>
            <a:pPr algn="l"/>
            <a:r>
              <a:rPr lang="en-US" dirty="0"/>
              <a:t>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2912" y="2247128"/>
            <a:ext cx="1037664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Cytotoxic T-cell</a:t>
            </a:r>
          </a:p>
        </p:txBody>
      </p:sp>
    </p:spTree>
    <p:extLst>
      <p:ext uri="{BB962C8B-B14F-4D97-AF65-F5344CB8AC3E}">
        <p14:creationId xmlns:p14="http://schemas.microsoft.com/office/powerpoint/2010/main" val="32596277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23.18  The role of helper T cells in activation of B cells and cytotoxic T cells.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48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3</a:t>
            </a:r>
            <a:endParaRPr lang="en-US" sz="1200" b="1" dirty="0">
              <a:cs typeface="Arial" charset="0"/>
            </a:endParaRPr>
          </a:p>
        </p:txBody>
      </p:sp>
      <p:pic>
        <p:nvPicPr>
          <p:cNvPr id="8" name="Picture 7" descr="figure_23_18_unlabeled_Slide03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96"/>
          <a:stretch/>
        </p:blipFill>
        <p:spPr>
          <a:xfrm>
            <a:off x="2628900" y="392016"/>
            <a:ext cx="3767328" cy="62129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32611" y="363295"/>
            <a:ext cx="8644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Infected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5510" y="1569792"/>
            <a:ext cx="877276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900" b="1"/>
            </a:lvl1pPr>
          </a:lstStyle>
          <a:p>
            <a:pPr algn="l"/>
            <a:r>
              <a:rPr lang="en-US" dirty="0"/>
              <a:t>Antigen</a:t>
            </a:r>
          </a:p>
          <a:p>
            <a:pPr algn="l"/>
            <a:r>
              <a:rPr lang="en-US" dirty="0"/>
              <a:t>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2912" y="2247128"/>
            <a:ext cx="1037664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Cytotoxic T-cell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4008" y="3593327"/>
            <a:ext cx="1018503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900" b="1" dirty="0"/>
              <a:t>Activated</a:t>
            </a:r>
          </a:p>
          <a:p>
            <a:pPr algn="ctr">
              <a:lnSpc>
                <a:spcPct val="95000"/>
              </a:lnSpc>
            </a:pPr>
            <a:r>
              <a:rPr lang="en-US" sz="900" b="1" dirty="0"/>
              <a:t>cytotoxic T-cell</a:t>
            </a:r>
          </a:p>
        </p:txBody>
      </p:sp>
    </p:spTree>
    <p:extLst>
      <p:ext uri="{BB962C8B-B14F-4D97-AF65-F5344CB8AC3E}">
        <p14:creationId xmlns:p14="http://schemas.microsoft.com/office/powerpoint/2010/main" val="5494324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23.18  The role of helper T cells in activation of B cells and cytotoxic T cells.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48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4</a:t>
            </a:r>
            <a:endParaRPr lang="en-US" sz="1200" b="1" dirty="0">
              <a:cs typeface="Arial" charset="0"/>
            </a:endParaRPr>
          </a:p>
        </p:txBody>
      </p:sp>
      <p:pic>
        <p:nvPicPr>
          <p:cNvPr id="13" name="Picture 12" descr="figure_23_18_unlabeled_Slide04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24"/>
          <a:stretch/>
        </p:blipFill>
        <p:spPr>
          <a:xfrm>
            <a:off x="2628900" y="392015"/>
            <a:ext cx="3767328" cy="62304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32611" y="363295"/>
            <a:ext cx="8644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Infected cell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5510" y="1569792"/>
            <a:ext cx="877276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900" b="1"/>
            </a:lvl1pPr>
          </a:lstStyle>
          <a:p>
            <a:pPr algn="l"/>
            <a:r>
              <a:rPr lang="en-US" dirty="0"/>
              <a:t>Antigen</a:t>
            </a:r>
          </a:p>
          <a:p>
            <a:pPr algn="l"/>
            <a:r>
              <a:rPr lang="en-US" dirty="0"/>
              <a:t>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2912" y="2247128"/>
            <a:ext cx="1037664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Cytotoxic T-cell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4008" y="3593327"/>
            <a:ext cx="1018503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900" b="1" dirty="0"/>
              <a:t>Activated</a:t>
            </a:r>
          </a:p>
          <a:p>
            <a:pPr algn="ctr">
              <a:lnSpc>
                <a:spcPct val="95000"/>
              </a:lnSpc>
            </a:pPr>
            <a:r>
              <a:rPr lang="en-US" sz="900" b="1" dirty="0"/>
              <a:t>cytotoxic T-cell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3272" y="4761725"/>
            <a:ext cx="864345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lnSpc>
                <a:spcPct val="95000"/>
              </a:lnSpc>
              <a:defRPr sz="900" b="1"/>
            </a:lvl1pPr>
          </a:lstStyle>
          <a:p>
            <a:r>
              <a:rPr lang="en-US" dirty="0"/>
              <a:t>Perforins</a:t>
            </a:r>
          </a:p>
          <a:p>
            <a:r>
              <a:rPr lang="en-US" dirty="0"/>
              <a:t>fragmenting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6541" y="6430720"/>
            <a:ext cx="114051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Infected cell 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199" y="5358630"/>
            <a:ext cx="4005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H</a:t>
            </a:r>
            <a:r>
              <a:rPr lang="en-US" sz="900" b="1" baseline="-25000" dirty="0"/>
              <a:t>2</a:t>
            </a:r>
            <a:r>
              <a:rPr lang="en-US" sz="900" b="1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308652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23.18  The role of helper T cells in activation of B cells and cytotoxic T cells.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48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5</a:t>
            </a:r>
            <a:endParaRPr lang="en-US" sz="1200" b="1" dirty="0">
              <a:cs typeface="Arial" charset="0"/>
            </a:endParaRPr>
          </a:p>
        </p:txBody>
      </p:sp>
      <p:pic>
        <p:nvPicPr>
          <p:cNvPr id="12" name="Picture 11" descr="figure_23_18_unlabeled_Slide05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24"/>
          <a:stretch/>
        </p:blipFill>
        <p:spPr>
          <a:xfrm>
            <a:off x="2628900" y="392015"/>
            <a:ext cx="3767328" cy="62304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705316" y="761226"/>
            <a:ext cx="614208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Antigen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0880" y="363295"/>
            <a:ext cx="8644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Macrophage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2611" y="363295"/>
            <a:ext cx="8644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Infected cell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5510" y="1569792"/>
            <a:ext cx="877276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900" b="1"/>
            </a:lvl1pPr>
          </a:lstStyle>
          <a:p>
            <a:pPr algn="l"/>
            <a:r>
              <a:rPr lang="en-US" dirty="0"/>
              <a:t>Antigen</a:t>
            </a:r>
          </a:p>
          <a:p>
            <a:pPr algn="l"/>
            <a:r>
              <a:rPr lang="en-US" dirty="0"/>
              <a:t>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2912" y="2247128"/>
            <a:ext cx="1037664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Cytotoxic T-cell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4008" y="3593327"/>
            <a:ext cx="1018503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900" b="1" dirty="0"/>
              <a:t>Activated</a:t>
            </a:r>
          </a:p>
          <a:p>
            <a:pPr algn="ctr">
              <a:lnSpc>
                <a:spcPct val="95000"/>
              </a:lnSpc>
            </a:pPr>
            <a:r>
              <a:rPr lang="en-US" sz="900" b="1" dirty="0"/>
              <a:t>cytotoxic T-cell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3272" y="4761725"/>
            <a:ext cx="864345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lnSpc>
                <a:spcPct val="95000"/>
              </a:lnSpc>
              <a:defRPr sz="900" b="1"/>
            </a:lvl1pPr>
          </a:lstStyle>
          <a:p>
            <a:r>
              <a:rPr lang="en-US" dirty="0"/>
              <a:t>Perforins</a:t>
            </a:r>
          </a:p>
          <a:p>
            <a:r>
              <a:rPr lang="en-US" dirty="0"/>
              <a:t>fragmenting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6541" y="6430720"/>
            <a:ext cx="114051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Infected cell 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1199" y="5358630"/>
            <a:ext cx="4005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H</a:t>
            </a:r>
            <a:r>
              <a:rPr lang="en-US" sz="900" b="1" baseline="-25000" dirty="0"/>
              <a:t>2</a:t>
            </a:r>
            <a:r>
              <a:rPr lang="en-US" sz="900" b="1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2142153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23.18  The role of helper T cells in activation of B cells and cytotoxic T cells.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48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6</a:t>
            </a:r>
            <a:endParaRPr lang="en-US" sz="1200" b="1" dirty="0">
              <a:cs typeface="Arial" charset="0"/>
            </a:endParaRPr>
          </a:p>
        </p:txBody>
      </p:sp>
      <p:pic>
        <p:nvPicPr>
          <p:cNvPr id="14" name="Picture 13" descr="figure_23_18_unlabeled_Slide06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60"/>
          <a:stretch/>
        </p:blipFill>
        <p:spPr>
          <a:xfrm>
            <a:off x="2628900" y="392015"/>
            <a:ext cx="3767328" cy="62217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05316" y="761226"/>
            <a:ext cx="614208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Antigen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0880" y="363295"/>
            <a:ext cx="8644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Macrophage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2611" y="363295"/>
            <a:ext cx="8644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Infected cell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5510" y="1569792"/>
            <a:ext cx="877276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900" b="1"/>
            </a:lvl1pPr>
          </a:lstStyle>
          <a:p>
            <a:pPr algn="l"/>
            <a:r>
              <a:rPr lang="en-US" dirty="0"/>
              <a:t>Antigen</a:t>
            </a:r>
          </a:p>
          <a:p>
            <a:pPr algn="l"/>
            <a:r>
              <a:rPr lang="en-US" dirty="0"/>
              <a:t>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6913" y="1569794"/>
            <a:ext cx="877276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lnSpc>
                <a:spcPct val="95000"/>
              </a:lnSpc>
              <a:defRPr sz="900" b="1"/>
            </a:lvl1pPr>
          </a:lstStyle>
          <a:p>
            <a:r>
              <a:rPr lang="en-US" dirty="0"/>
              <a:t>Antigen</a:t>
            </a:r>
          </a:p>
          <a:p>
            <a:r>
              <a:rPr lang="en-US" dirty="0"/>
              <a:t>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213" y="2247127"/>
            <a:ext cx="871020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Helper T-cell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2912" y="2247128"/>
            <a:ext cx="1037664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Cytotoxic T-cell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6874" y="2496897"/>
            <a:ext cx="389857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IL-2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04008" y="3593327"/>
            <a:ext cx="1018503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900" b="1" dirty="0"/>
              <a:t>Activated</a:t>
            </a:r>
          </a:p>
          <a:p>
            <a:pPr algn="ctr">
              <a:lnSpc>
                <a:spcPct val="95000"/>
              </a:lnSpc>
            </a:pPr>
            <a:r>
              <a:rPr lang="en-US" sz="900" b="1" dirty="0"/>
              <a:t>cytotoxic T-cell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3272" y="4761725"/>
            <a:ext cx="864345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lnSpc>
                <a:spcPct val="95000"/>
              </a:lnSpc>
              <a:defRPr sz="900" b="1"/>
            </a:lvl1pPr>
          </a:lstStyle>
          <a:p>
            <a:r>
              <a:rPr lang="en-US" dirty="0"/>
              <a:t>Perforins</a:t>
            </a:r>
          </a:p>
          <a:p>
            <a:r>
              <a:rPr lang="en-US" dirty="0"/>
              <a:t>fragmenting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6541" y="6430720"/>
            <a:ext cx="114051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Infected cell 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71199" y="5358630"/>
            <a:ext cx="4005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H</a:t>
            </a:r>
            <a:r>
              <a:rPr lang="en-US" sz="900" b="1" baseline="-25000" dirty="0"/>
              <a:t>2</a:t>
            </a:r>
            <a:r>
              <a:rPr lang="en-US" sz="900" b="1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9436196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23.18  The role of helper T cells in activation of B cells and cytotoxic T cells.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48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7</a:t>
            </a:r>
            <a:endParaRPr lang="en-US" sz="1200" b="1" dirty="0">
              <a:cs typeface="Arial" charset="0"/>
            </a:endParaRPr>
          </a:p>
        </p:txBody>
      </p:sp>
      <p:pic>
        <p:nvPicPr>
          <p:cNvPr id="21" name="Picture 20" descr="figure_23_18_unlabeled_Slide07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89"/>
          <a:stretch/>
        </p:blipFill>
        <p:spPr>
          <a:xfrm>
            <a:off x="2628900" y="392016"/>
            <a:ext cx="3767328" cy="62392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705316" y="761226"/>
            <a:ext cx="614208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Antigen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0880" y="363295"/>
            <a:ext cx="8644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Macrophage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2611" y="363295"/>
            <a:ext cx="8644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Infected cell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5510" y="1569792"/>
            <a:ext cx="877276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900" b="1"/>
            </a:lvl1pPr>
          </a:lstStyle>
          <a:p>
            <a:pPr algn="l"/>
            <a:r>
              <a:rPr lang="en-US" dirty="0"/>
              <a:t>Antigen</a:t>
            </a:r>
          </a:p>
          <a:p>
            <a:pPr algn="l"/>
            <a:r>
              <a:rPr lang="en-US" dirty="0"/>
              <a:t>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76913" y="1569794"/>
            <a:ext cx="877276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lnSpc>
                <a:spcPct val="95000"/>
              </a:lnSpc>
              <a:defRPr sz="900" b="1"/>
            </a:lvl1pPr>
          </a:lstStyle>
          <a:p>
            <a:r>
              <a:rPr lang="en-US" dirty="0"/>
              <a:t>Antigen</a:t>
            </a:r>
          </a:p>
          <a:p>
            <a:r>
              <a:rPr lang="en-US" dirty="0"/>
              <a:t>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213" y="2247127"/>
            <a:ext cx="871020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Helper T-cell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2912" y="2247128"/>
            <a:ext cx="1037664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Cytotoxic T-cell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5743" y="2209028"/>
            <a:ext cx="498961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B-cell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8843" y="2501130"/>
            <a:ext cx="389857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IL-2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56874" y="2496897"/>
            <a:ext cx="389857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IL-2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04008" y="3593327"/>
            <a:ext cx="1018503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900" b="1" dirty="0"/>
              <a:t>Activated</a:t>
            </a:r>
          </a:p>
          <a:p>
            <a:pPr algn="ctr">
              <a:lnSpc>
                <a:spcPct val="95000"/>
              </a:lnSpc>
            </a:pPr>
            <a:r>
              <a:rPr lang="en-US" sz="900" b="1" dirty="0"/>
              <a:t>cytotoxic T-cell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3272" y="4761725"/>
            <a:ext cx="864345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lnSpc>
                <a:spcPct val="95000"/>
              </a:lnSpc>
              <a:defRPr sz="900" b="1"/>
            </a:lvl1pPr>
          </a:lstStyle>
          <a:p>
            <a:r>
              <a:rPr lang="en-US" dirty="0"/>
              <a:t>Perforins</a:t>
            </a:r>
          </a:p>
          <a:p>
            <a:r>
              <a:rPr lang="en-US" dirty="0"/>
              <a:t>fragmenting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6541" y="6430720"/>
            <a:ext cx="114051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Infected cell 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71199" y="5358630"/>
            <a:ext cx="4005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H</a:t>
            </a:r>
            <a:r>
              <a:rPr lang="en-US" sz="900" b="1" baseline="-25000" dirty="0"/>
              <a:t>2</a:t>
            </a:r>
            <a:r>
              <a:rPr lang="en-US" sz="900" b="1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7568664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23.18  The role of helper T cells in activation of B cells and cytotoxic T cells.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48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8</a:t>
            </a:r>
            <a:endParaRPr lang="en-US" sz="1200" b="1" dirty="0">
              <a:cs typeface="Arial" charset="0"/>
            </a:endParaRPr>
          </a:p>
        </p:txBody>
      </p:sp>
      <p:pic>
        <p:nvPicPr>
          <p:cNvPr id="19" name="Picture 18" descr="figure_23_18_unlabeled_Slide08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24"/>
          <a:stretch/>
        </p:blipFill>
        <p:spPr>
          <a:xfrm>
            <a:off x="2628900" y="392015"/>
            <a:ext cx="3767328" cy="623048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05316" y="761226"/>
            <a:ext cx="614208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Antigen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40880" y="363295"/>
            <a:ext cx="8644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Macrophage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2611" y="363295"/>
            <a:ext cx="8644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Infected cell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5510" y="1569792"/>
            <a:ext cx="877276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900" b="1"/>
            </a:lvl1pPr>
          </a:lstStyle>
          <a:p>
            <a:pPr algn="l"/>
            <a:r>
              <a:rPr lang="en-US" dirty="0"/>
              <a:t>Antigen</a:t>
            </a:r>
          </a:p>
          <a:p>
            <a:pPr algn="l"/>
            <a:r>
              <a:rPr lang="en-US" dirty="0"/>
              <a:t>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76913" y="1569794"/>
            <a:ext cx="877276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lnSpc>
                <a:spcPct val="95000"/>
              </a:lnSpc>
              <a:defRPr sz="900" b="1"/>
            </a:lvl1pPr>
          </a:lstStyle>
          <a:p>
            <a:r>
              <a:rPr lang="en-US" dirty="0"/>
              <a:t>Antigen</a:t>
            </a:r>
          </a:p>
          <a:p>
            <a:r>
              <a:rPr lang="en-US" dirty="0"/>
              <a:t>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213" y="2247127"/>
            <a:ext cx="871020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Helper T-cell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2912" y="2247128"/>
            <a:ext cx="1037664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Cytotoxic T-cell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5743" y="2209028"/>
            <a:ext cx="498961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B-cell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8843" y="2501130"/>
            <a:ext cx="389857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IL-2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56874" y="2496897"/>
            <a:ext cx="389857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IL-2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04008" y="3593327"/>
            <a:ext cx="1018503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900" b="1" dirty="0"/>
              <a:t>Activated</a:t>
            </a:r>
          </a:p>
          <a:p>
            <a:pPr algn="ctr">
              <a:lnSpc>
                <a:spcPct val="95000"/>
              </a:lnSpc>
            </a:pPr>
            <a:r>
              <a:rPr lang="en-US" sz="900" b="1" dirty="0"/>
              <a:t>cytotoxic T-cell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00486" y="3699164"/>
            <a:ext cx="813481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900" b="1" dirty="0"/>
              <a:t>Plasma cell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69203" y="3707629"/>
            <a:ext cx="633507" cy="394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Memory</a:t>
            </a:r>
          </a:p>
          <a:p>
            <a:pPr algn="l">
              <a:lnSpc>
                <a:spcPct val="110000"/>
              </a:lnSpc>
            </a:pPr>
            <a:r>
              <a:rPr lang="en-US" sz="900" b="1" dirty="0"/>
              <a:t>B-cell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3272" y="4761725"/>
            <a:ext cx="864345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lnSpc>
                <a:spcPct val="95000"/>
              </a:lnSpc>
              <a:defRPr sz="900" b="1"/>
            </a:lvl1pPr>
          </a:lstStyle>
          <a:p>
            <a:r>
              <a:rPr lang="en-US" dirty="0"/>
              <a:t>Perforins</a:t>
            </a:r>
          </a:p>
          <a:p>
            <a:r>
              <a:rPr lang="en-US" dirty="0"/>
              <a:t>fragmenting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06541" y="6430720"/>
            <a:ext cx="114051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Infected cell lysis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71199" y="5358630"/>
            <a:ext cx="4005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H</a:t>
            </a:r>
            <a:r>
              <a:rPr lang="en-US" sz="900" b="1" baseline="-25000" dirty="0"/>
              <a:t>2</a:t>
            </a:r>
            <a:r>
              <a:rPr lang="en-US" sz="900" b="1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052431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2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23.18  The role of helper T cells in activation of B cells and cytotoxic T cells.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48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9</a:t>
            </a:r>
            <a:endParaRPr lang="en-US" sz="1200" b="1" dirty="0">
              <a:cs typeface="Arial" charset="0"/>
            </a:endParaRPr>
          </a:p>
        </p:txBody>
      </p:sp>
      <p:pic>
        <p:nvPicPr>
          <p:cNvPr id="21" name="Picture 20" descr="figure_23_18_unlabeled_Slide09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24"/>
          <a:stretch/>
        </p:blipFill>
        <p:spPr>
          <a:xfrm>
            <a:off x="2628900" y="392015"/>
            <a:ext cx="3767328" cy="62304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705316" y="761226"/>
            <a:ext cx="614208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Antigen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0880" y="363295"/>
            <a:ext cx="8644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Macrophage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2611" y="363295"/>
            <a:ext cx="8644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Infected cell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5510" y="1569792"/>
            <a:ext cx="877276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900" b="1"/>
            </a:lvl1pPr>
          </a:lstStyle>
          <a:p>
            <a:pPr algn="l"/>
            <a:r>
              <a:rPr lang="en-US" dirty="0"/>
              <a:t>Antigen</a:t>
            </a:r>
          </a:p>
          <a:p>
            <a:pPr algn="l"/>
            <a:r>
              <a:rPr lang="en-US" dirty="0"/>
              <a:t>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76913" y="1569794"/>
            <a:ext cx="877276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lnSpc>
                <a:spcPct val="95000"/>
              </a:lnSpc>
              <a:defRPr sz="900" b="1"/>
            </a:lvl1pPr>
          </a:lstStyle>
          <a:p>
            <a:r>
              <a:rPr lang="en-US" dirty="0"/>
              <a:t>Antigen</a:t>
            </a:r>
          </a:p>
          <a:p>
            <a:r>
              <a:rPr lang="en-US" dirty="0"/>
              <a:t>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213" y="2247127"/>
            <a:ext cx="871020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Helper T-cell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2912" y="2247128"/>
            <a:ext cx="1037664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Cytotoxic T-cell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5743" y="2209028"/>
            <a:ext cx="498961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B-cell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8843" y="2501130"/>
            <a:ext cx="389857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IL-2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56874" y="2496897"/>
            <a:ext cx="389857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IL-2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04008" y="3593327"/>
            <a:ext cx="1018503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900" b="1" dirty="0"/>
              <a:t>Activated</a:t>
            </a:r>
          </a:p>
          <a:p>
            <a:pPr algn="ctr">
              <a:lnSpc>
                <a:spcPct val="95000"/>
              </a:lnSpc>
            </a:pPr>
            <a:r>
              <a:rPr lang="en-US" sz="900" b="1" dirty="0"/>
              <a:t>cytotoxic T-cell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0486" y="3699164"/>
            <a:ext cx="813481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900" b="1" dirty="0"/>
              <a:t>Plasma cell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69203" y="3707629"/>
            <a:ext cx="633507" cy="394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Memory</a:t>
            </a:r>
          </a:p>
          <a:p>
            <a:pPr algn="l">
              <a:lnSpc>
                <a:spcPct val="110000"/>
              </a:lnSpc>
            </a:pPr>
            <a:r>
              <a:rPr lang="en-US" sz="900" b="1" dirty="0"/>
              <a:t>B-cell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3272" y="4761725"/>
            <a:ext cx="864345" cy="356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lnSpc>
                <a:spcPct val="95000"/>
              </a:lnSpc>
              <a:defRPr sz="900" b="1"/>
            </a:lvl1pPr>
          </a:lstStyle>
          <a:p>
            <a:r>
              <a:rPr lang="en-US" dirty="0"/>
              <a:t>Perforins</a:t>
            </a:r>
          </a:p>
          <a:p>
            <a:r>
              <a:rPr lang="en-US" dirty="0"/>
              <a:t>fragmenting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18501" y="5532195"/>
            <a:ext cx="780964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Antibodies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06541" y="6430720"/>
            <a:ext cx="114051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Infected cell lysis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71199" y="5358630"/>
            <a:ext cx="40058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900" b="1" dirty="0"/>
              <a:t>H</a:t>
            </a:r>
            <a:r>
              <a:rPr lang="en-US" sz="900" b="1" baseline="-25000" dirty="0"/>
              <a:t>2</a:t>
            </a:r>
            <a:r>
              <a:rPr lang="en-US" sz="900" b="1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42313827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23.6 Immune Responses in Health and Disease</a:t>
            </a:r>
            <a:endParaRPr lang="en-US" dirty="0"/>
          </a:p>
        </p:txBody>
      </p:sp>
      <p:sp>
        <p:nvSpPr>
          <p:cNvPr id="64514" name="Rectangle 1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Generating immunity: immunization</a:t>
            </a:r>
          </a:p>
          <a:p>
            <a:pPr lvl="1"/>
            <a:r>
              <a:rPr lang="en-US" dirty="0" smtClean="0"/>
              <a:t>Vaccine: introduction of microorganism or its antigens in a form not expected to cause disease</a:t>
            </a:r>
          </a:p>
          <a:p>
            <a:pPr lvl="1"/>
            <a:r>
              <a:rPr lang="en-US" dirty="0" smtClean="0"/>
              <a:t>Induces immune response, including production of memory cells</a:t>
            </a:r>
          </a:p>
          <a:p>
            <a:r>
              <a:rPr lang="en-US" dirty="0" smtClean="0"/>
              <a:t>Active immunity</a:t>
            </a:r>
          </a:p>
          <a:p>
            <a:pPr lvl="1"/>
            <a:r>
              <a:rPr lang="en-US" dirty="0" smtClean="0"/>
              <a:t>Immune response to vaccine or pathogen in individual gives immunity</a:t>
            </a:r>
          </a:p>
          <a:p>
            <a:r>
              <a:rPr lang="en-US" dirty="0" smtClean="0"/>
              <a:t>Passive immunity</a:t>
            </a:r>
          </a:p>
          <a:p>
            <a:pPr lvl="1"/>
            <a:r>
              <a:rPr lang="en-US" dirty="0" smtClean="0"/>
              <a:t>Administration of ready-made antibodies</a:t>
            </a:r>
          </a:p>
          <a:p>
            <a:pPr lvl="1"/>
            <a:r>
              <a:rPr lang="en-US" dirty="0" smtClean="0"/>
              <a:t>No memory cells, so no long-term immunity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71" name="Rectangle 14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23.19  Acquisition of long-term immunity through vaccination (immunization).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pic>
        <p:nvPicPr>
          <p:cNvPr id="21" name="Picture 20" descr="figure_23_19_un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62"/>
          <a:stretch/>
        </p:blipFill>
        <p:spPr>
          <a:xfrm>
            <a:off x="266700" y="1346200"/>
            <a:ext cx="8601456" cy="39694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75465" y="1438064"/>
            <a:ext cx="1481658" cy="15106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400" b="1" dirty="0"/>
              <a:t>Inactivated</a:t>
            </a:r>
          </a:p>
          <a:p>
            <a:pPr algn="l">
              <a:lnSpc>
                <a:spcPct val="110000"/>
              </a:lnSpc>
            </a:pPr>
            <a:r>
              <a:rPr lang="en-US" sz="1400" b="1" dirty="0"/>
              <a:t>microorganism</a:t>
            </a:r>
          </a:p>
          <a:p>
            <a:pPr algn="l">
              <a:lnSpc>
                <a:spcPct val="110000"/>
              </a:lnSpc>
            </a:pPr>
            <a:r>
              <a:rPr lang="en-US" sz="1400" b="1" dirty="0"/>
              <a:t>or harmless</a:t>
            </a:r>
          </a:p>
          <a:p>
            <a:pPr algn="l">
              <a:lnSpc>
                <a:spcPct val="110000"/>
              </a:lnSpc>
            </a:pPr>
            <a:r>
              <a:rPr lang="en-US" sz="1400" b="1" dirty="0"/>
              <a:t>components</a:t>
            </a:r>
          </a:p>
          <a:p>
            <a:pPr algn="l">
              <a:lnSpc>
                <a:spcPct val="110000"/>
              </a:lnSpc>
            </a:pPr>
            <a:r>
              <a:rPr lang="en-US" sz="1400" b="1" dirty="0"/>
              <a:t>of pathogen</a:t>
            </a:r>
          </a:p>
          <a:p>
            <a:pPr algn="l">
              <a:lnSpc>
                <a:spcPct val="110000"/>
              </a:lnSpc>
            </a:pPr>
            <a:r>
              <a:rPr lang="en-US" sz="1400" b="1" dirty="0"/>
              <a:t>(inoculum)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696" y="3448258"/>
            <a:ext cx="1341658" cy="325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400" b="1" dirty="0"/>
              <a:t>Immunization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9912" y="3204342"/>
            <a:ext cx="1582484" cy="799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400" b="1" dirty="0"/>
              <a:t>Slow, weak</a:t>
            </a:r>
          </a:p>
          <a:p>
            <a:pPr algn="ctr">
              <a:lnSpc>
                <a:spcPct val="110000"/>
              </a:lnSpc>
            </a:pPr>
            <a:r>
              <a:rPr lang="en-US" sz="1400" b="1" dirty="0"/>
              <a:t>primary immune</a:t>
            </a:r>
          </a:p>
          <a:p>
            <a:pPr algn="ctr">
              <a:lnSpc>
                <a:spcPct val="110000"/>
              </a:lnSpc>
            </a:pPr>
            <a:r>
              <a:rPr lang="en-US" sz="1400" b="1" dirty="0"/>
              <a:t>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1843" y="2136165"/>
            <a:ext cx="1211828" cy="799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400" b="1" dirty="0"/>
              <a:t>Natural</a:t>
            </a:r>
          </a:p>
          <a:p>
            <a:pPr algn="l">
              <a:lnSpc>
                <a:spcPct val="110000"/>
              </a:lnSpc>
            </a:pPr>
            <a:r>
              <a:rPr lang="en-US" sz="1400" b="1" dirty="0"/>
              <a:t>exposure</a:t>
            </a:r>
          </a:p>
          <a:p>
            <a:pPr algn="l">
              <a:lnSpc>
                <a:spcPct val="110000"/>
              </a:lnSpc>
            </a:pPr>
            <a:r>
              <a:rPr lang="en-US" sz="1400" b="1" dirty="0"/>
              <a:t>to pathogen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6061" y="4541670"/>
            <a:ext cx="1261796" cy="799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400" b="1" dirty="0"/>
              <a:t>Antibody</a:t>
            </a:r>
          </a:p>
          <a:p>
            <a:pPr algn="ctr">
              <a:lnSpc>
                <a:spcPct val="110000"/>
              </a:lnSpc>
            </a:pPr>
            <a:r>
              <a:rPr lang="en-US" sz="1400" b="1" dirty="0"/>
              <a:t>production</a:t>
            </a:r>
          </a:p>
          <a:p>
            <a:pPr algn="ctr">
              <a:lnSpc>
                <a:spcPct val="110000"/>
              </a:lnSpc>
            </a:pPr>
            <a:r>
              <a:rPr lang="en-US" sz="1400" b="1" dirty="0"/>
              <a:t>(not needed)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00559" y="4541670"/>
            <a:ext cx="873093" cy="5627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400" b="1" dirty="0"/>
              <a:t>Memory</a:t>
            </a:r>
          </a:p>
          <a:p>
            <a:pPr algn="ctr">
              <a:lnSpc>
                <a:spcPct val="110000"/>
              </a:lnSpc>
            </a:pPr>
            <a:r>
              <a:rPr lang="en-US" sz="1400" b="1" dirty="0"/>
              <a:t>cells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3242" y="4550083"/>
            <a:ext cx="1122059" cy="799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400" b="1" dirty="0"/>
              <a:t>Antibody</a:t>
            </a:r>
          </a:p>
          <a:p>
            <a:pPr algn="ctr">
              <a:lnSpc>
                <a:spcPct val="110000"/>
              </a:lnSpc>
            </a:pPr>
            <a:r>
              <a:rPr lang="en-US" sz="1400" b="1" dirty="0"/>
              <a:t>production</a:t>
            </a:r>
          </a:p>
          <a:p>
            <a:pPr algn="ctr">
              <a:lnSpc>
                <a:spcPct val="110000"/>
              </a:lnSpc>
            </a:pPr>
            <a:r>
              <a:rPr lang="en-US" sz="1400" b="1" dirty="0"/>
              <a:t>(needed)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9463" y="4541672"/>
            <a:ext cx="873093" cy="5627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400" b="1" dirty="0"/>
              <a:t>Memory</a:t>
            </a:r>
          </a:p>
          <a:p>
            <a:pPr algn="ctr">
              <a:lnSpc>
                <a:spcPct val="110000"/>
              </a:lnSpc>
            </a:pPr>
            <a:r>
              <a:rPr lang="en-US" sz="1400" b="1" dirty="0"/>
              <a:t>cells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4688" y="3212757"/>
            <a:ext cx="1826141" cy="799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400" b="1" dirty="0"/>
              <a:t>Fast, strong</a:t>
            </a:r>
          </a:p>
          <a:p>
            <a:pPr algn="ctr">
              <a:lnSpc>
                <a:spcPct val="110000"/>
              </a:lnSpc>
            </a:pPr>
            <a:r>
              <a:rPr lang="en-US" sz="1400" b="1" dirty="0"/>
              <a:t>secondary immune</a:t>
            </a:r>
          </a:p>
          <a:p>
            <a:pPr algn="ctr">
              <a:lnSpc>
                <a:spcPct val="110000"/>
              </a:lnSpc>
            </a:pPr>
            <a:r>
              <a:rPr lang="en-US" sz="1400" b="1" dirty="0"/>
              <a:t>response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table_23_02_labeled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71"/>
          <a:stretch/>
        </p:blipFill>
        <p:spPr>
          <a:xfrm>
            <a:off x="266700" y="1689100"/>
            <a:ext cx="8601456" cy="32985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Generating Immunity: Immunization</a:t>
            </a:r>
            <a:endParaRPr lang="en-US" dirty="0"/>
          </a:p>
        </p:txBody>
      </p:sp>
      <p:sp>
        <p:nvSpPr>
          <p:cNvPr id="70658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Passive immunity from mother to fetus or baby</a:t>
            </a:r>
          </a:p>
          <a:p>
            <a:pPr lvl="1"/>
            <a:r>
              <a:rPr lang="en-US" dirty="0" smtClean="0"/>
              <a:t>IgG passes to fetus via the placenta</a:t>
            </a:r>
          </a:p>
          <a:p>
            <a:pPr lvl="1"/>
            <a:r>
              <a:rPr lang="en-US" dirty="0" smtClean="0"/>
              <a:t>IgA passes to baby in breast milk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of Immune System in Transfusion and Transplantation</a:t>
            </a:r>
            <a:endParaRPr lang="en-US" dirty="0"/>
          </a:p>
        </p:txBody>
      </p:sp>
      <p:sp>
        <p:nvSpPr>
          <p:cNvPr id="72706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Immune system recognizes difference between self and non-self</a:t>
            </a:r>
          </a:p>
          <a:p>
            <a:r>
              <a:rPr lang="en-US" dirty="0" smtClean="0"/>
              <a:t>Need to match donor to recipient closely</a:t>
            </a:r>
          </a:p>
          <a:p>
            <a:r>
              <a:rPr lang="en-US" dirty="0" smtClean="0"/>
              <a:t>Must suppress immune system in recipient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of Immune System in Transfusion and Transplantation</a:t>
            </a:r>
            <a:endParaRPr lang="en-US" dirty="0"/>
          </a:p>
        </p:txBody>
      </p:sp>
      <p:sp>
        <p:nvSpPr>
          <p:cNvPr id="74754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Blood group compatibility</a:t>
            </a:r>
          </a:p>
          <a:p>
            <a:pPr lvl="1"/>
            <a:r>
              <a:rPr lang="en-US" dirty="0" smtClean="0"/>
              <a:t>Blood types: A, B, AB, O</a:t>
            </a:r>
          </a:p>
          <a:p>
            <a:pPr lvl="2"/>
            <a:r>
              <a:rPr lang="en-US" dirty="0" smtClean="0"/>
              <a:t>Due to antigens on surface of RBCs</a:t>
            </a:r>
          </a:p>
          <a:p>
            <a:pPr lvl="1"/>
            <a:r>
              <a:rPr lang="en-US" dirty="0" smtClean="0"/>
              <a:t>Type A </a:t>
            </a:r>
            <a:r>
              <a:rPr lang="en-US" dirty="0"/>
              <a:t>→</a:t>
            </a:r>
            <a:r>
              <a:rPr lang="en-US" dirty="0" smtClean="0">
                <a:sym typeface="Wingdings" charset="0"/>
              </a:rPr>
              <a:t> A antigens, anti-B antibodies</a:t>
            </a:r>
          </a:p>
          <a:p>
            <a:pPr lvl="1"/>
            <a:r>
              <a:rPr lang="en-US" dirty="0" smtClean="0">
                <a:sym typeface="Wingdings" charset="0"/>
              </a:rPr>
              <a:t>Type B </a:t>
            </a:r>
            <a:r>
              <a:rPr lang="en-US" dirty="0"/>
              <a:t>→</a:t>
            </a:r>
            <a:r>
              <a:rPr lang="en-US" dirty="0" smtClean="0">
                <a:sym typeface="Wingdings" charset="0"/>
              </a:rPr>
              <a:t> B antigens, anti-A antibodies</a:t>
            </a:r>
          </a:p>
          <a:p>
            <a:pPr lvl="1"/>
            <a:r>
              <a:rPr lang="en-US" dirty="0" smtClean="0">
                <a:sym typeface="Wingdings" charset="0"/>
              </a:rPr>
              <a:t>Type AB </a:t>
            </a:r>
            <a:r>
              <a:rPr lang="en-US" dirty="0"/>
              <a:t>→</a:t>
            </a:r>
            <a:r>
              <a:rPr lang="en-US" dirty="0" smtClean="0">
                <a:sym typeface="Wingdings" charset="0"/>
              </a:rPr>
              <a:t> A and B antigens, no A or B antibodies</a:t>
            </a:r>
          </a:p>
          <a:p>
            <a:pPr lvl="1"/>
            <a:r>
              <a:rPr lang="en-US" dirty="0" smtClean="0">
                <a:sym typeface="Wingdings" charset="0"/>
              </a:rPr>
              <a:t>Type O </a:t>
            </a:r>
            <a:r>
              <a:rPr lang="en-US" dirty="0"/>
              <a:t>→</a:t>
            </a:r>
            <a:r>
              <a:rPr lang="en-US" dirty="0" smtClean="0">
                <a:sym typeface="Wingdings" charset="0"/>
              </a:rPr>
              <a:t> no antigens, anti-A and anti-B antibodies</a:t>
            </a:r>
          </a:p>
          <a:p>
            <a:pPr lvl="1"/>
            <a:r>
              <a:rPr lang="en-US" dirty="0" smtClean="0"/>
              <a:t>Universal donor: O</a:t>
            </a:r>
          </a:p>
          <a:p>
            <a:pPr lvl="1"/>
            <a:r>
              <a:rPr lang="en-US" dirty="0" smtClean="0"/>
              <a:t>Universal recipient: AB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of Immune System in Transfusion and Transplantation</a:t>
            </a:r>
            <a:endParaRPr lang="en-US" dirty="0"/>
          </a:p>
        </p:txBody>
      </p:sp>
      <p:sp>
        <p:nvSpPr>
          <p:cNvPr id="76802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Tissue grafts and organ transplantation</a:t>
            </a:r>
          </a:p>
          <a:p>
            <a:pPr lvl="1"/>
            <a:r>
              <a:rPr lang="en-US" dirty="0" smtClean="0"/>
              <a:t>HLA molecules (MHC) stimulate rejection by inducing an immune response</a:t>
            </a:r>
          </a:p>
          <a:p>
            <a:pPr lvl="1"/>
            <a:r>
              <a:rPr lang="en-US" dirty="0" smtClean="0"/>
              <a:t>Tissue typing: matches HLA molecules between donor and recipient</a:t>
            </a:r>
          </a:p>
          <a:p>
            <a:pPr lvl="1"/>
            <a:r>
              <a:rPr lang="en-US" dirty="0" smtClean="0"/>
              <a:t>Must suppress immune response of recipient</a:t>
            </a:r>
          </a:p>
          <a:p>
            <a:pPr lvl="1"/>
            <a:r>
              <a:rPr lang="en-US" dirty="0" smtClean="0"/>
              <a:t>Cyclosporin A and FK506 inhibit IL-2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of Immune System in Transfusion and Transplantation</a:t>
            </a:r>
            <a:endParaRPr lang="en-US" dirty="0"/>
          </a:p>
        </p:txBody>
      </p:sp>
      <p:sp>
        <p:nvSpPr>
          <p:cNvPr id="78850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Bone marrow transplants: some are more successful than others</a:t>
            </a:r>
          </a:p>
          <a:p>
            <a:r>
              <a:rPr lang="en-US" dirty="0" smtClean="0"/>
              <a:t>Radiation treatment destroys bone marrow cells, inactivating immune system</a:t>
            </a:r>
          </a:p>
          <a:p>
            <a:r>
              <a:rPr lang="en-US" dirty="0" smtClean="0"/>
              <a:t>Donated marrow may mount an immune response against recipient: graft versus host reaction</a:t>
            </a:r>
          </a:p>
          <a:p>
            <a:r>
              <a:rPr lang="en-US" dirty="0" smtClean="0"/>
              <a:t>Necessary to match donor and recipient HLA molecules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Immune Dysfunctions</a:t>
            </a:r>
            <a:endParaRPr lang="en-US" dirty="0"/>
          </a:p>
        </p:txBody>
      </p:sp>
      <p:sp>
        <p:nvSpPr>
          <p:cNvPr id="80898" name="Rectangle 1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Allergy: hypersensitive immune response</a:t>
            </a:r>
          </a:p>
          <a:p>
            <a:pPr lvl="1"/>
            <a:r>
              <a:rPr lang="en-US" dirty="0" smtClean="0"/>
              <a:t>Antigens that induce allergic reactions: allergens</a:t>
            </a:r>
          </a:p>
          <a:p>
            <a:pPr lvl="1"/>
            <a:r>
              <a:rPr lang="en-US" dirty="0" smtClean="0"/>
              <a:t>Antibodies of allergies: IgE</a:t>
            </a:r>
          </a:p>
          <a:p>
            <a:pPr lvl="1"/>
            <a:r>
              <a:rPr lang="en-US" dirty="0" smtClean="0"/>
              <a:t>IgE activates mast cells to release histamine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63" name="Rectangle 23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23.20  Events in hay fever, an allergic response.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29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1</a:t>
            </a:r>
            <a:endParaRPr lang="en-US" sz="1200" b="1" dirty="0">
              <a:cs typeface="Arial" charset="0"/>
            </a:endParaRPr>
          </a:p>
        </p:txBody>
      </p:sp>
      <p:pic>
        <p:nvPicPr>
          <p:cNvPr id="30" name="Picture 29" descr="figure_23_20_unlabeled_Slide09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13"/>
          <a:stretch/>
        </p:blipFill>
        <p:spPr>
          <a:xfrm>
            <a:off x="266700" y="825500"/>
            <a:ext cx="8601456" cy="5016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70022" y="971877"/>
            <a:ext cx="1146468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30" b="1" dirty="0"/>
              <a:t>Pollen</a:t>
            </a:r>
          </a:p>
          <a:p>
            <a:pPr algn="l"/>
            <a:r>
              <a:rPr lang="en-US" sz="1030" b="1" dirty="0"/>
              <a:t>(ﬁrst exposure)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385" y="2804911"/>
            <a:ext cx="537070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B cell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744" y="2818671"/>
            <a:ext cx="977769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Plasma cells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1295" y="2804911"/>
            <a:ext cx="1087347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IgE antibodies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11312" y="1530679"/>
            <a:ext cx="882251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30" b="1" dirty="0"/>
              <a:t>Excess IgE</a:t>
            </a:r>
          </a:p>
          <a:p>
            <a:pPr algn="l"/>
            <a:r>
              <a:rPr lang="en-US" sz="1030" b="1" dirty="0"/>
              <a:t>antibodies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3287" y="1176135"/>
            <a:ext cx="580992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Pollen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88619" y="2972126"/>
            <a:ext cx="969900" cy="567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Pollen</a:t>
            </a:r>
          </a:p>
          <a:p>
            <a:r>
              <a:rPr lang="en-US" dirty="0"/>
              <a:t>(subsequent</a:t>
            </a:r>
          </a:p>
          <a:p>
            <a:r>
              <a:rPr lang="en-US" dirty="0"/>
              <a:t>exposure)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0003" y="2906510"/>
            <a:ext cx="742617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Mast cell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57755" y="3661099"/>
            <a:ext cx="1476514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Histamine and other</a:t>
            </a:r>
          </a:p>
          <a:p>
            <a:r>
              <a:rPr lang="en-US" dirty="0"/>
              <a:t>inﬂammatory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49752" y="4355366"/>
            <a:ext cx="962677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Vasodilation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98955" y="4626300"/>
            <a:ext cx="962806" cy="567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Increased</a:t>
            </a:r>
          </a:p>
          <a:p>
            <a:r>
              <a:rPr lang="en-US" dirty="0"/>
              <a:t>capillary</a:t>
            </a:r>
          </a:p>
          <a:p>
            <a:r>
              <a:rPr lang="en-US" dirty="0"/>
              <a:t>permeability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2549" y="4425217"/>
            <a:ext cx="1454199" cy="695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pPr>
              <a:lnSpc>
                <a:spcPct val="95000"/>
              </a:lnSpc>
            </a:pPr>
            <a:r>
              <a:rPr lang="en-US" dirty="0"/>
              <a:t>Symptoms of</a:t>
            </a:r>
          </a:p>
          <a:p>
            <a:pPr>
              <a:lnSpc>
                <a:spcPct val="95000"/>
              </a:lnSpc>
            </a:pPr>
            <a:r>
              <a:rPr lang="en-US" dirty="0"/>
              <a:t>hay fever:</a:t>
            </a:r>
          </a:p>
          <a:p>
            <a:pPr>
              <a:lnSpc>
                <a:spcPct val="95000"/>
              </a:lnSpc>
            </a:pPr>
            <a:r>
              <a:rPr lang="en-US" dirty="0"/>
              <a:t>coughing, sneezing,</a:t>
            </a:r>
          </a:p>
          <a:p>
            <a:pPr>
              <a:lnSpc>
                <a:spcPct val="95000"/>
              </a:lnSpc>
            </a:pPr>
            <a:r>
              <a:rPr lang="en-US" dirty="0"/>
              <a:t>snifﬂes</a:t>
            </a:r>
          </a:p>
        </p:txBody>
      </p:sp>
      <p:sp>
        <p:nvSpPr>
          <p:cNvPr id="43" name="Freeform 42"/>
          <p:cNvSpPr/>
          <p:nvPr/>
        </p:nvSpPr>
        <p:spPr>
          <a:xfrm>
            <a:off x="5861050" y="3962400"/>
            <a:ext cx="285750" cy="225425"/>
          </a:xfrm>
          <a:custGeom>
            <a:avLst/>
            <a:gdLst>
              <a:gd name="connsiteX0" fmla="*/ 0 w 285750"/>
              <a:gd name="connsiteY0" fmla="*/ 0 h 225425"/>
              <a:gd name="connsiteX1" fmla="*/ 285750 w 285750"/>
              <a:gd name="connsiteY1" fmla="*/ 225425 h 225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750" h="225425">
                <a:moveTo>
                  <a:pt x="0" y="0"/>
                </a:moveTo>
                <a:lnTo>
                  <a:pt x="285750" y="225425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4" name="Freeform 43"/>
          <p:cNvSpPr/>
          <p:nvPr/>
        </p:nvSpPr>
        <p:spPr>
          <a:xfrm>
            <a:off x="6623050" y="3419475"/>
            <a:ext cx="269875" cy="260350"/>
          </a:xfrm>
          <a:custGeom>
            <a:avLst/>
            <a:gdLst>
              <a:gd name="connsiteX0" fmla="*/ 0 w 269875"/>
              <a:gd name="connsiteY0" fmla="*/ 0 h 260350"/>
              <a:gd name="connsiteX1" fmla="*/ 269875 w 269875"/>
              <a:gd name="connsiteY1" fmla="*/ 260350 h 26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9875" h="260350">
                <a:moveTo>
                  <a:pt x="0" y="0"/>
                </a:moveTo>
                <a:lnTo>
                  <a:pt x="269875" y="26035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5" name="Freeform 44"/>
          <p:cNvSpPr/>
          <p:nvPr/>
        </p:nvSpPr>
        <p:spPr>
          <a:xfrm>
            <a:off x="819150" y="1114425"/>
            <a:ext cx="314325" cy="219075"/>
          </a:xfrm>
          <a:custGeom>
            <a:avLst/>
            <a:gdLst>
              <a:gd name="connsiteX0" fmla="*/ 0 w 314325"/>
              <a:gd name="connsiteY0" fmla="*/ 219075 h 219075"/>
              <a:gd name="connsiteX1" fmla="*/ 314325 w 314325"/>
              <a:gd name="connsiteY1" fmla="*/ 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4325" h="219075">
                <a:moveTo>
                  <a:pt x="0" y="219075"/>
                </a:moveTo>
                <a:lnTo>
                  <a:pt x="314325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4708525" y="1393825"/>
            <a:ext cx="520700" cy="234950"/>
          </a:xfrm>
          <a:custGeom>
            <a:avLst/>
            <a:gdLst>
              <a:gd name="connsiteX0" fmla="*/ 0 w 520700"/>
              <a:gd name="connsiteY0" fmla="*/ 234950 h 234950"/>
              <a:gd name="connsiteX1" fmla="*/ 263525 w 520700"/>
              <a:gd name="connsiteY1" fmla="*/ 0 h 234950"/>
              <a:gd name="connsiteX2" fmla="*/ 520700 w 520700"/>
              <a:gd name="connsiteY2" fmla="*/ 2095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0700" h="234950">
                <a:moveTo>
                  <a:pt x="0" y="234950"/>
                </a:moveTo>
                <a:lnTo>
                  <a:pt x="263525" y="0"/>
                </a:lnTo>
                <a:lnTo>
                  <a:pt x="520700" y="20955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63" name="Rectangle 23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23.20  Events in hay fever, an allergic response.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29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2</a:t>
            </a:r>
            <a:endParaRPr lang="en-US" sz="1200" b="1" dirty="0">
              <a:cs typeface="Arial" charset="0"/>
            </a:endParaRPr>
          </a:p>
        </p:txBody>
      </p:sp>
      <p:pic>
        <p:nvPicPr>
          <p:cNvPr id="21" name="Picture 20" descr="figure_23_20_unlabeled_Slide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43"/>
          <a:stretch/>
        </p:blipFill>
        <p:spPr>
          <a:xfrm>
            <a:off x="266700" y="825500"/>
            <a:ext cx="8601456" cy="488512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70022" y="971877"/>
            <a:ext cx="1146468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30" b="1" dirty="0"/>
              <a:t>Pollen</a:t>
            </a:r>
          </a:p>
          <a:p>
            <a:pPr algn="l"/>
            <a:r>
              <a:rPr lang="en-US" sz="1030" b="1" dirty="0"/>
              <a:t>(ﬁrst exposure)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385" y="2804911"/>
            <a:ext cx="537070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B cell</a:t>
            </a:r>
          </a:p>
        </p:txBody>
      </p:sp>
      <p:sp>
        <p:nvSpPr>
          <p:cNvPr id="24" name="Freeform 23"/>
          <p:cNvSpPr/>
          <p:nvPr/>
        </p:nvSpPr>
        <p:spPr>
          <a:xfrm>
            <a:off x="819150" y="1114425"/>
            <a:ext cx="314325" cy="219075"/>
          </a:xfrm>
          <a:custGeom>
            <a:avLst/>
            <a:gdLst>
              <a:gd name="connsiteX0" fmla="*/ 0 w 314325"/>
              <a:gd name="connsiteY0" fmla="*/ 219075 h 219075"/>
              <a:gd name="connsiteX1" fmla="*/ 314325 w 314325"/>
              <a:gd name="connsiteY1" fmla="*/ 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4325" h="219075">
                <a:moveTo>
                  <a:pt x="0" y="219075"/>
                </a:moveTo>
                <a:lnTo>
                  <a:pt x="314325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5558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63" name="Rectangle 23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23.20  Events in hay fever, an allergic response.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29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3</a:t>
            </a:r>
            <a:endParaRPr lang="en-US" sz="1200" b="1" dirty="0">
              <a:cs typeface="Arial" charset="0"/>
            </a:endParaRPr>
          </a:p>
        </p:txBody>
      </p:sp>
      <p:pic>
        <p:nvPicPr>
          <p:cNvPr id="8" name="Picture 7" descr="figure_23_20_unlabeled_Slide03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32"/>
          <a:stretch/>
        </p:blipFill>
        <p:spPr>
          <a:xfrm>
            <a:off x="266700" y="825500"/>
            <a:ext cx="8601456" cy="4937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0022" y="971877"/>
            <a:ext cx="1146468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30" b="1" dirty="0"/>
              <a:t>Pollen</a:t>
            </a:r>
          </a:p>
          <a:p>
            <a:pPr algn="l"/>
            <a:r>
              <a:rPr lang="en-US" sz="1030" b="1" dirty="0"/>
              <a:t>(ﬁrst exposure)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385" y="2804911"/>
            <a:ext cx="537070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B 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744" y="2818671"/>
            <a:ext cx="977769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Plasma cells</a:t>
            </a:r>
          </a:p>
        </p:txBody>
      </p:sp>
      <p:sp>
        <p:nvSpPr>
          <p:cNvPr id="12" name="Freeform 11"/>
          <p:cNvSpPr/>
          <p:nvPr/>
        </p:nvSpPr>
        <p:spPr>
          <a:xfrm>
            <a:off x="819150" y="1114425"/>
            <a:ext cx="314325" cy="219075"/>
          </a:xfrm>
          <a:custGeom>
            <a:avLst/>
            <a:gdLst>
              <a:gd name="connsiteX0" fmla="*/ 0 w 314325"/>
              <a:gd name="connsiteY0" fmla="*/ 219075 h 219075"/>
              <a:gd name="connsiteX1" fmla="*/ 314325 w 314325"/>
              <a:gd name="connsiteY1" fmla="*/ 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4325" h="219075">
                <a:moveTo>
                  <a:pt x="0" y="219075"/>
                </a:moveTo>
                <a:lnTo>
                  <a:pt x="314325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8092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63" name="Rectangle 23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23.20  Events in hay fever, an allergic response.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29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4</a:t>
            </a:r>
            <a:endParaRPr lang="en-US" sz="1200" b="1" dirty="0">
              <a:cs typeface="Arial" charset="0"/>
            </a:endParaRPr>
          </a:p>
        </p:txBody>
      </p:sp>
      <p:pic>
        <p:nvPicPr>
          <p:cNvPr id="13" name="Picture 12" descr="figure_23_20_unlabeled_Slide04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00"/>
          <a:stretch/>
        </p:blipFill>
        <p:spPr>
          <a:xfrm>
            <a:off x="266700" y="825500"/>
            <a:ext cx="8601456" cy="49289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70022" y="971877"/>
            <a:ext cx="1146468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30" b="1" dirty="0"/>
              <a:t>Pollen</a:t>
            </a:r>
          </a:p>
          <a:p>
            <a:pPr algn="l"/>
            <a:r>
              <a:rPr lang="en-US" sz="1030" b="1" dirty="0"/>
              <a:t>(ﬁrst exposure)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385" y="2804911"/>
            <a:ext cx="537070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B cell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744" y="2818671"/>
            <a:ext cx="977769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Plasma cells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1295" y="2804911"/>
            <a:ext cx="1087347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IgE antibodies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3287" y="1176135"/>
            <a:ext cx="580992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Pollen</a:t>
            </a:r>
          </a:p>
        </p:txBody>
      </p:sp>
      <p:sp>
        <p:nvSpPr>
          <p:cNvPr id="19" name="Freeform 18"/>
          <p:cNvSpPr/>
          <p:nvPr/>
        </p:nvSpPr>
        <p:spPr>
          <a:xfrm>
            <a:off x="819150" y="1114425"/>
            <a:ext cx="314325" cy="219075"/>
          </a:xfrm>
          <a:custGeom>
            <a:avLst/>
            <a:gdLst>
              <a:gd name="connsiteX0" fmla="*/ 0 w 314325"/>
              <a:gd name="connsiteY0" fmla="*/ 219075 h 219075"/>
              <a:gd name="connsiteX1" fmla="*/ 314325 w 314325"/>
              <a:gd name="connsiteY1" fmla="*/ 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4325" h="219075">
                <a:moveTo>
                  <a:pt x="0" y="219075"/>
                </a:moveTo>
                <a:lnTo>
                  <a:pt x="314325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4708525" y="1393825"/>
            <a:ext cx="520700" cy="234950"/>
          </a:xfrm>
          <a:custGeom>
            <a:avLst/>
            <a:gdLst>
              <a:gd name="connsiteX0" fmla="*/ 0 w 520700"/>
              <a:gd name="connsiteY0" fmla="*/ 234950 h 234950"/>
              <a:gd name="connsiteX1" fmla="*/ 263525 w 520700"/>
              <a:gd name="connsiteY1" fmla="*/ 0 h 234950"/>
              <a:gd name="connsiteX2" fmla="*/ 520700 w 520700"/>
              <a:gd name="connsiteY2" fmla="*/ 2095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0700" h="234950">
                <a:moveTo>
                  <a:pt x="0" y="234950"/>
                </a:moveTo>
                <a:lnTo>
                  <a:pt x="263525" y="0"/>
                </a:lnTo>
                <a:lnTo>
                  <a:pt x="520700" y="20955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7202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63" name="Rectangle 23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23.20  Events in hay fever, an allergic response.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29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5</a:t>
            </a:r>
            <a:endParaRPr lang="en-US" sz="1200" b="1" dirty="0">
              <a:cs typeface="Arial" charset="0"/>
            </a:endParaRPr>
          </a:p>
        </p:txBody>
      </p:sp>
      <p:pic>
        <p:nvPicPr>
          <p:cNvPr id="12" name="Picture 11" descr="figure_23_20_unlabeled_Slide05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06"/>
          <a:stretch/>
        </p:blipFill>
        <p:spPr>
          <a:xfrm>
            <a:off x="266700" y="825500"/>
            <a:ext cx="8601456" cy="490263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70022" y="971877"/>
            <a:ext cx="1146468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30" b="1" dirty="0"/>
              <a:t>Pollen</a:t>
            </a:r>
          </a:p>
          <a:p>
            <a:pPr algn="l"/>
            <a:r>
              <a:rPr lang="en-US" sz="1030" b="1" dirty="0"/>
              <a:t>(ﬁrst exposure)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385" y="2804911"/>
            <a:ext cx="537070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B cell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744" y="2818671"/>
            <a:ext cx="977769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Plasma cells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1295" y="2804911"/>
            <a:ext cx="1087347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IgE antibodies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1312" y="1530679"/>
            <a:ext cx="882251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30" b="1" dirty="0"/>
              <a:t>Excess IgE</a:t>
            </a:r>
          </a:p>
          <a:p>
            <a:pPr algn="l"/>
            <a:r>
              <a:rPr lang="en-US" sz="1030" b="1" dirty="0"/>
              <a:t>antibodies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3287" y="1176135"/>
            <a:ext cx="580992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Pollen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0003" y="2906510"/>
            <a:ext cx="742617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Mast cell</a:t>
            </a:r>
          </a:p>
        </p:txBody>
      </p:sp>
      <p:sp>
        <p:nvSpPr>
          <p:cNvPr id="28" name="Freeform 27"/>
          <p:cNvSpPr/>
          <p:nvPr/>
        </p:nvSpPr>
        <p:spPr>
          <a:xfrm>
            <a:off x="819150" y="1114425"/>
            <a:ext cx="314325" cy="219075"/>
          </a:xfrm>
          <a:custGeom>
            <a:avLst/>
            <a:gdLst>
              <a:gd name="connsiteX0" fmla="*/ 0 w 314325"/>
              <a:gd name="connsiteY0" fmla="*/ 219075 h 219075"/>
              <a:gd name="connsiteX1" fmla="*/ 314325 w 314325"/>
              <a:gd name="connsiteY1" fmla="*/ 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4325" h="219075">
                <a:moveTo>
                  <a:pt x="0" y="219075"/>
                </a:moveTo>
                <a:lnTo>
                  <a:pt x="314325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4708525" y="1393825"/>
            <a:ext cx="520700" cy="234950"/>
          </a:xfrm>
          <a:custGeom>
            <a:avLst/>
            <a:gdLst>
              <a:gd name="connsiteX0" fmla="*/ 0 w 520700"/>
              <a:gd name="connsiteY0" fmla="*/ 234950 h 234950"/>
              <a:gd name="connsiteX1" fmla="*/ 263525 w 520700"/>
              <a:gd name="connsiteY1" fmla="*/ 0 h 234950"/>
              <a:gd name="connsiteX2" fmla="*/ 520700 w 520700"/>
              <a:gd name="connsiteY2" fmla="*/ 2095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0700" h="234950">
                <a:moveTo>
                  <a:pt x="0" y="234950"/>
                </a:moveTo>
                <a:lnTo>
                  <a:pt x="263525" y="0"/>
                </a:lnTo>
                <a:lnTo>
                  <a:pt x="520700" y="20955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2916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63" name="Rectangle 23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23.20  Events in hay fever, an allergic response.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29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6</a:t>
            </a:r>
            <a:endParaRPr lang="en-US" sz="1200" b="1" dirty="0">
              <a:cs typeface="Arial" charset="0"/>
            </a:endParaRPr>
          </a:p>
        </p:txBody>
      </p:sp>
      <p:pic>
        <p:nvPicPr>
          <p:cNvPr id="14" name="Picture 13" descr="figure_23_20_unlabeled_Slide06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50"/>
          <a:stretch/>
        </p:blipFill>
        <p:spPr>
          <a:xfrm>
            <a:off x="266700" y="825500"/>
            <a:ext cx="8601456" cy="49989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70022" y="971877"/>
            <a:ext cx="1146468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30" b="1" dirty="0"/>
              <a:t>Pollen</a:t>
            </a:r>
          </a:p>
          <a:p>
            <a:pPr algn="l"/>
            <a:r>
              <a:rPr lang="en-US" sz="1030" b="1" dirty="0"/>
              <a:t>(ﬁrst exposure)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385" y="2804911"/>
            <a:ext cx="537070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B cell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744" y="2818671"/>
            <a:ext cx="977769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Plasma cells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1295" y="2804911"/>
            <a:ext cx="1087347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IgE antibodies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1312" y="1530679"/>
            <a:ext cx="882251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30" b="1" dirty="0"/>
              <a:t>Excess IgE</a:t>
            </a:r>
          </a:p>
          <a:p>
            <a:pPr algn="l"/>
            <a:r>
              <a:rPr lang="en-US" sz="1030" b="1" dirty="0"/>
              <a:t>antibodies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3287" y="1176135"/>
            <a:ext cx="580992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Pollen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88619" y="2972126"/>
            <a:ext cx="969900" cy="567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Pollen</a:t>
            </a:r>
          </a:p>
          <a:p>
            <a:r>
              <a:rPr lang="en-US" dirty="0"/>
              <a:t>(subsequent</a:t>
            </a:r>
          </a:p>
          <a:p>
            <a:r>
              <a:rPr lang="en-US" dirty="0"/>
              <a:t>exposure)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0003" y="2906510"/>
            <a:ext cx="742617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Mast cell</a:t>
            </a:r>
          </a:p>
        </p:txBody>
      </p:sp>
      <p:sp>
        <p:nvSpPr>
          <p:cNvPr id="33" name="Freeform 32"/>
          <p:cNvSpPr/>
          <p:nvPr/>
        </p:nvSpPr>
        <p:spPr>
          <a:xfrm>
            <a:off x="6623050" y="3419475"/>
            <a:ext cx="269875" cy="260350"/>
          </a:xfrm>
          <a:custGeom>
            <a:avLst/>
            <a:gdLst>
              <a:gd name="connsiteX0" fmla="*/ 0 w 269875"/>
              <a:gd name="connsiteY0" fmla="*/ 0 h 260350"/>
              <a:gd name="connsiteX1" fmla="*/ 269875 w 269875"/>
              <a:gd name="connsiteY1" fmla="*/ 260350 h 26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9875" h="260350">
                <a:moveTo>
                  <a:pt x="0" y="0"/>
                </a:moveTo>
                <a:lnTo>
                  <a:pt x="269875" y="26035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819150" y="1114425"/>
            <a:ext cx="314325" cy="219075"/>
          </a:xfrm>
          <a:custGeom>
            <a:avLst/>
            <a:gdLst>
              <a:gd name="connsiteX0" fmla="*/ 0 w 314325"/>
              <a:gd name="connsiteY0" fmla="*/ 219075 h 219075"/>
              <a:gd name="connsiteX1" fmla="*/ 314325 w 314325"/>
              <a:gd name="connsiteY1" fmla="*/ 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4325" h="219075">
                <a:moveTo>
                  <a:pt x="0" y="219075"/>
                </a:moveTo>
                <a:lnTo>
                  <a:pt x="314325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4708525" y="1393825"/>
            <a:ext cx="520700" cy="234950"/>
          </a:xfrm>
          <a:custGeom>
            <a:avLst/>
            <a:gdLst>
              <a:gd name="connsiteX0" fmla="*/ 0 w 520700"/>
              <a:gd name="connsiteY0" fmla="*/ 234950 h 234950"/>
              <a:gd name="connsiteX1" fmla="*/ 263525 w 520700"/>
              <a:gd name="connsiteY1" fmla="*/ 0 h 234950"/>
              <a:gd name="connsiteX2" fmla="*/ 520700 w 520700"/>
              <a:gd name="connsiteY2" fmla="*/ 2095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0700" h="234950">
                <a:moveTo>
                  <a:pt x="0" y="234950"/>
                </a:moveTo>
                <a:lnTo>
                  <a:pt x="263525" y="0"/>
                </a:lnTo>
                <a:lnTo>
                  <a:pt x="520700" y="20955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3164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63" name="Rectangle 23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23.20  Events in hay fever, an allergic response.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29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7</a:t>
            </a:r>
            <a:endParaRPr lang="en-US" sz="1200" b="1" dirty="0">
              <a:cs typeface="Arial" charset="0"/>
            </a:endParaRPr>
          </a:p>
        </p:txBody>
      </p:sp>
      <p:pic>
        <p:nvPicPr>
          <p:cNvPr id="21" name="Picture 20" descr="figure_23_20_unlabeled_Slide07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50"/>
          <a:stretch/>
        </p:blipFill>
        <p:spPr>
          <a:xfrm>
            <a:off x="266700" y="825500"/>
            <a:ext cx="8601456" cy="499898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70022" y="971877"/>
            <a:ext cx="1146468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30" b="1" dirty="0"/>
              <a:t>Pollen</a:t>
            </a:r>
          </a:p>
          <a:p>
            <a:pPr algn="l"/>
            <a:r>
              <a:rPr lang="en-US" sz="1030" b="1" dirty="0"/>
              <a:t>(ﬁrst exposure)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385" y="2804911"/>
            <a:ext cx="537070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B cell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744" y="2818671"/>
            <a:ext cx="977769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Plasma cells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1295" y="2804911"/>
            <a:ext cx="1087347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IgE antibodies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1312" y="1530679"/>
            <a:ext cx="882251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30" b="1" dirty="0"/>
              <a:t>Excess IgE</a:t>
            </a:r>
          </a:p>
          <a:p>
            <a:pPr algn="l"/>
            <a:r>
              <a:rPr lang="en-US" sz="1030" b="1" dirty="0"/>
              <a:t>antibodies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3287" y="1176135"/>
            <a:ext cx="580992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Pollen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88619" y="2972126"/>
            <a:ext cx="969900" cy="567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Pollen</a:t>
            </a:r>
          </a:p>
          <a:p>
            <a:r>
              <a:rPr lang="en-US" dirty="0"/>
              <a:t>(subsequent</a:t>
            </a:r>
          </a:p>
          <a:p>
            <a:r>
              <a:rPr lang="en-US" dirty="0"/>
              <a:t>exposure)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0003" y="2906510"/>
            <a:ext cx="742617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Mast cell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7755" y="3661099"/>
            <a:ext cx="1476514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Histamine and other</a:t>
            </a:r>
          </a:p>
          <a:p>
            <a:r>
              <a:rPr lang="en-US" dirty="0"/>
              <a:t>inﬂammatory agents</a:t>
            </a:r>
          </a:p>
        </p:txBody>
      </p:sp>
      <p:sp>
        <p:nvSpPr>
          <p:cNvPr id="37" name="Freeform 36"/>
          <p:cNvSpPr/>
          <p:nvPr/>
        </p:nvSpPr>
        <p:spPr>
          <a:xfrm>
            <a:off x="5861050" y="3962400"/>
            <a:ext cx="285750" cy="225425"/>
          </a:xfrm>
          <a:custGeom>
            <a:avLst/>
            <a:gdLst>
              <a:gd name="connsiteX0" fmla="*/ 0 w 285750"/>
              <a:gd name="connsiteY0" fmla="*/ 0 h 225425"/>
              <a:gd name="connsiteX1" fmla="*/ 285750 w 285750"/>
              <a:gd name="connsiteY1" fmla="*/ 225425 h 225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750" h="225425">
                <a:moveTo>
                  <a:pt x="0" y="0"/>
                </a:moveTo>
                <a:lnTo>
                  <a:pt x="285750" y="225425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6623050" y="3419475"/>
            <a:ext cx="269875" cy="260350"/>
          </a:xfrm>
          <a:custGeom>
            <a:avLst/>
            <a:gdLst>
              <a:gd name="connsiteX0" fmla="*/ 0 w 269875"/>
              <a:gd name="connsiteY0" fmla="*/ 0 h 260350"/>
              <a:gd name="connsiteX1" fmla="*/ 269875 w 269875"/>
              <a:gd name="connsiteY1" fmla="*/ 260350 h 26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9875" h="260350">
                <a:moveTo>
                  <a:pt x="0" y="0"/>
                </a:moveTo>
                <a:lnTo>
                  <a:pt x="269875" y="26035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819150" y="1114425"/>
            <a:ext cx="314325" cy="219075"/>
          </a:xfrm>
          <a:custGeom>
            <a:avLst/>
            <a:gdLst>
              <a:gd name="connsiteX0" fmla="*/ 0 w 314325"/>
              <a:gd name="connsiteY0" fmla="*/ 219075 h 219075"/>
              <a:gd name="connsiteX1" fmla="*/ 314325 w 314325"/>
              <a:gd name="connsiteY1" fmla="*/ 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4325" h="219075">
                <a:moveTo>
                  <a:pt x="0" y="219075"/>
                </a:moveTo>
                <a:lnTo>
                  <a:pt x="314325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0" name="Freeform 39"/>
          <p:cNvSpPr/>
          <p:nvPr/>
        </p:nvSpPr>
        <p:spPr>
          <a:xfrm>
            <a:off x="4708525" y="1393825"/>
            <a:ext cx="520700" cy="234950"/>
          </a:xfrm>
          <a:custGeom>
            <a:avLst/>
            <a:gdLst>
              <a:gd name="connsiteX0" fmla="*/ 0 w 520700"/>
              <a:gd name="connsiteY0" fmla="*/ 234950 h 234950"/>
              <a:gd name="connsiteX1" fmla="*/ 263525 w 520700"/>
              <a:gd name="connsiteY1" fmla="*/ 0 h 234950"/>
              <a:gd name="connsiteX2" fmla="*/ 520700 w 520700"/>
              <a:gd name="connsiteY2" fmla="*/ 2095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0700" h="234950">
                <a:moveTo>
                  <a:pt x="0" y="234950"/>
                </a:moveTo>
                <a:lnTo>
                  <a:pt x="263525" y="0"/>
                </a:lnTo>
                <a:lnTo>
                  <a:pt x="520700" y="20955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2426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63" name="Rectangle 23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23.20  Events in hay fever, an allergic response.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29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8</a:t>
            </a:r>
            <a:endParaRPr lang="en-US" sz="1200" b="1" dirty="0">
              <a:cs typeface="Arial" charset="0"/>
            </a:endParaRPr>
          </a:p>
        </p:txBody>
      </p:sp>
      <p:pic>
        <p:nvPicPr>
          <p:cNvPr id="18" name="Picture 17" descr="figure_23_20_unlabeled_Slide08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50"/>
          <a:stretch/>
        </p:blipFill>
        <p:spPr>
          <a:xfrm>
            <a:off x="266700" y="825500"/>
            <a:ext cx="8601456" cy="499898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70022" y="971877"/>
            <a:ext cx="1146468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30" b="1" dirty="0"/>
              <a:t>Pollen</a:t>
            </a:r>
          </a:p>
          <a:p>
            <a:pPr algn="l"/>
            <a:r>
              <a:rPr lang="en-US" sz="1030" b="1" dirty="0"/>
              <a:t>(ﬁrst exposure)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385" y="2804911"/>
            <a:ext cx="537070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B cell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744" y="2818671"/>
            <a:ext cx="977769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Plasma cells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1295" y="2804911"/>
            <a:ext cx="1087347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IgE antibodies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1312" y="1530679"/>
            <a:ext cx="882251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30" b="1" dirty="0"/>
              <a:t>Excess IgE</a:t>
            </a:r>
          </a:p>
          <a:p>
            <a:pPr algn="l"/>
            <a:r>
              <a:rPr lang="en-US" sz="1030" b="1" dirty="0"/>
              <a:t>antibodies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3287" y="1176135"/>
            <a:ext cx="580992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Pollen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88619" y="2972126"/>
            <a:ext cx="969900" cy="567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Pollen</a:t>
            </a:r>
          </a:p>
          <a:p>
            <a:r>
              <a:rPr lang="en-US" dirty="0"/>
              <a:t>(subsequent</a:t>
            </a:r>
          </a:p>
          <a:p>
            <a:r>
              <a:rPr lang="en-US" dirty="0"/>
              <a:t>exposure)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0003" y="2906510"/>
            <a:ext cx="742617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Mast cell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57755" y="3661099"/>
            <a:ext cx="1476514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Histamine and other</a:t>
            </a:r>
          </a:p>
          <a:p>
            <a:r>
              <a:rPr lang="en-US" dirty="0"/>
              <a:t>inﬂammatory agents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49752" y="4355366"/>
            <a:ext cx="962677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Vasodilation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98955" y="4626300"/>
            <a:ext cx="962806" cy="567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Increased</a:t>
            </a:r>
          </a:p>
          <a:p>
            <a:r>
              <a:rPr lang="en-US" dirty="0"/>
              <a:t>capillary</a:t>
            </a:r>
          </a:p>
          <a:p>
            <a:r>
              <a:rPr lang="en-US" dirty="0"/>
              <a:t>permeability</a:t>
            </a:r>
          </a:p>
        </p:txBody>
      </p:sp>
      <p:sp>
        <p:nvSpPr>
          <p:cNvPr id="45" name="Freeform 44"/>
          <p:cNvSpPr/>
          <p:nvPr/>
        </p:nvSpPr>
        <p:spPr>
          <a:xfrm>
            <a:off x="5861050" y="3962400"/>
            <a:ext cx="285750" cy="225425"/>
          </a:xfrm>
          <a:custGeom>
            <a:avLst/>
            <a:gdLst>
              <a:gd name="connsiteX0" fmla="*/ 0 w 285750"/>
              <a:gd name="connsiteY0" fmla="*/ 0 h 225425"/>
              <a:gd name="connsiteX1" fmla="*/ 285750 w 285750"/>
              <a:gd name="connsiteY1" fmla="*/ 225425 h 225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750" h="225425">
                <a:moveTo>
                  <a:pt x="0" y="0"/>
                </a:moveTo>
                <a:lnTo>
                  <a:pt x="285750" y="225425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6623050" y="3419475"/>
            <a:ext cx="269875" cy="260350"/>
          </a:xfrm>
          <a:custGeom>
            <a:avLst/>
            <a:gdLst>
              <a:gd name="connsiteX0" fmla="*/ 0 w 269875"/>
              <a:gd name="connsiteY0" fmla="*/ 0 h 260350"/>
              <a:gd name="connsiteX1" fmla="*/ 269875 w 269875"/>
              <a:gd name="connsiteY1" fmla="*/ 260350 h 26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9875" h="260350">
                <a:moveTo>
                  <a:pt x="0" y="0"/>
                </a:moveTo>
                <a:lnTo>
                  <a:pt x="269875" y="26035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7" name="Freeform 46"/>
          <p:cNvSpPr/>
          <p:nvPr/>
        </p:nvSpPr>
        <p:spPr>
          <a:xfrm>
            <a:off x="819150" y="1114425"/>
            <a:ext cx="314325" cy="219075"/>
          </a:xfrm>
          <a:custGeom>
            <a:avLst/>
            <a:gdLst>
              <a:gd name="connsiteX0" fmla="*/ 0 w 314325"/>
              <a:gd name="connsiteY0" fmla="*/ 219075 h 219075"/>
              <a:gd name="connsiteX1" fmla="*/ 314325 w 314325"/>
              <a:gd name="connsiteY1" fmla="*/ 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4325" h="219075">
                <a:moveTo>
                  <a:pt x="0" y="219075"/>
                </a:moveTo>
                <a:lnTo>
                  <a:pt x="314325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8" name="Freeform 47"/>
          <p:cNvSpPr/>
          <p:nvPr/>
        </p:nvSpPr>
        <p:spPr>
          <a:xfrm>
            <a:off x="4708525" y="1393825"/>
            <a:ext cx="520700" cy="234950"/>
          </a:xfrm>
          <a:custGeom>
            <a:avLst/>
            <a:gdLst>
              <a:gd name="connsiteX0" fmla="*/ 0 w 520700"/>
              <a:gd name="connsiteY0" fmla="*/ 234950 h 234950"/>
              <a:gd name="connsiteX1" fmla="*/ 263525 w 520700"/>
              <a:gd name="connsiteY1" fmla="*/ 0 h 234950"/>
              <a:gd name="connsiteX2" fmla="*/ 520700 w 520700"/>
              <a:gd name="connsiteY2" fmla="*/ 2095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0700" h="234950">
                <a:moveTo>
                  <a:pt x="0" y="234950"/>
                </a:moveTo>
                <a:lnTo>
                  <a:pt x="263525" y="0"/>
                </a:lnTo>
                <a:lnTo>
                  <a:pt x="520700" y="20955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3932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63" name="Rectangle 23"/>
          <p:cNvSpPr>
            <a:spLocks noGrp="1" noChangeArrowheads="1"/>
          </p:cNvSpPr>
          <p:nvPr>
            <p:ph type="title"/>
          </p:nvPr>
        </p:nvSpPr>
        <p:spPr>
          <a:xfrm>
            <a:off x="282575" y="90488"/>
            <a:ext cx="8861425" cy="276999"/>
          </a:xfrm>
        </p:spPr>
        <p:txBody>
          <a:bodyPr/>
          <a:lstStyle/>
          <a:p>
            <a:r>
              <a:rPr lang="en-US" sz="1200" b="1" dirty="0" smtClean="0">
                <a:solidFill>
                  <a:srgbClr val="000000"/>
                </a:solidFill>
              </a:rPr>
              <a:t>Figure 23.20  Events in hay fever, an allergic response.</a:t>
            </a:r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29" name="Rectangle 66"/>
          <p:cNvSpPr>
            <a:spLocks noChangeArrowheads="1"/>
          </p:cNvSpPr>
          <p:nvPr/>
        </p:nvSpPr>
        <p:spPr bwMode="auto">
          <a:xfrm>
            <a:off x="8274050" y="91440"/>
            <a:ext cx="6746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200" b="1" dirty="0">
                <a:cs typeface="Arial" charset="0"/>
              </a:rPr>
              <a:t>Slide </a:t>
            </a:r>
            <a:r>
              <a:rPr lang="en-US" sz="1200" b="1" dirty="0" smtClean="0">
                <a:cs typeface="Arial" charset="0"/>
              </a:rPr>
              <a:t>9</a:t>
            </a:r>
            <a:endParaRPr lang="en-US" sz="1200" b="1" dirty="0">
              <a:cs typeface="Arial" charset="0"/>
            </a:endParaRPr>
          </a:p>
        </p:txBody>
      </p:sp>
      <p:pic>
        <p:nvPicPr>
          <p:cNvPr id="21" name="Picture 20" descr="figure_23_20_unlabeled_Slide09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50"/>
          <a:stretch/>
        </p:blipFill>
        <p:spPr>
          <a:xfrm>
            <a:off x="266700" y="825500"/>
            <a:ext cx="8601456" cy="499898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70022" y="971877"/>
            <a:ext cx="1146468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30" b="1" dirty="0"/>
              <a:t>Pollen</a:t>
            </a:r>
          </a:p>
          <a:p>
            <a:pPr algn="l"/>
            <a:r>
              <a:rPr lang="en-US" sz="1030" b="1" dirty="0"/>
              <a:t>(ﬁrst exposure)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385" y="2804911"/>
            <a:ext cx="537070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B cell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744" y="2818671"/>
            <a:ext cx="977769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Plasma cells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1295" y="2804911"/>
            <a:ext cx="1087347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IgE antibodies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1312" y="1530679"/>
            <a:ext cx="882251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30" b="1" dirty="0"/>
              <a:t>Excess IgE</a:t>
            </a:r>
          </a:p>
          <a:p>
            <a:pPr algn="l"/>
            <a:r>
              <a:rPr lang="en-US" sz="1030" b="1" dirty="0"/>
              <a:t>antibodies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3287" y="1176135"/>
            <a:ext cx="580992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Pollen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88619" y="2972126"/>
            <a:ext cx="969900" cy="567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Pollen</a:t>
            </a:r>
          </a:p>
          <a:p>
            <a:r>
              <a:rPr lang="en-US" dirty="0"/>
              <a:t>(subsequent</a:t>
            </a:r>
          </a:p>
          <a:p>
            <a:r>
              <a:rPr lang="en-US" dirty="0"/>
              <a:t>exposure)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0003" y="2906510"/>
            <a:ext cx="742617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Mast cell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7755" y="3661099"/>
            <a:ext cx="1476514" cy="409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Histamine and other</a:t>
            </a:r>
          </a:p>
          <a:p>
            <a:r>
              <a:rPr lang="en-US" dirty="0"/>
              <a:t>inﬂammatory agents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49752" y="4355366"/>
            <a:ext cx="962677" cy="250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Vasodilation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98955" y="4626300"/>
            <a:ext cx="962806" cy="567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r>
              <a:rPr lang="en-US" dirty="0"/>
              <a:t>Increased</a:t>
            </a:r>
          </a:p>
          <a:p>
            <a:r>
              <a:rPr lang="en-US" dirty="0"/>
              <a:t>capillary</a:t>
            </a:r>
          </a:p>
          <a:p>
            <a:r>
              <a:rPr lang="en-US" dirty="0"/>
              <a:t>permeability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2549" y="4425217"/>
            <a:ext cx="1454199" cy="695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>
              <a:defRPr sz="1030" b="1"/>
            </a:lvl1pPr>
          </a:lstStyle>
          <a:p>
            <a:pPr>
              <a:lnSpc>
                <a:spcPct val="95000"/>
              </a:lnSpc>
            </a:pPr>
            <a:r>
              <a:rPr lang="en-US" dirty="0"/>
              <a:t>Symptoms of</a:t>
            </a:r>
          </a:p>
          <a:p>
            <a:pPr>
              <a:lnSpc>
                <a:spcPct val="95000"/>
              </a:lnSpc>
            </a:pPr>
            <a:r>
              <a:rPr lang="en-US" dirty="0"/>
              <a:t>hay fever:</a:t>
            </a:r>
          </a:p>
          <a:p>
            <a:pPr>
              <a:lnSpc>
                <a:spcPct val="95000"/>
              </a:lnSpc>
            </a:pPr>
            <a:r>
              <a:rPr lang="en-US" dirty="0"/>
              <a:t>coughing, sneezing,</a:t>
            </a:r>
          </a:p>
          <a:p>
            <a:pPr>
              <a:lnSpc>
                <a:spcPct val="95000"/>
              </a:lnSpc>
            </a:pPr>
            <a:r>
              <a:rPr lang="en-US" dirty="0"/>
              <a:t>snifﬂes</a:t>
            </a:r>
          </a:p>
        </p:txBody>
      </p:sp>
      <p:sp>
        <p:nvSpPr>
          <p:cNvPr id="40" name="Freeform 39"/>
          <p:cNvSpPr/>
          <p:nvPr/>
        </p:nvSpPr>
        <p:spPr>
          <a:xfrm>
            <a:off x="5861050" y="3962400"/>
            <a:ext cx="285750" cy="225425"/>
          </a:xfrm>
          <a:custGeom>
            <a:avLst/>
            <a:gdLst>
              <a:gd name="connsiteX0" fmla="*/ 0 w 285750"/>
              <a:gd name="connsiteY0" fmla="*/ 0 h 225425"/>
              <a:gd name="connsiteX1" fmla="*/ 285750 w 285750"/>
              <a:gd name="connsiteY1" fmla="*/ 225425 h 225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750" h="225425">
                <a:moveTo>
                  <a:pt x="0" y="0"/>
                </a:moveTo>
                <a:lnTo>
                  <a:pt x="285750" y="225425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49" name="Freeform 48"/>
          <p:cNvSpPr/>
          <p:nvPr/>
        </p:nvSpPr>
        <p:spPr>
          <a:xfrm>
            <a:off x="6623050" y="3419475"/>
            <a:ext cx="269875" cy="260350"/>
          </a:xfrm>
          <a:custGeom>
            <a:avLst/>
            <a:gdLst>
              <a:gd name="connsiteX0" fmla="*/ 0 w 269875"/>
              <a:gd name="connsiteY0" fmla="*/ 0 h 260350"/>
              <a:gd name="connsiteX1" fmla="*/ 269875 w 269875"/>
              <a:gd name="connsiteY1" fmla="*/ 260350 h 26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9875" h="260350">
                <a:moveTo>
                  <a:pt x="0" y="0"/>
                </a:moveTo>
                <a:lnTo>
                  <a:pt x="269875" y="26035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0" name="Freeform 49"/>
          <p:cNvSpPr/>
          <p:nvPr/>
        </p:nvSpPr>
        <p:spPr>
          <a:xfrm>
            <a:off x="819150" y="1114425"/>
            <a:ext cx="314325" cy="219075"/>
          </a:xfrm>
          <a:custGeom>
            <a:avLst/>
            <a:gdLst>
              <a:gd name="connsiteX0" fmla="*/ 0 w 314325"/>
              <a:gd name="connsiteY0" fmla="*/ 219075 h 219075"/>
              <a:gd name="connsiteX1" fmla="*/ 314325 w 314325"/>
              <a:gd name="connsiteY1" fmla="*/ 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4325" h="219075">
                <a:moveTo>
                  <a:pt x="0" y="219075"/>
                </a:moveTo>
                <a:lnTo>
                  <a:pt x="314325" y="0"/>
                </a:lnTo>
              </a:path>
            </a:pathLst>
          </a:custGeom>
          <a:ln w="127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51" name="Freeform 50"/>
          <p:cNvSpPr/>
          <p:nvPr/>
        </p:nvSpPr>
        <p:spPr>
          <a:xfrm>
            <a:off x="4708525" y="1393825"/>
            <a:ext cx="520700" cy="234950"/>
          </a:xfrm>
          <a:custGeom>
            <a:avLst/>
            <a:gdLst>
              <a:gd name="connsiteX0" fmla="*/ 0 w 520700"/>
              <a:gd name="connsiteY0" fmla="*/ 234950 h 234950"/>
              <a:gd name="connsiteX1" fmla="*/ 263525 w 520700"/>
              <a:gd name="connsiteY1" fmla="*/ 0 h 234950"/>
              <a:gd name="connsiteX2" fmla="*/ 520700 w 520700"/>
              <a:gd name="connsiteY2" fmla="*/ 20955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0700" h="234950">
                <a:moveTo>
                  <a:pt x="0" y="234950"/>
                </a:moveTo>
                <a:lnTo>
                  <a:pt x="263525" y="0"/>
                </a:lnTo>
                <a:lnTo>
                  <a:pt x="520700" y="209550"/>
                </a:lnTo>
              </a:path>
            </a:pathLst>
          </a:custGeom>
          <a:ln w="12700" cmpd="sng">
            <a:solidFill>
              <a:srgbClr val="00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30" b="1" i="0" u="none" strike="noStrike" cap="none" normalizeH="0" baseline="0" dirty="0">
              <a:ln>
                <a:noFill/>
              </a:ln>
              <a:effectLst/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1512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Immune Dysfunctions</a:t>
            </a:r>
            <a:endParaRPr lang="en-US" dirty="0"/>
          </a:p>
        </p:txBody>
      </p:sp>
      <p:sp>
        <p:nvSpPr>
          <p:cNvPr id="101378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Anaphylactic shock</a:t>
            </a:r>
          </a:p>
          <a:p>
            <a:pPr lvl="1"/>
            <a:r>
              <a:rPr lang="en-US" dirty="0" smtClean="0"/>
              <a:t>Severe allergic reaction</a:t>
            </a:r>
          </a:p>
          <a:p>
            <a:pPr lvl="2"/>
            <a:r>
              <a:rPr lang="en-US" dirty="0" smtClean="0"/>
              <a:t>Massive release of histamine from mast cells throughout the body</a:t>
            </a:r>
          </a:p>
          <a:p>
            <a:pPr lvl="2"/>
            <a:r>
              <a:rPr lang="en-US" dirty="0" smtClean="0"/>
              <a:t>Vasodilation </a:t>
            </a:r>
            <a:r>
              <a:rPr lang="en-US" dirty="0"/>
              <a:t>→</a:t>
            </a:r>
            <a:r>
              <a:rPr lang="en-US" dirty="0" smtClean="0">
                <a:sym typeface="Wingdings" charset="0"/>
              </a:rPr>
              <a:t> decreased TPR </a:t>
            </a:r>
            <a:r>
              <a:rPr lang="en-US" dirty="0"/>
              <a:t>→</a:t>
            </a:r>
            <a:r>
              <a:rPr lang="en-US" dirty="0" smtClean="0">
                <a:sym typeface="Wingdings" charset="0"/>
              </a:rPr>
              <a:t> decreased MAP</a:t>
            </a:r>
          </a:p>
          <a:p>
            <a:pPr lvl="1"/>
            <a:r>
              <a:rPr lang="en-US" dirty="0" smtClean="0"/>
              <a:t>Prophylactic: epinephrine</a:t>
            </a:r>
          </a:p>
          <a:p>
            <a:pPr lvl="2"/>
            <a:r>
              <a:rPr lang="en-US" dirty="0" smtClean="0"/>
              <a:t>Increases CO and TPR </a:t>
            </a:r>
            <a:r>
              <a:rPr lang="en-US" dirty="0"/>
              <a:t>→</a:t>
            </a:r>
            <a:r>
              <a:rPr lang="en-US" dirty="0" smtClean="0">
                <a:sym typeface="Wingdings" charset="0"/>
              </a:rPr>
              <a:t> increased MAP</a:t>
            </a:r>
            <a:endParaRPr lang="en-US" dirty="0">
              <a:sym typeface="Wingdings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Immune Dysfunctions</a:t>
            </a:r>
            <a:endParaRPr lang="en-US" dirty="0"/>
          </a:p>
        </p:txBody>
      </p:sp>
      <p:sp>
        <p:nvSpPr>
          <p:cNvPr id="103426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Autoimmune diseases</a:t>
            </a:r>
          </a:p>
          <a:p>
            <a:pPr lvl="1"/>
            <a:r>
              <a:rPr lang="en-US" dirty="0" smtClean="0"/>
              <a:t>Immune system treats a part of self like a pathogen</a:t>
            </a:r>
          </a:p>
          <a:p>
            <a:pPr lvl="1"/>
            <a:r>
              <a:rPr lang="en-US" dirty="0" smtClean="0"/>
              <a:t>Immune response is induced against that part</a:t>
            </a:r>
          </a:p>
          <a:p>
            <a:pPr lvl="1"/>
            <a:r>
              <a:rPr lang="en-US" dirty="0" smtClean="0"/>
              <a:t>Examples</a:t>
            </a:r>
          </a:p>
          <a:p>
            <a:pPr lvl="2"/>
            <a:r>
              <a:rPr lang="en-US" dirty="0" smtClean="0"/>
              <a:t>Insulin-dependent diabetes mellitus</a:t>
            </a:r>
          </a:p>
          <a:p>
            <a:pPr lvl="2"/>
            <a:r>
              <a:rPr lang="en-US" dirty="0" smtClean="0"/>
              <a:t>Lupus </a:t>
            </a:r>
          </a:p>
          <a:p>
            <a:pPr lvl="2"/>
            <a:r>
              <a:rPr lang="en-US" dirty="0" smtClean="0"/>
              <a:t>Rheumatoid arthritis</a:t>
            </a:r>
          </a:p>
          <a:p>
            <a:pPr lvl="2"/>
            <a:r>
              <a:rPr lang="en-US" dirty="0" smtClean="0"/>
              <a:t>Multiple sclerosis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Immune Dysfunctions</a:t>
            </a:r>
            <a:endParaRPr lang="en-US" dirty="0"/>
          </a:p>
        </p:txBody>
      </p:sp>
      <p:sp>
        <p:nvSpPr>
          <p:cNvPr id="105474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Immunodeficiency diseases</a:t>
            </a:r>
          </a:p>
          <a:p>
            <a:pPr lvl="1"/>
            <a:r>
              <a:rPr lang="en-US" dirty="0" smtClean="0"/>
              <a:t>Weak or underactive immune system</a:t>
            </a:r>
          </a:p>
          <a:p>
            <a:pPr lvl="1"/>
            <a:r>
              <a:rPr lang="en-US" dirty="0" smtClean="0"/>
              <a:t>A problem in any factors of immune response can impair immune function</a:t>
            </a:r>
          </a:p>
          <a:p>
            <a:pPr lvl="1"/>
            <a:r>
              <a:rPr lang="en-US" dirty="0" smtClean="0"/>
              <a:t>Examples</a:t>
            </a:r>
          </a:p>
          <a:p>
            <a:pPr lvl="2"/>
            <a:r>
              <a:rPr lang="en-US" dirty="0" smtClean="0"/>
              <a:t>Severe combined immunodeficiency disease (SCID)</a:t>
            </a:r>
          </a:p>
          <a:p>
            <a:pPr lvl="3"/>
            <a:r>
              <a:rPr lang="en-US" dirty="0" smtClean="0"/>
              <a:t>Affects humoral and cell-mediated immunity</a:t>
            </a:r>
          </a:p>
          <a:p>
            <a:pPr lvl="2"/>
            <a:r>
              <a:rPr lang="en-US" dirty="0" smtClean="0"/>
              <a:t>Hodgkin</a:t>
            </a:r>
            <a:r>
              <a:rPr lang="fr-FR" dirty="0" smtClean="0"/>
              <a:t>'</a:t>
            </a:r>
            <a:r>
              <a:rPr lang="en-US" dirty="0" smtClean="0"/>
              <a:t>s disease: cancer of lymphatic system</a:t>
            </a:r>
          </a:p>
          <a:p>
            <a:pPr lvl="2"/>
            <a:r>
              <a:rPr lang="en-US" dirty="0" smtClean="0"/>
              <a:t>AIDS: affects helper T cells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Immune Dysfunctions</a:t>
            </a:r>
            <a:endParaRPr lang="en-US" dirty="0"/>
          </a:p>
        </p:txBody>
      </p:sp>
      <p:sp>
        <p:nvSpPr>
          <p:cNvPr id="107522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role of stress in the immune response</a:t>
            </a:r>
          </a:p>
          <a:p>
            <a:pPr lvl="1"/>
            <a:r>
              <a:rPr lang="en-US" dirty="0" smtClean="0"/>
              <a:t>Stress suppresses the immune system</a:t>
            </a:r>
          </a:p>
          <a:p>
            <a:pPr lvl="1"/>
            <a:r>
              <a:rPr lang="en-US" dirty="0" smtClean="0"/>
              <a:t>Steroid hormones (cortisol)</a:t>
            </a:r>
          </a:p>
          <a:p>
            <a:pPr lvl="2"/>
            <a:r>
              <a:rPr lang="en-US" dirty="0" smtClean="0">
                <a:sym typeface="Wingdings" charset="0"/>
              </a:rPr>
              <a:t>Decrease number of leukocytes </a:t>
            </a:r>
          </a:p>
          <a:p>
            <a:pPr lvl="2"/>
            <a:r>
              <a:rPr lang="en-US" dirty="0" smtClean="0">
                <a:sym typeface="Wingdings" charset="0"/>
              </a:rPr>
              <a:t>Anti-inflammatory activity</a:t>
            </a:r>
          </a:p>
          <a:p>
            <a:pPr lvl="1"/>
            <a:r>
              <a:rPr lang="en-US" dirty="0" smtClean="0">
                <a:sym typeface="Wingdings" charset="0"/>
              </a:rPr>
              <a:t>Environmental chemicals</a:t>
            </a:r>
          </a:p>
          <a:p>
            <a:pPr lvl="1"/>
            <a:r>
              <a:rPr lang="en-US" dirty="0" smtClean="0">
                <a:sym typeface="Wingdings" charset="0"/>
              </a:rPr>
              <a:t>Autonomic neural input to lymphoid tissue</a:t>
            </a:r>
          </a:p>
          <a:p>
            <a:pPr lvl="1"/>
            <a:r>
              <a:rPr lang="en-US" dirty="0" smtClean="0">
                <a:sym typeface="Wingdings" charset="0"/>
              </a:rPr>
              <a:t>Multiple levels of interaction between stress and immune system</a:t>
            </a:r>
            <a:endParaRPr lang="en-US" dirty="0">
              <a:sym typeface="Wingdings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2398</Words>
  <Application>Microsoft Macintosh PowerPoint</Application>
  <PresentationFormat>On-screen Show (4:3)</PresentationFormat>
  <Paragraphs>606</Paragraphs>
  <Slides>51</Slides>
  <Notes>51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Blank Presentation</vt:lpstr>
      <vt:lpstr>The Immune System</vt:lpstr>
      <vt:lpstr>Chapter Outline </vt:lpstr>
      <vt:lpstr>23.4 Humoral Immunity</vt:lpstr>
      <vt:lpstr>Role of B Lymphocytes in Antibody Production</vt:lpstr>
      <vt:lpstr>Role of B Lymphocytes in Antibody Production</vt:lpstr>
      <vt:lpstr>Antibody Function in Humoral Immunity</vt:lpstr>
      <vt:lpstr>Figure 23.15  The five major classes of antibodies.</vt:lpstr>
      <vt:lpstr>Antibody Function in Humoral Immunity</vt:lpstr>
      <vt:lpstr>Figure 23.16  Antibody-mediated mechanisms of antigen disposal.</vt:lpstr>
      <vt:lpstr>23.5 Cell-Mediated Immunity</vt:lpstr>
      <vt:lpstr>Roles of T Lymphocytes in Cell-Mediated Immunity</vt:lpstr>
      <vt:lpstr>Roles of T Lymphocytes in Cell-Mediated Immunity</vt:lpstr>
      <vt:lpstr>Roles of T Lymphocytes in Cell-Mediated Immunity</vt:lpstr>
      <vt:lpstr>Roles of T Lymphocytes in Cell-Mediated Immunity</vt:lpstr>
      <vt:lpstr>Roles of T Lymphocytes in Cell-Mediated Immunity</vt:lpstr>
      <vt:lpstr>Figure 23.17  Presentation of antigens to T cells by major histocompatibility complex (MHC) molecules.</vt:lpstr>
      <vt:lpstr>Helper T Cell Activation</vt:lpstr>
      <vt:lpstr>PowerPoint Presentation</vt:lpstr>
      <vt:lpstr>Cytotoxic T Cell Activation: The Destruction of Virus-Infected Cells and Tumor Cells</vt:lpstr>
      <vt:lpstr>Cytotoxic T Cell Activation: The Destruction of Virus-Infected Cells and Tumor Cells</vt:lpstr>
      <vt:lpstr>Figure 23.18  The role of helper T cells in activation of B cells and cytotoxic T cells.</vt:lpstr>
      <vt:lpstr>Figure 23.18  The role of helper T cells in activation of B cells and cytotoxic T cells.</vt:lpstr>
      <vt:lpstr>Figure 23.18  The role of helper T cells in activation of B cells and cytotoxic T cells.</vt:lpstr>
      <vt:lpstr>Figure 23.18  The role of helper T cells in activation of B cells and cytotoxic T cells.</vt:lpstr>
      <vt:lpstr>Figure 23.18  The role of helper T cells in activation of B cells and cytotoxic T cells.</vt:lpstr>
      <vt:lpstr>Figure 23.18  The role of helper T cells in activation of B cells and cytotoxic T cells.</vt:lpstr>
      <vt:lpstr>Figure 23.18  The role of helper T cells in activation of B cells and cytotoxic T cells.</vt:lpstr>
      <vt:lpstr>Figure 23.18  The role of helper T cells in activation of B cells and cytotoxic T cells.</vt:lpstr>
      <vt:lpstr>Figure 23.18  The role of helper T cells in activation of B cells and cytotoxic T cells.</vt:lpstr>
      <vt:lpstr>23.6 Immune Responses in Health and Disease</vt:lpstr>
      <vt:lpstr>Figure 23.19  Acquisition of long-term immunity through vaccination (immunization).</vt:lpstr>
      <vt:lpstr>PowerPoint Presentation</vt:lpstr>
      <vt:lpstr>Generating Immunity: Immunization</vt:lpstr>
      <vt:lpstr>Role of Immune System in Transfusion and Transplantation</vt:lpstr>
      <vt:lpstr>Role of Immune System in Transfusion and Transplantation</vt:lpstr>
      <vt:lpstr>Role of Immune System in Transfusion and Transplantation</vt:lpstr>
      <vt:lpstr>Role of Immune System in Transfusion and Transplantation</vt:lpstr>
      <vt:lpstr>Immune Dysfunctions</vt:lpstr>
      <vt:lpstr>Figure 23.20  Events in hay fever, an allergic response.</vt:lpstr>
      <vt:lpstr>Figure 23.20  Events in hay fever, an allergic response.</vt:lpstr>
      <vt:lpstr>Figure 23.20  Events in hay fever, an allergic response.</vt:lpstr>
      <vt:lpstr>Figure 23.20  Events in hay fever, an allergic response.</vt:lpstr>
      <vt:lpstr>Figure 23.20  Events in hay fever, an allergic response.</vt:lpstr>
      <vt:lpstr>Figure 23.20  Events in hay fever, an allergic response.</vt:lpstr>
      <vt:lpstr>Figure 23.20  Events in hay fever, an allergic response.</vt:lpstr>
      <vt:lpstr>Figure 23.20  Events in hay fever, an allergic response.</vt:lpstr>
      <vt:lpstr>Figure 23.20  Events in hay fever, an allergic response.</vt:lpstr>
      <vt:lpstr>Immune Dysfunctions</vt:lpstr>
      <vt:lpstr>Immune Dysfunctions</vt:lpstr>
      <vt:lpstr>Immune Dysfunctions</vt:lpstr>
      <vt:lpstr>Immune Dysfunctions</vt:lpstr>
    </vt:vector>
  </TitlesOfParts>
  <Company>PMG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Title</dc:title>
  <dc:creator>PMG</dc:creator>
  <cp:lastModifiedBy>Srinivasan G</cp:lastModifiedBy>
  <cp:revision>52</cp:revision>
  <dcterms:created xsi:type="dcterms:W3CDTF">2012-07-13T15:05:13Z</dcterms:created>
  <dcterms:modified xsi:type="dcterms:W3CDTF">2016-03-01T04:12:28Z</dcterms:modified>
</cp:coreProperties>
</file>