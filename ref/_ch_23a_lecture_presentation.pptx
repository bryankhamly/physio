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328" r:id="rId9"/>
    <p:sldId id="329" r:id="rId10"/>
    <p:sldId id="33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8B3"/>
    <a:srgbClr val="BE004C"/>
    <a:srgbClr val="CCE4BB"/>
    <a:srgbClr val="69BB2D"/>
    <a:srgbClr val="A0CBD1"/>
    <a:srgbClr val="5B3163"/>
    <a:srgbClr val="45A1AC"/>
    <a:srgbClr val="533F7A"/>
    <a:srgbClr val="FF6600"/>
    <a:srgbClr val="015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3051" autoAdjust="0"/>
  </p:normalViewPr>
  <p:slideViewPr>
    <p:cSldViewPr snapToGrid="0">
      <p:cViewPr varScale="1">
        <p:scale>
          <a:sx n="137" d="100"/>
          <a:sy n="137" d="100"/>
        </p:scale>
        <p:origin x="-2312" y="-96"/>
      </p:cViewPr>
      <p:guideLst>
        <p:guide orient="horz" pos="2160"/>
        <p:guide pos="36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interSettings" Target="printerSettings/printerSettings1.bin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B7851-FA3F-1543-9FAB-DCD902E6CB3B}" type="datetimeFigureOut">
              <a:rPr lang="en-US" smtClean="0"/>
              <a:t>3/2/16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3212C-D7EE-654D-94D3-6D73D68942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3212C-D7EE-654D-94D3-6D73D68942D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082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 userDrawn="1"/>
        </p:nvSpPr>
        <p:spPr bwMode="auto">
          <a:xfrm>
            <a:off x="5723467" y="274638"/>
            <a:ext cx="3043238" cy="67710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900" dirty="0"/>
              <a:t>PowerPoint</a:t>
            </a:r>
            <a:r>
              <a:rPr lang="en-US" sz="1900" baseline="30000" dirty="0"/>
              <a:t>®</a:t>
            </a:r>
            <a:r>
              <a:rPr lang="en-US" sz="1900" dirty="0"/>
              <a:t> Lecture </a:t>
            </a:r>
            <a:r>
              <a:rPr lang="en-US" sz="1900" dirty="0" smtClean="0"/>
              <a:t>Presentation</a:t>
            </a:r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5723467" y="2741613"/>
            <a:ext cx="1670050" cy="5048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Aft>
                <a:spcPct val="50000"/>
              </a:spcAft>
              <a:buClr>
                <a:srgbClr val="669900"/>
              </a:buClr>
              <a:buFont typeface="Wingdings" charset="0"/>
              <a:buNone/>
            </a:pPr>
            <a:r>
              <a:rPr lang="en-US" sz="1800" b="1" dirty="0"/>
              <a:t>C H A P T E 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611112"/>
            <a:ext cx="9144000" cy="228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900" dirty="0"/>
              <a:t>© </a:t>
            </a:r>
            <a:r>
              <a:rPr lang="en-US" sz="900" dirty="0" smtClean="0"/>
              <a:t>2017 </a:t>
            </a:r>
            <a:r>
              <a:rPr lang="en-US" sz="900" dirty="0"/>
              <a:t>Pearson Education, Inc.</a:t>
            </a:r>
          </a:p>
        </p:txBody>
      </p:sp>
      <p:sp>
        <p:nvSpPr>
          <p:cNvPr id="3084" name="Rectangle 12"/>
          <p:cNvSpPr>
            <a:spLocks noChangeArrowheads="1"/>
          </p:cNvSpPr>
          <p:nvPr userDrawn="1"/>
        </p:nvSpPr>
        <p:spPr bwMode="auto">
          <a:xfrm>
            <a:off x="5730875" y="4011613"/>
            <a:ext cx="2895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3200" dirty="0">
              <a:solidFill>
                <a:srgbClr val="00ACF7"/>
              </a:solidFill>
            </a:endParaRPr>
          </a:p>
        </p:txBody>
      </p:sp>
      <p:pic>
        <p:nvPicPr>
          <p:cNvPr id="2" name="Picture 1" descr="STAN9804_06_mrktg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82283" cy="68671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BE004C"/>
              </a:buClr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buClr>
                <a:srgbClr val="BE004C"/>
              </a:buClr>
              <a:defRPr/>
            </a:lvl2pPr>
            <a:lvl3pPr>
              <a:lnSpc>
                <a:spcPct val="100000"/>
              </a:lnSpc>
              <a:buClr>
                <a:srgbClr val="BE004C"/>
              </a:buClr>
              <a:defRPr/>
            </a:lvl3pPr>
            <a:lvl4pPr>
              <a:lnSpc>
                <a:spcPct val="100000"/>
              </a:lnSpc>
              <a:buClr>
                <a:srgbClr val="BE004C"/>
              </a:buClr>
              <a:defRPr/>
            </a:lvl4pPr>
            <a:lvl5pPr>
              <a:lnSpc>
                <a:spcPct val="100000"/>
              </a:lnSpc>
              <a:buClr>
                <a:srgbClr val="BE004C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90488"/>
            <a:ext cx="8861425" cy="1077218"/>
          </a:xfrm>
        </p:spPr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554094"/>
            <a:ext cx="8537575" cy="4770505"/>
          </a:xfrm>
        </p:spPr>
        <p:txBody>
          <a:bodyPr/>
          <a:lstStyle>
            <a:lvl1pPr>
              <a:buClr>
                <a:srgbClr val="BE004C"/>
              </a:buClr>
              <a:defRPr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/>
            </a:lvl3pPr>
            <a:lvl4pPr>
              <a:buClr>
                <a:srgbClr val="BE004C"/>
              </a:buClr>
              <a:defRPr/>
            </a:lvl4pPr>
            <a:lvl5pPr>
              <a:buClr>
                <a:srgbClr val="BE004C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5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068388"/>
            <a:ext cx="4192588" cy="52562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068388"/>
            <a:ext cx="4192587" cy="52562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3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90488"/>
            <a:ext cx="8861425" cy="1077218"/>
          </a:xfrm>
        </p:spPr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545214"/>
            <a:ext cx="4192588" cy="4779385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45336"/>
            <a:ext cx="4192587" cy="47823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511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90488"/>
            <a:ext cx="8861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1625" y="1068388"/>
            <a:ext cx="8537575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2"/>
          <p:cNvSpPr>
            <a:spLocks/>
          </p:cNvSpPr>
          <p:nvPr userDrawn="1"/>
        </p:nvSpPr>
        <p:spPr bwMode="auto">
          <a:xfrm>
            <a:off x="0" y="0"/>
            <a:ext cx="9153144" cy="152400"/>
          </a:xfrm>
          <a:prstGeom prst="rect">
            <a:avLst/>
          </a:prstGeom>
          <a:solidFill>
            <a:srgbClr val="A188B3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endParaRPr lang="en-US" sz="3200" dirty="0"/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gray">
          <a:xfrm>
            <a:off x="87313" y="6611112"/>
            <a:ext cx="539908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r>
              <a:rPr lang="en-GB" sz="900" dirty="0">
                <a:cs typeface="Arial" charset="0"/>
              </a:rPr>
              <a:t>© </a:t>
            </a:r>
            <a:r>
              <a:rPr lang="en-GB" sz="900" dirty="0" smtClean="0">
                <a:cs typeface="Arial" charset="0"/>
              </a:rPr>
              <a:t>2017 </a:t>
            </a:r>
            <a:r>
              <a:rPr lang="en-GB" sz="900" dirty="0">
                <a:cs typeface="Arial" charset="0"/>
              </a:rPr>
              <a:t>Pearson Education,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  <p:sldLayoutId id="2147483654" r:id="rId5"/>
    <p:sldLayoutId id="2147483655" r:id="rId6"/>
  </p:sldLayoutIdLst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BE004C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jp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7.jp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9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.jp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1.jp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2.jp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3.jp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5711842" y="4011613"/>
            <a:ext cx="2895600" cy="1169551"/>
          </a:xfrm>
          <a:prstGeom prst="rect">
            <a:avLst/>
          </a:prstGeom>
          <a:noFill/>
          <a:ln/>
        </p:spPr>
        <p:txBody>
          <a:bodyPr>
            <a:spAutoFit/>
          </a:bodyPr>
          <a:lstStyle/>
          <a:p>
            <a:r>
              <a:rPr lang="en-US" sz="3500" dirty="0">
                <a:solidFill>
                  <a:schemeClr val="tx1"/>
                </a:solidFill>
              </a:rPr>
              <a:t>The Immune System</a:t>
            </a:r>
          </a:p>
        </p:txBody>
      </p:sp>
      <p:sp>
        <p:nvSpPr>
          <p:cNvPr id="2052" name="Rectangle 11"/>
          <p:cNvSpPr>
            <a:spLocks noChangeArrowheads="1"/>
          </p:cNvSpPr>
          <p:nvPr/>
        </p:nvSpPr>
        <p:spPr bwMode="auto">
          <a:xfrm>
            <a:off x="7334658" y="2212848"/>
            <a:ext cx="1524000" cy="88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6000" b="1" i="1" dirty="0" smtClean="0">
                <a:solidFill>
                  <a:srgbClr val="BE004C"/>
                </a:solidFill>
                <a:cs typeface="Arial" charset="0"/>
              </a:rPr>
              <a:t>23a</a:t>
            </a:r>
            <a:endParaRPr lang="en-US" sz="6000" i="1" dirty="0">
              <a:solidFill>
                <a:srgbClr val="BE004C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Outline</a:t>
            </a:r>
            <a:endParaRPr lang="en-US" dirty="0"/>
          </a:p>
        </p:txBody>
      </p:sp>
      <p:sp>
        <p:nvSpPr>
          <p:cNvPr id="7170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23.1</a:t>
            </a:r>
            <a:r>
              <a:rPr lang="en-US" dirty="0"/>
              <a:t>	</a:t>
            </a:r>
            <a:r>
              <a:rPr lang="en-US" dirty="0" smtClean="0"/>
              <a:t>Anatomy of the Immune System</a:t>
            </a:r>
          </a:p>
          <a:p>
            <a:pPr marL="0" indent="0">
              <a:buNone/>
            </a:pPr>
            <a:r>
              <a:rPr lang="en-US" dirty="0" smtClean="0"/>
              <a:t>23.2</a:t>
            </a:r>
            <a:r>
              <a:rPr lang="en-US" dirty="0"/>
              <a:t>	</a:t>
            </a:r>
            <a:r>
              <a:rPr lang="en-US" dirty="0" smtClean="0"/>
              <a:t>Pathogens That Activate the Immune 	Response</a:t>
            </a:r>
          </a:p>
          <a:p>
            <a:pPr marL="0" indent="0">
              <a:buNone/>
            </a:pPr>
            <a:r>
              <a:rPr lang="en-US" dirty="0" smtClean="0"/>
              <a:t>23.3</a:t>
            </a:r>
            <a:r>
              <a:rPr lang="en-US" dirty="0"/>
              <a:t>	</a:t>
            </a:r>
            <a:r>
              <a:rPr lang="en-US" dirty="0" smtClean="0"/>
              <a:t>Organization of the Body</a:t>
            </a:r>
            <a:r>
              <a:rPr lang="fr-FR" dirty="0" smtClean="0"/>
              <a:t>'</a:t>
            </a:r>
            <a:r>
              <a:rPr lang="en-US" dirty="0" smtClean="0"/>
              <a:t>s Defenses</a:t>
            </a:r>
          </a:p>
          <a:p>
            <a:pPr marL="0" indent="0">
              <a:buNone/>
            </a:pPr>
            <a:r>
              <a:rPr lang="en-US" dirty="0" smtClean="0"/>
              <a:t>23.4</a:t>
            </a:r>
            <a:r>
              <a:rPr lang="en-US" dirty="0"/>
              <a:t>	</a:t>
            </a:r>
            <a:r>
              <a:rPr lang="en-US" dirty="0" smtClean="0"/>
              <a:t>Humoral Immunity</a:t>
            </a:r>
          </a:p>
          <a:p>
            <a:pPr marL="0" indent="0">
              <a:buNone/>
            </a:pPr>
            <a:r>
              <a:rPr lang="en-US" dirty="0" smtClean="0"/>
              <a:t>23.5</a:t>
            </a:r>
            <a:r>
              <a:rPr lang="en-US" dirty="0"/>
              <a:t>	</a:t>
            </a:r>
            <a:r>
              <a:rPr lang="en-US" dirty="0" smtClean="0"/>
              <a:t>Cell-Mediated Immunity</a:t>
            </a:r>
          </a:p>
          <a:p>
            <a:pPr marL="0" indent="0">
              <a:buNone/>
            </a:pPr>
            <a:r>
              <a:rPr lang="en-US" dirty="0" smtClean="0"/>
              <a:t>23.6</a:t>
            </a:r>
            <a:r>
              <a:rPr lang="en-US" dirty="0"/>
              <a:t>	</a:t>
            </a:r>
            <a:r>
              <a:rPr lang="en-US" dirty="0" smtClean="0"/>
              <a:t>Immune Responses in Health and Disease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23.1 Anatomy of the Immune System</a:t>
            </a:r>
            <a:endParaRPr lang="en-US" dirty="0"/>
          </a:p>
        </p:txBody>
      </p:sp>
      <p:sp>
        <p:nvSpPr>
          <p:cNvPr id="9218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Physical barriers</a:t>
            </a:r>
          </a:p>
          <a:p>
            <a:pPr lvl="1"/>
            <a:r>
              <a:rPr lang="en-US" dirty="0" smtClean="0"/>
              <a:t>Skin and mucous membranes</a:t>
            </a:r>
          </a:p>
          <a:p>
            <a:r>
              <a:rPr lang="en-US" dirty="0" smtClean="0"/>
              <a:t>Leukocytes</a:t>
            </a:r>
          </a:p>
          <a:p>
            <a:pPr lvl="1"/>
            <a:r>
              <a:rPr lang="en-US" dirty="0" smtClean="0"/>
              <a:t>White blood cells</a:t>
            </a:r>
          </a:p>
          <a:p>
            <a:pPr lvl="1"/>
            <a:r>
              <a:rPr lang="en-US" dirty="0" smtClean="0"/>
              <a:t>Wide range of immune responses</a:t>
            </a:r>
          </a:p>
          <a:p>
            <a:r>
              <a:rPr lang="en-US" dirty="0" smtClean="0"/>
              <a:t>Lymphoid tissues</a:t>
            </a:r>
          </a:p>
          <a:p>
            <a:pPr lvl="1"/>
            <a:r>
              <a:rPr lang="en-US" dirty="0" smtClean="0"/>
              <a:t>Bone marrow, thymus, spleen, lymph nodes, and tonsils</a:t>
            </a:r>
          </a:p>
          <a:p>
            <a:pPr lvl="1"/>
            <a:r>
              <a:rPr lang="en-US" dirty="0" smtClean="0"/>
              <a:t>Development and function of leukocytes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Barriers</a:t>
            </a:r>
            <a:endParaRPr lang="en-US" dirty="0"/>
          </a:p>
        </p:txBody>
      </p:sp>
      <p:sp>
        <p:nvSpPr>
          <p:cNvPr id="11266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Skin</a:t>
            </a:r>
          </a:p>
          <a:p>
            <a:pPr lvl="1"/>
            <a:r>
              <a:rPr lang="en-US" dirty="0" smtClean="0"/>
              <a:t>Epidermis </a:t>
            </a:r>
          </a:p>
          <a:p>
            <a:pPr lvl="1"/>
            <a:r>
              <a:rPr lang="en-US" dirty="0" smtClean="0"/>
              <a:t>Dermis</a:t>
            </a:r>
          </a:p>
          <a:p>
            <a:pPr lvl="2"/>
            <a:r>
              <a:rPr lang="en-US" dirty="0" smtClean="0"/>
              <a:t>Sebaceous glands</a:t>
            </a:r>
          </a:p>
          <a:p>
            <a:r>
              <a:rPr lang="en-US" dirty="0" smtClean="0"/>
              <a:t>Mucous membranes</a:t>
            </a:r>
          </a:p>
          <a:p>
            <a:pPr lvl="1"/>
            <a:r>
              <a:rPr lang="en-US" dirty="0" smtClean="0"/>
              <a:t>Viscous mucus traps foreign matter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5" name="Rectangle 4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Figure 23.1  Chemical and physical barriers to pathogens.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41" name="Picture 40" descr="figure_23_01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9"/>
          <a:stretch/>
        </p:blipFill>
        <p:spPr>
          <a:xfrm>
            <a:off x="1993901" y="375323"/>
            <a:ext cx="4983480" cy="624956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962392" y="1219798"/>
            <a:ext cx="697627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Lysozyme</a:t>
            </a:r>
          </a:p>
          <a:p>
            <a:pPr algn="l"/>
            <a:r>
              <a:rPr lang="en-US" sz="830" b="1" dirty="0"/>
              <a:t>in saliva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6623" y="2705697"/>
            <a:ext cx="959415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HCl in stomach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2386" y="3294130"/>
            <a:ext cx="1043876" cy="475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Acid in urinary</a:t>
            </a:r>
          </a:p>
          <a:p>
            <a:pPr algn="l"/>
            <a:r>
              <a:rPr lang="en-US" sz="830" b="1" dirty="0"/>
              <a:t>tract (and vagina</a:t>
            </a:r>
          </a:p>
          <a:p>
            <a:pPr algn="l"/>
            <a:r>
              <a:rPr lang="en-US" sz="830" b="1" dirty="0"/>
              <a:t>in females)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8149" y="3929129"/>
            <a:ext cx="1107996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Fatty acids in</a:t>
            </a:r>
          </a:p>
          <a:p>
            <a:pPr algn="l"/>
            <a:r>
              <a:rPr lang="en-US" sz="830" b="1" dirty="0"/>
              <a:t>sebaceous glands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87149" y="5601295"/>
            <a:ext cx="409446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Skin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4249" y="4991693"/>
            <a:ext cx="556563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Keratin</a:t>
            </a:r>
          </a:p>
          <a:p>
            <a:pPr algn="l"/>
            <a:r>
              <a:rPr lang="en-US" sz="830" b="1" dirty="0"/>
              <a:t>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4248" y="4631859"/>
            <a:ext cx="710451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Epidermis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0014" y="4369393"/>
            <a:ext cx="556563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Dermis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5046" y="3844460"/>
            <a:ext cx="992579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GI tract mucosa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0013" y="3129028"/>
            <a:ext cx="530915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Goblet</a:t>
            </a:r>
          </a:p>
          <a:p>
            <a:pPr algn="l"/>
            <a:r>
              <a:rPr lang="en-US" sz="830" b="1" dirty="0"/>
              <a:t>cell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4250" y="2883495"/>
            <a:ext cx="530915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Mucus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484" y="2582927"/>
            <a:ext cx="659155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Epithelial</a:t>
            </a:r>
          </a:p>
          <a:p>
            <a:pPr algn="l"/>
            <a:r>
              <a:rPr lang="en-US" sz="830" b="1" dirty="0"/>
              <a:t>cell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5054" y="2083393"/>
            <a:ext cx="1005403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Ciliated mucosa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0023" y="1410294"/>
            <a:ext cx="569387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Ciliated</a:t>
            </a:r>
          </a:p>
          <a:p>
            <a:pPr algn="l"/>
            <a:r>
              <a:rPr lang="en-US" sz="830" b="1" dirty="0"/>
              <a:t>cell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0022" y="1152059"/>
            <a:ext cx="530915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Mucus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4256" y="732957"/>
            <a:ext cx="530915" cy="347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b="1" dirty="0"/>
              <a:t>Goblet</a:t>
            </a:r>
          </a:p>
          <a:p>
            <a:pPr algn="l"/>
            <a:r>
              <a:rPr lang="en-US" sz="830" b="1" dirty="0"/>
              <a:t>cell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6153" y="368884"/>
            <a:ext cx="1185027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dirty="0">
                <a:latin typeface="Arial Black"/>
                <a:cs typeface="Arial Black"/>
              </a:rPr>
              <a:t>Physical Barriers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72553" y="364650"/>
            <a:ext cx="1238351" cy="220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30" dirty="0">
                <a:latin typeface="Arial Black"/>
                <a:cs typeface="Arial Black"/>
              </a:rPr>
              <a:t>Chemical Barriers</a:t>
            </a:r>
          </a:p>
        </p:txBody>
      </p:sp>
      <p:sp>
        <p:nvSpPr>
          <p:cNvPr id="60" name="Freeform 59"/>
          <p:cNvSpPr/>
          <p:nvPr/>
        </p:nvSpPr>
        <p:spPr>
          <a:xfrm>
            <a:off x="2603500" y="1341691"/>
            <a:ext cx="1152525" cy="0"/>
          </a:xfrm>
          <a:custGeom>
            <a:avLst/>
            <a:gdLst>
              <a:gd name="connsiteX0" fmla="*/ 1152525 w 1152525"/>
              <a:gd name="connsiteY0" fmla="*/ 0 h 0"/>
              <a:gd name="connsiteX1" fmla="*/ 0 w 11525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525">
                <a:moveTo>
                  <a:pt x="1152525" y="0"/>
                </a:moveTo>
                <a:lnTo>
                  <a:pt x="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2851150" y="2833941"/>
            <a:ext cx="930275" cy="0"/>
          </a:xfrm>
          <a:custGeom>
            <a:avLst/>
            <a:gdLst>
              <a:gd name="connsiteX0" fmla="*/ 0 w 930275"/>
              <a:gd name="connsiteY0" fmla="*/ 0 h 0"/>
              <a:gd name="connsiteX1" fmla="*/ 930275 w 9302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0275">
                <a:moveTo>
                  <a:pt x="0" y="0"/>
                </a:moveTo>
                <a:lnTo>
                  <a:pt x="9302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2819400" y="3414966"/>
            <a:ext cx="854075" cy="0"/>
          </a:xfrm>
          <a:custGeom>
            <a:avLst/>
            <a:gdLst>
              <a:gd name="connsiteX0" fmla="*/ 0 w 854075"/>
              <a:gd name="connsiteY0" fmla="*/ 0 h 0"/>
              <a:gd name="connsiteX1" fmla="*/ 854075 w 8540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4075">
                <a:moveTo>
                  <a:pt x="0" y="0"/>
                </a:moveTo>
                <a:lnTo>
                  <a:pt x="8540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2755900" y="3614991"/>
            <a:ext cx="1079500" cy="434975"/>
          </a:xfrm>
          <a:custGeom>
            <a:avLst/>
            <a:gdLst>
              <a:gd name="connsiteX0" fmla="*/ 0 w 1079500"/>
              <a:gd name="connsiteY0" fmla="*/ 434975 h 434975"/>
              <a:gd name="connsiteX1" fmla="*/ 1079500 w 1079500"/>
              <a:gd name="connsiteY1" fmla="*/ 0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9500" h="434975">
                <a:moveTo>
                  <a:pt x="0" y="434975"/>
                </a:moveTo>
                <a:lnTo>
                  <a:pt x="10795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5943600" y="5104066"/>
            <a:ext cx="438150" cy="3175"/>
          </a:xfrm>
          <a:custGeom>
            <a:avLst/>
            <a:gdLst>
              <a:gd name="connsiteX0" fmla="*/ 0 w 438150"/>
              <a:gd name="connsiteY0" fmla="*/ 0 h 3175"/>
              <a:gd name="connsiteX1" fmla="*/ 438150 w 43815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8150" h="3175">
                <a:moveTo>
                  <a:pt x="0" y="0"/>
                </a:moveTo>
                <a:lnTo>
                  <a:pt x="438150" y="31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5699125" y="4748466"/>
            <a:ext cx="673100" cy="3175"/>
          </a:xfrm>
          <a:custGeom>
            <a:avLst/>
            <a:gdLst>
              <a:gd name="connsiteX0" fmla="*/ 0 w 673100"/>
              <a:gd name="connsiteY0" fmla="*/ 0 h 3175"/>
              <a:gd name="connsiteX1" fmla="*/ 673100 w 67310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3100" h="3175">
                <a:moveTo>
                  <a:pt x="0" y="0"/>
                </a:moveTo>
                <a:lnTo>
                  <a:pt x="673100" y="31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6" name="Freeform 65"/>
          <p:cNvSpPr/>
          <p:nvPr/>
        </p:nvSpPr>
        <p:spPr>
          <a:xfrm>
            <a:off x="5143500" y="4484941"/>
            <a:ext cx="1231900" cy="0"/>
          </a:xfrm>
          <a:custGeom>
            <a:avLst/>
            <a:gdLst>
              <a:gd name="connsiteX0" fmla="*/ 0 w 1231900"/>
              <a:gd name="connsiteY0" fmla="*/ 0 h 0"/>
              <a:gd name="connsiteX1" fmla="*/ 1231900 w 12319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190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5918200" y="3243516"/>
            <a:ext cx="463550" cy="98425"/>
          </a:xfrm>
          <a:custGeom>
            <a:avLst/>
            <a:gdLst>
              <a:gd name="connsiteX0" fmla="*/ 0 w 463550"/>
              <a:gd name="connsiteY0" fmla="*/ 98425 h 98425"/>
              <a:gd name="connsiteX1" fmla="*/ 463550 w 463550"/>
              <a:gd name="connsiteY1" fmla="*/ 0 h 9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3550" h="98425">
                <a:moveTo>
                  <a:pt x="0" y="98425"/>
                </a:moveTo>
                <a:lnTo>
                  <a:pt x="46355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8" name="Freeform 67"/>
          <p:cNvSpPr/>
          <p:nvPr/>
        </p:nvSpPr>
        <p:spPr>
          <a:xfrm>
            <a:off x="6118225" y="2992691"/>
            <a:ext cx="260350" cy="6350"/>
          </a:xfrm>
          <a:custGeom>
            <a:avLst/>
            <a:gdLst>
              <a:gd name="connsiteX0" fmla="*/ 0 w 260350"/>
              <a:gd name="connsiteY0" fmla="*/ 0 h 6350"/>
              <a:gd name="connsiteX1" fmla="*/ 260350 w 260350"/>
              <a:gd name="connsiteY1" fmla="*/ 635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0350" h="6350">
                <a:moveTo>
                  <a:pt x="0" y="0"/>
                </a:moveTo>
                <a:lnTo>
                  <a:pt x="260350" y="6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9" name="Freeform 68"/>
          <p:cNvSpPr/>
          <p:nvPr/>
        </p:nvSpPr>
        <p:spPr>
          <a:xfrm>
            <a:off x="5803900" y="2691066"/>
            <a:ext cx="577850" cy="3175"/>
          </a:xfrm>
          <a:custGeom>
            <a:avLst/>
            <a:gdLst>
              <a:gd name="connsiteX0" fmla="*/ 0 w 577850"/>
              <a:gd name="connsiteY0" fmla="*/ 0 h 3175"/>
              <a:gd name="connsiteX1" fmla="*/ 577850 w 57785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7850" h="3175">
                <a:moveTo>
                  <a:pt x="0" y="0"/>
                </a:moveTo>
                <a:lnTo>
                  <a:pt x="577850" y="31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0" name="Freeform 69"/>
          <p:cNvSpPr/>
          <p:nvPr/>
        </p:nvSpPr>
        <p:spPr>
          <a:xfrm>
            <a:off x="6000750" y="1417891"/>
            <a:ext cx="374650" cy="98425"/>
          </a:xfrm>
          <a:custGeom>
            <a:avLst/>
            <a:gdLst>
              <a:gd name="connsiteX0" fmla="*/ 0 w 374650"/>
              <a:gd name="connsiteY0" fmla="*/ 0 h 98425"/>
              <a:gd name="connsiteX1" fmla="*/ 374650 w 374650"/>
              <a:gd name="connsiteY1" fmla="*/ 98425 h 9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4650" h="98425">
                <a:moveTo>
                  <a:pt x="0" y="0"/>
                </a:moveTo>
                <a:lnTo>
                  <a:pt x="374650" y="984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1" name="Freeform 70"/>
          <p:cNvSpPr/>
          <p:nvPr/>
        </p:nvSpPr>
        <p:spPr>
          <a:xfrm>
            <a:off x="5975350" y="846391"/>
            <a:ext cx="409575" cy="231775"/>
          </a:xfrm>
          <a:custGeom>
            <a:avLst/>
            <a:gdLst>
              <a:gd name="connsiteX0" fmla="*/ 0 w 409575"/>
              <a:gd name="connsiteY0" fmla="*/ 231775 h 231775"/>
              <a:gd name="connsiteX1" fmla="*/ 409575 w 409575"/>
              <a:gd name="connsiteY1" fmla="*/ 0 h 231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575" h="231775">
                <a:moveTo>
                  <a:pt x="0" y="231775"/>
                </a:moveTo>
                <a:lnTo>
                  <a:pt x="4095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2" name="Freeform 71"/>
          <p:cNvSpPr/>
          <p:nvPr/>
        </p:nvSpPr>
        <p:spPr>
          <a:xfrm>
            <a:off x="6111875" y="1249616"/>
            <a:ext cx="269875" cy="0"/>
          </a:xfrm>
          <a:custGeom>
            <a:avLst/>
            <a:gdLst>
              <a:gd name="connsiteX0" fmla="*/ 0 w 269875"/>
              <a:gd name="connsiteY0" fmla="*/ 0 h 0"/>
              <a:gd name="connsiteX1" fmla="*/ 269875 w 2698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875">
                <a:moveTo>
                  <a:pt x="0" y="0"/>
                </a:moveTo>
                <a:lnTo>
                  <a:pt x="2698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6" name="Rectangle 29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  Immune cell production.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34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1</a:t>
            </a:r>
          </a:p>
        </p:txBody>
      </p:sp>
      <p:pic>
        <p:nvPicPr>
          <p:cNvPr id="35" name="Picture 34" descr="figure_23_02_unlabeled_Slide05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8"/>
          <a:stretch/>
        </p:blipFill>
        <p:spPr>
          <a:xfrm>
            <a:off x="1549401" y="392354"/>
            <a:ext cx="5742432" cy="613379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75235" y="450671"/>
            <a:ext cx="114646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Hematopoietic stem 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434" y="1678336"/>
            <a:ext cx="87716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Myeloid stem 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0534" y="1678336"/>
            <a:ext cx="96693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Lymphoid stem 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1933" y="2897535"/>
            <a:ext cx="68480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Reticulocyte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3499" y="2715503"/>
            <a:ext cx="78739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Megakaryocyte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964" y="2715503"/>
            <a:ext cx="101826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Granulocyte/</a:t>
            </a:r>
          </a:p>
          <a:p>
            <a:r>
              <a:rPr lang="en-US" sz="650" b="1" dirty="0"/>
              <a:t>monocyte progenitor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9086" y="3761135"/>
            <a:ext cx="65915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Erythrocyte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91706" y="3697635"/>
            <a:ext cx="53091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Platelets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3727" y="3727270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Basophil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7521" y="3727270"/>
            <a:ext cx="610686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Eosinophil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94857" y="3718802"/>
            <a:ext cx="58221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Monocyte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8132" y="3727269"/>
            <a:ext cx="60785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Neutrophil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5641" y="3723036"/>
            <a:ext cx="73609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B-lymphocyte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2983" y="3579103"/>
            <a:ext cx="479618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Natural</a:t>
            </a:r>
          </a:p>
          <a:p>
            <a:pPr algn="ctr"/>
            <a:r>
              <a:rPr lang="en-US" sz="650" b="1" dirty="0"/>
              <a:t>killler</a:t>
            </a:r>
          </a:p>
          <a:p>
            <a:pPr algn="ctr"/>
            <a:r>
              <a:rPr lang="en-US" sz="650" b="1" dirty="0"/>
              <a:t>cells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1851" y="3727269"/>
            <a:ext cx="72327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5833" y="3430935"/>
            <a:ext cx="77457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T-lymphocytes</a:t>
            </a:r>
          </a:p>
        </p:txBody>
      </p:sp>
      <p:sp>
        <p:nvSpPr>
          <p:cNvPr id="52" name="TextBox 51"/>
          <p:cNvSpPr txBox="1"/>
          <p:nvPr/>
        </p:nvSpPr>
        <p:spPr>
          <a:xfrm rot="5400000">
            <a:off x="6735908" y="2033939"/>
            <a:ext cx="80021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Bone marrow</a:t>
            </a:r>
          </a:p>
        </p:txBody>
      </p:sp>
      <p:sp>
        <p:nvSpPr>
          <p:cNvPr id="53" name="TextBox 52"/>
          <p:cNvSpPr txBox="1"/>
          <p:nvPr/>
        </p:nvSpPr>
        <p:spPr>
          <a:xfrm rot="5400000">
            <a:off x="6868382" y="3041473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Thymus</a:t>
            </a:r>
          </a:p>
        </p:txBody>
      </p:sp>
      <p:sp>
        <p:nvSpPr>
          <p:cNvPr id="54" name="TextBox 53"/>
          <p:cNvSpPr txBox="1"/>
          <p:nvPr/>
        </p:nvSpPr>
        <p:spPr>
          <a:xfrm rot="5400000">
            <a:off x="6922459" y="4023606"/>
            <a:ext cx="44405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Blood</a:t>
            </a:r>
          </a:p>
        </p:txBody>
      </p:sp>
      <p:sp>
        <p:nvSpPr>
          <p:cNvPr id="55" name="TextBox 54"/>
          <p:cNvSpPr txBox="1"/>
          <p:nvPr/>
        </p:nvSpPr>
        <p:spPr>
          <a:xfrm rot="5400000">
            <a:off x="6894032" y="5479875"/>
            <a:ext cx="49244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Tissue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2149" y="5357100"/>
            <a:ext cx="55656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Dendritic</a:t>
            </a:r>
          </a:p>
          <a:p>
            <a:r>
              <a:rPr lang="en-US" sz="650" b="1" dirty="0"/>
              <a:t>cell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3900" y="4887199"/>
            <a:ext cx="60785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Neutrophil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30860" y="5522199"/>
            <a:ext cx="68480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Macrophage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  Immune cell production.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15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2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6" name="Picture 15" descr="figure_23_02_unlabeled_Slide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1"/>
          <a:stretch/>
        </p:blipFill>
        <p:spPr>
          <a:xfrm>
            <a:off x="1549401" y="393875"/>
            <a:ext cx="5742432" cy="60024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75235" y="452191"/>
            <a:ext cx="114646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Hematopoietic stem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34" y="1679856"/>
            <a:ext cx="87716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Myeloid stem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0534" y="1679856"/>
            <a:ext cx="96693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Lymphoid stem cell</a:t>
            </a:r>
          </a:p>
        </p:txBody>
      </p:sp>
      <p:sp>
        <p:nvSpPr>
          <p:cNvPr id="20" name="TextBox 19"/>
          <p:cNvSpPr txBox="1"/>
          <p:nvPr/>
        </p:nvSpPr>
        <p:spPr>
          <a:xfrm rot="5400000">
            <a:off x="6735908" y="2035459"/>
            <a:ext cx="80021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Bone marrow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  Immune cell production.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15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3</a:t>
            </a:r>
            <a:endParaRPr lang="en-US" sz="1200" b="1" dirty="0">
              <a:cs typeface="Arial" charset="0"/>
            </a:endParaRPr>
          </a:p>
        </p:txBody>
      </p:sp>
      <p:pic>
        <p:nvPicPr>
          <p:cNvPr id="9" name="Picture 8" descr="figure_23_02_unlabeled_Slide03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3"/>
          <a:stretch/>
        </p:blipFill>
        <p:spPr>
          <a:xfrm>
            <a:off x="1549401" y="393874"/>
            <a:ext cx="5742432" cy="60111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75235" y="452191"/>
            <a:ext cx="114646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Hematopoietic stem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8434" y="1679856"/>
            <a:ext cx="87716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Myeloid stem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0534" y="1679856"/>
            <a:ext cx="96693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Lymphoid stem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1933" y="2899055"/>
            <a:ext cx="68480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Reticulocyte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3499" y="2717023"/>
            <a:ext cx="78739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Megakaryocyte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964" y="2717023"/>
            <a:ext cx="101826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Granulocyte/</a:t>
            </a:r>
          </a:p>
          <a:p>
            <a:r>
              <a:rPr lang="en-US" sz="650" b="1" dirty="0"/>
              <a:t>monocyte progenitor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833" y="3432455"/>
            <a:ext cx="77457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T-lymphocytes</a:t>
            </a:r>
          </a:p>
        </p:txBody>
      </p:sp>
      <p:sp>
        <p:nvSpPr>
          <p:cNvPr id="23" name="TextBox 22"/>
          <p:cNvSpPr txBox="1"/>
          <p:nvPr/>
        </p:nvSpPr>
        <p:spPr>
          <a:xfrm rot="5400000">
            <a:off x="6735908" y="2035459"/>
            <a:ext cx="80021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Bone marrow</a:t>
            </a:r>
          </a:p>
        </p:txBody>
      </p:sp>
      <p:sp>
        <p:nvSpPr>
          <p:cNvPr id="24" name="TextBox 23"/>
          <p:cNvSpPr txBox="1"/>
          <p:nvPr/>
        </p:nvSpPr>
        <p:spPr>
          <a:xfrm rot="5400000">
            <a:off x="6868382" y="3042993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Thymus</a:t>
            </a:r>
          </a:p>
        </p:txBody>
      </p:sp>
    </p:spTree>
    <p:extLst>
      <p:ext uri="{BB962C8B-B14F-4D97-AF65-F5344CB8AC3E}">
        <p14:creationId xmlns:p14="http://schemas.microsoft.com/office/powerpoint/2010/main" val="282934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  Immune cell production.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15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4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6" name="Picture 15" descr="figure_23_02_unlabeled_Slide0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3"/>
          <a:stretch/>
        </p:blipFill>
        <p:spPr>
          <a:xfrm>
            <a:off x="1549401" y="393874"/>
            <a:ext cx="5742432" cy="60111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75235" y="452191"/>
            <a:ext cx="114646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Hematopoietic stem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34" y="1679856"/>
            <a:ext cx="87716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Myeloid stem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0534" y="1679856"/>
            <a:ext cx="96693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Lymphoid stem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1933" y="2899055"/>
            <a:ext cx="68480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Reticulocyte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3499" y="2717023"/>
            <a:ext cx="78739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Megakaryocyte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964" y="2717023"/>
            <a:ext cx="101826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Granulocyte/</a:t>
            </a:r>
          </a:p>
          <a:p>
            <a:pPr algn="ctr"/>
            <a:r>
              <a:rPr lang="en-US" sz="650" b="1" dirty="0"/>
              <a:t>monocyte progenitor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9086" y="3762655"/>
            <a:ext cx="65915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Erythrocyte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1706" y="3699155"/>
            <a:ext cx="53091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Platelets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3727" y="3728790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Basophil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7521" y="3728790"/>
            <a:ext cx="610686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Eosinophil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4857" y="3720322"/>
            <a:ext cx="58221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Monocyte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8132" y="3728789"/>
            <a:ext cx="60785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Neutrophil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5641" y="3724556"/>
            <a:ext cx="73609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B-lymphocyte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2983" y="3580623"/>
            <a:ext cx="479618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Natural</a:t>
            </a:r>
          </a:p>
          <a:p>
            <a:pPr algn="ctr"/>
            <a:r>
              <a:rPr lang="en-US" sz="650" b="1" dirty="0"/>
              <a:t>killler</a:t>
            </a:r>
          </a:p>
          <a:p>
            <a:pPr algn="ctr"/>
            <a:r>
              <a:rPr lang="en-US" sz="650" b="1" dirty="0"/>
              <a:t>cells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1851" y="3728789"/>
            <a:ext cx="72327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5833" y="3432455"/>
            <a:ext cx="77457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T-lymphocytes</a:t>
            </a:r>
          </a:p>
        </p:txBody>
      </p:sp>
      <p:sp>
        <p:nvSpPr>
          <p:cNvPr id="37" name="TextBox 36"/>
          <p:cNvSpPr txBox="1"/>
          <p:nvPr/>
        </p:nvSpPr>
        <p:spPr>
          <a:xfrm rot="5400000">
            <a:off x="6735908" y="2035459"/>
            <a:ext cx="80021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Bone marrow</a:t>
            </a:r>
          </a:p>
        </p:txBody>
      </p:sp>
      <p:sp>
        <p:nvSpPr>
          <p:cNvPr id="38" name="TextBox 37"/>
          <p:cNvSpPr txBox="1"/>
          <p:nvPr/>
        </p:nvSpPr>
        <p:spPr>
          <a:xfrm rot="5400000">
            <a:off x="6868382" y="3042993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Thymus</a:t>
            </a:r>
          </a:p>
        </p:txBody>
      </p:sp>
      <p:sp>
        <p:nvSpPr>
          <p:cNvPr id="39" name="TextBox 38"/>
          <p:cNvSpPr txBox="1"/>
          <p:nvPr/>
        </p:nvSpPr>
        <p:spPr>
          <a:xfrm rot="5400000">
            <a:off x="6922459" y="4025126"/>
            <a:ext cx="44405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Blood</a:t>
            </a:r>
          </a:p>
        </p:txBody>
      </p:sp>
    </p:spTree>
    <p:extLst>
      <p:ext uri="{BB962C8B-B14F-4D97-AF65-F5344CB8AC3E}">
        <p14:creationId xmlns:p14="http://schemas.microsoft.com/office/powerpoint/2010/main" val="1895282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  Immune cell production.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15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5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4" name="Picture 23" descr="figure_23_02_unlabeled_Slide05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8"/>
          <a:stretch/>
        </p:blipFill>
        <p:spPr>
          <a:xfrm>
            <a:off x="1549401" y="392354"/>
            <a:ext cx="5742432" cy="61337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75235" y="450671"/>
            <a:ext cx="114646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Hematopoietic stem cell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8434" y="1678336"/>
            <a:ext cx="87716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Myeloid stem cell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0534" y="1678336"/>
            <a:ext cx="96693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Lymphoid stem cell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1933" y="2897535"/>
            <a:ext cx="68480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Reticulocyte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3499" y="2715503"/>
            <a:ext cx="78739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50" b="1" dirty="0"/>
              <a:t>Megakaryocyte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964" y="2715503"/>
            <a:ext cx="101826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Granulocyte/</a:t>
            </a:r>
          </a:p>
          <a:p>
            <a:r>
              <a:rPr lang="en-US" sz="650" b="1" dirty="0"/>
              <a:t>monocyte progenitor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29086" y="3761135"/>
            <a:ext cx="65915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Erythrocyte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1706" y="3697635"/>
            <a:ext cx="53091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Platelets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3727" y="3727270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Basophil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7521" y="3727270"/>
            <a:ext cx="610686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Eosinophil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94857" y="3718802"/>
            <a:ext cx="58221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Monocyte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8132" y="3727269"/>
            <a:ext cx="60785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Neutrophil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5641" y="3723036"/>
            <a:ext cx="73609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B-lymphocyte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02983" y="3579103"/>
            <a:ext cx="479618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Natural</a:t>
            </a:r>
          </a:p>
          <a:p>
            <a:pPr algn="ctr"/>
            <a:r>
              <a:rPr lang="en-US" sz="650" b="1" dirty="0"/>
              <a:t>killler</a:t>
            </a:r>
          </a:p>
          <a:p>
            <a:pPr algn="ctr"/>
            <a:r>
              <a:rPr lang="en-US" sz="650" b="1" dirty="0"/>
              <a:t>cells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1851" y="3727269"/>
            <a:ext cx="72327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5833" y="3430935"/>
            <a:ext cx="774571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T-lymphocytes</a:t>
            </a:r>
          </a:p>
        </p:txBody>
      </p:sp>
      <p:sp>
        <p:nvSpPr>
          <p:cNvPr id="56" name="TextBox 55"/>
          <p:cNvSpPr txBox="1"/>
          <p:nvPr/>
        </p:nvSpPr>
        <p:spPr>
          <a:xfrm rot="5400000">
            <a:off x="6735908" y="2033939"/>
            <a:ext cx="80021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Bone marrow</a:t>
            </a:r>
          </a:p>
        </p:txBody>
      </p:sp>
      <p:sp>
        <p:nvSpPr>
          <p:cNvPr id="57" name="TextBox 56"/>
          <p:cNvSpPr txBox="1"/>
          <p:nvPr/>
        </p:nvSpPr>
        <p:spPr>
          <a:xfrm rot="5400000">
            <a:off x="6868382" y="3041473"/>
            <a:ext cx="54373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Thymus</a:t>
            </a:r>
          </a:p>
        </p:txBody>
      </p:sp>
      <p:sp>
        <p:nvSpPr>
          <p:cNvPr id="58" name="TextBox 57"/>
          <p:cNvSpPr txBox="1"/>
          <p:nvPr/>
        </p:nvSpPr>
        <p:spPr>
          <a:xfrm rot="5400000">
            <a:off x="6922459" y="4023606"/>
            <a:ext cx="444055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Blood</a:t>
            </a:r>
          </a:p>
        </p:txBody>
      </p:sp>
      <p:sp>
        <p:nvSpPr>
          <p:cNvPr id="59" name="TextBox 58"/>
          <p:cNvSpPr txBox="1"/>
          <p:nvPr/>
        </p:nvSpPr>
        <p:spPr>
          <a:xfrm rot="5400000">
            <a:off x="6894032" y="5479875"/>
            <a:ext cx="49244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 Black"/>
                <a:cs typeface="Arial Black"/>
              </a:rPr>
              <a:t>Tissue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2149" y="5357100"/>
            <a:ext cx="55656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0" b="1" dirty="0"/>
              <a:t>Dendritic</a:t>
            </a:r>
          </a:p>
          <a:p>
            <a:r>
              <a:rPr lang="en-US" sz="650" b="1" dirty="0"/>
              <a:t>cell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23900" y="4887199"/>
            <a:ext cx="607859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Neutrophil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0860" y="5522199"/>
            <a:ext cx="68480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b="1" dirty="0"/>
              <a:t>Macrophage</a:t>
            </a:r>
          </a:p>
        </p:txBody>
      </p:sp>
    </p:spTree>
    <p:extLst>
      <p:ext uri="{BB962C8B-B14F-4D97-AF65-F5344CB8AC3E}">
        <p14:creationId xmlns:p14="http://schemas.microsoft.com/office/powerpoint/2010/main" val="58865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2560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Derived from same hematopoietic stem cells in bone marrow</a:t>
            </a:r>
          </a:p>
          <a:p>
            <a:r>
              <a:rPr lang="en-US" dirty="0" smtClean="0"/>
              <a:t>Granulocytes</a:t>
            </a:r>
          </a:p>
          <a:p>
            <a:pPr lvl="1"/>
            <a:r>
              <a:rPr lang="en-US" dirty="0" smtClean="0"/>
              <a:t>Neutrophils </a:t>
            </a:r>
          </a:p>
          <a:p>
            <a:pPr lvl="1"/>
            <a:r>
              <a:rPr lang="en-US" dirty="0" smtClean="0"/>
              <a:t>Eosinophils </a:t>
            </a:r>
          </a:p>
          <a:p>
            <a:pPr lvl="1"/>
            <a:r>
              <a:rPr lang="en-US" dirty="0" smtClean="0"/>
              <a:t>Basophils </a:t>
            </a:r>
          </a:p>
          <a:p>
            <a:r>
              <a:rPr lang="en-US" dirty="0" smtClean="0"/>
              <a:t>Agranulocytes</a:t>
            </a:r>
          </a:p>
          <a:p>
            <a:pPr lvl="1"/>
            <a:r>
              <a:rPr lang="en-US" dirty="0" smtClean="0"/>
              <a:t>Monocytes</a:t>
            </a:r>
          </a:p>
          <a:p>
            <a:pPr lvl="1"/>
            <a:r>
              <a:rPr lang="en-US" dirty="0" smtClean="0"/>
              <a:t>Lymphocytes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2765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Phagocytes</a:t>
            </a:r>
          </a:p>
          <a:p>
            <a:pPr lvl="1"/>
            <a:r>
              <a:rPr lang="en-US" dirty="0" smtClean="0"/>
              <a:t>Neutrophils (most abundant)</a:t>
            </a:r>
          </a:p>
          <a:p>
            <a:pPr lvl="1"/>
            <a:r>
              <a:rPr lang="en-US" dirty="0" smtClean="0"/>
              <a:t>Eosinophils</a:t>
            </a:r>
          </a:p>
          <a:p>
            <a:pPr lvl="1"/>
            <a:r>
              <a:rPr lang="en-US" dirty="0" smtClean="0"/>
              <a:t>Monocytes</a:t>
            </a:r>
          </a:p>
          <a:p>
            <a:pPr lvl="1"/>
            <a:r>
              <a:rPr lang="en-US" dirty="0" smtClean="0"/>
              <a:t>Macrophages</a:t>
            </a:r>
          </a:p>
          <a:p>
            <a:pPr lvl="1"/>
            <a:r>
              <a:rPr lang="en-US" dirty="0" smtClean="0"/>
              <a:t>Dendritic cells</a:t>
            </a:r>
          </a:p>
          <a:p>
            <a:r>
              <a:rPr lang="en-US" dirty="0" smtClean="0"/>
              <a:t>Secrete cytokines</a:t>
            </a:r>
          </a:p>
          <a:p>
            <a:r>
              <a:rPr lang="en-US" dirty="0" smtClean="0"/>
              <a:t>Circulate in blood 7–10 hours</a:t>
            </a:r>
          </a:p>
          <a:p>
            <a:r>
              <a:rPr lang="en-US" dirty="0" smtClean="0"/>
              <a:t>Migrate to tissues for a few days</a:t>
            </a:r>
          </a:p>
          <a:p>
            <a:r>
              <a:rPr lang="en-US" dirty="0" smtClean="0"/>
              <a:t>Increase in number during infections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2969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Lymphocytes</a:t>
            </a:r>
          </a:p>
          <a:p>
            <a:pPr lvl="1"/>
            <a:r>
              <a:rPr lang="en-US" dirty="0" smtClean="0"/>
              <a:t>Account for 20–40% of leukocytes</a:t>
            </a:r>
          </a:p>
          <a:p>
            <a:pPr lvl="1"/>
            <a:r>
              <a:rPr lang="en-US" dirty="0" smtClean="0"/>
              <a:t>Account for 99% of interstitial fluid cells</a:t>
            </a:r>
          </a:p>
          <a:p>
            <a:pPr lvl="1"/>
            <a:r>
              <a:rPr lang="en-US" dirty="0" smtClean="0"/>
              <a:t>Three types</a:t>
            </a:r>
          </a:p>
          <a:p>
            <a:pPr lvl="2"/>
            <a:r>
              <a:rPr lang="en-US" dirty="0" smtClean="0"/>
              <a:t>B lymphocytes (B cells)</a:t>
            </a:r>
          </a:p>
          <a:p>
            <a:pPr lvl="2"/>
            <a:r>
              <a:rPr lang="en-US" dirty="0" smtClean="0"/>
              <a:t>T lymphocytes (T cells)</a:t>
            </a:r>
          </a:p>
          <a:p>
            <a:pPr lvl="2"/>
            <a:r>
              <a:rPr lang="en-US" dirty="0" smtClean="0"/>
              <a:t>Null cells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3174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 cells</a:t>
            </a:r>
          </a:p>
          <a:p>
            <a:pPr lvl="1"/>
            <a:r>
              <a:rPr lang="en-US" dirty="0" smtClean="0"/>
              <a:t>Associated with antibodies</a:t>
            </a:r>
          </a:p>
          <a:p>
            <a:pPr lvl="1"/>
            <a:r>
              <a:rPr lang="en-US" dirty="0" smtClean="0"/>
              <a:t>Contact </a:t>
            </a:r>
            <a:r>
              <a:rPr lang="en-US" dirty="0"/>
              <a:t>antigen </a:t>
            </a:r>
            <a:r>
              <a:rPr lang="en-US" dirty="0" smtClean="0"/>
              <a:t>→</a:t>
            </a:r>
            <a:r>
              <a:rPr lang="en-US" dirty="0" smtClean="0">
                <a:sym typeface="Wingdings" charset="0"/>
              </a:rPr>
              <a:t> plasma cell</a:t>
            </a:r>
          </a:p>
          <a:p>
            <a:pPr lvl="1"/>
            <a:r>
              <a:rPr lang="en-US" dirty="0" smtClean="0">
                <a:sym typeface="Wingdings" charset="0"/>
              </a:rPr>
              <a:t>Plasma cell secretes antibodies (immunoglobulins)</a:t>
            </a:r>
          </a:p>
          <a:p>
            <a:pPr lvl="1"/>
            <a:r>
              <a:rPr lang="en-US" dirty="0" smtClean="0">
                <a:sym typeface="Wingdings" charset="0"/>
              </a:rPr>
              <a:t>Antibodies mark invaders for destruction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3379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 cells</a:t>
            </a:r>
          </a:p>
          <a:p>
            <a:pPr lvl="1"/>
            <a:r>
              <a:rPr lang="en-US" dirty="0" smtClean="0"/>
              <a:t>Directly damage foreign cells</a:t>
            </a:r>
          </a:p>
          <a:p>
            <a:pPr lvl="1"/>
            <a:r>
              <a:rPr lang="en-US" dirty="0" smtClean="0"/>
              <a:t>Contact infected, mutant, or transplanted cells</a:t>
            </a:r>
          </a:p>
          <a:p>
            <a:pPr lvl="1"/>
            <a:r>
              <a:rPr lang="en-US" dirty="0" smtClean="0">
                <a:sym typeface="Wingdings" charset="0"/>
              </a:rPr>
              <a:t>Develop into cytotoxic T cells that destroy </a:t>
            </a:r>
            <a:br>
              <a:rPr lang="en-US" dirty="0" smtClean="0">
                <a:sym typeface="Wingdings" charset="0"/>
              </a:rPr>
            </a:br>
            <a:r>
              <a:rPr lang="en-US" dirty="0" smtClean="0">
                <a:sym typeface="Wingdings" charset="0"/>
              </a:rPr>
              <a:t>target cells</a:t>
            </a:r>
          </a:p>
          <a:p>
            <a:pPr lvl="2"/>
            <a:r>
              <a:rPr lang="en-US" dirty="0" smtClean="0"/>
              <a:t>Takes several days</a:t>
            </a:r>
          </a:p>
          <a:p>
            <a:pPr lvl="2"/>
            <a:r>
              <a:rPr lang="en-US" dirty="0" smtClean="0"/>
              <a:t>Secretory products form pores in the target cell</a:t>
            </a:r>
            <a:r>
              <a:rPr lang="fr-FR" dirty="0" smtClean="0"/>
              <a:t>'</a:t>
            </a:r>
            <a:r>
              <a:rPr lang="en-US" dirty="0" smtClean="0"/>
              <a:t>s membrane</a:t>
            </a:r>
          </a:p>
          <a:p>
            <a:pPr lvl="2"/>
            <a:r>
              <a:rPr lang="en-US" dirty="0" smtClean="0"/>
              <a:t>Lysis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3584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Null cells</a:t>
            </a:r>
          </a:p>
          <a:p>
            <a:pPr lvl="1"/>
            <a:r>
              <a:rPr lang="en-US" dirty="0" smtClean="0"/>
              <a:t>Most are natural killer cells</a:t>
            </a:r>
          </a:p>
          <a:p>
            <a:pPr lvl="1"/>
            <a:r>
              <a:rPr lang="en-US" dirty="0" smtClean="0"/>
              <a:t>Important defense against viral infections</a:t>
            </a:r>
          </a:p>
          <a:p>
            <a:pPr lvl="1"/>
            <a:r>
              <a:rPr lang="en-US" dirty="0" smtClean="0"/>
              <a:t>Attack virus-infected cells </a:t>
            </a:r>
          </a:p>
          <a:p>
            <a:pPr lvl="2"/>
            <a:r>
              <a:rPr lang="en-US" dirty="0" smtClean="0"/>
              <a:t>Cause lysis</a:t>
            </a:r>
          </a:p>
          <a:p>
            <a:pPr lvl="1"/>
            <a:r>
              <a:rPr lang="en-US" dirty="0" smtClean="0"/>
              <a:t>Fast acting</a:t>
            </a:r>
          </a:p>
          <a:p>
            <a:pPr lvl="2"/>
            <a:r>
              <a:rPr lang="en-US" dirty="0" smtClean="0"/>
              <a:t>Early immune response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Leukocytes</a:t>
            </a:r>
            <a:endParaRPr lang="en-US" dirty="0"/>
          </a:p>
        </p:txBody>
      </p:sp>
      <p:sp>
        <p:nvSpPr>
          <p:cNvPr id="3789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Mast cells</a:t>
            </a:r>
          </a:p>
          <a:p>
            <a:pPr lvl="1"/>
            <a:r>
              <a:rPr lang="en-US" dirty="0" smtClean="0"/>
              <a:t>Immune cells of skin and mucosa</a:t>
            </a:r>
          </a:p>
          <a:p>
            <a:pPr lvl="1"/>
            <a:r>
              <a:rPr lang="en-US" dirty="0" smtClean="0"/>
              <a:t>Secrete histamine and other substances</a:t>
            </a:r>
          </a:p>
          <a:p>
            <a:r>
              <a:rPr lang="en-US" dirty="0" smtClean="0"/>
              <a:t>Dendritic cells</a:t>
            </a:r>
          </a:p>
          <a:p>
            <a:pPr lvl="1"/>
            <a:r>
              <a:rPr lang="en-US" dirty="0" smtClean="0"/>
              <a:t>Similar to macrophages</a:t>
            </a:r>
          </a:p>
          <a:p>
            <a:pPr lvl="1"/>
            <a:r>
              <a:rPr lang="en-US" dirty="0" smtClean="0"/>
              <a:t>Phagocytes</a:t>
            </a:r>
          </a:p>
          <a:p>
            <a:pPr lvl="1"/>
            <a:r>
              <a:rPr lang="en-US" dirty="0" smtClean="0"/>
              <a:t>Activate certain types of T cells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Lymphoid Tissues</a:t>
            </a:r>
            <a:endParaRPr lang="en-US" dirty="0"/>
          </a:p>
        </p:txBody>
      </p:sp>
      <p:sp>
        <p:nvSpPr>
          <p:cNvPr id="3993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Bone marrow</a:t>
            </a:r>
          </a:p>
          <a:p>
            <a:r>
              <a:rPr lang="en-US" dirty="0" smtClean="0"/>
              <a:t>Thymus</a:t>
            </a:r>
          </a:p>
          <a:p>
            <a:r>
              <a:rPr lang="en-US" dirty="0" smtClean="0"/>
              <a:t>Spleen</a:t>
            </a:r>
          </a:p>
          <a:p>
            <a:r>
              <a:rPr lang="en-US" dirty="0" smtClean="0"/>
              <a:t>Lymph nodes</a:t>
            </a:r>
          </a:p>
          <a:p>
            <a:r>
              <a:rPr lang="en-US" dirty="0" smtClean="0"/>
              <a:t>Tonsils</a:t>
            </a:r>
          </a:p>
          <a:p>
            <a:r>
              <a:rPr lang="en-US" dirty="0" smtClean="0"/>
              <a:t>Adenoids</a:t>
            </a:r>
          </a:p>
          <a:p>
            <a:r>
              <a:rPr lang="en-US" dirty="0" smtClean="0"/>
              <a:t>Appendix</a:t>
            </a:r>
          </a:p>
          <a:p>
            <a:r>
              <a:rPr lang="en-US" dirty="0" err="1" smtClean="0"/>
              <a:t>Peyer</a:t>
            </a:r>
            <a:r>
              <a:rPr lang="fr-FR" dirty="0" smtClean="0"/>
              <a:t>'</a:t>
            </a:r>
            <a:r>
              <a:rPr lang="en-US" dirty="0" smtClean="0"/>
              <a:t>s patches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4925" y="132556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1800" dirty="0">
              <a:cs typeface="+mn-cs"/>
            </a:endParaRPr>
          </a:p>
        </p:txBody>
      </p:sp>
      <p:sp>
        <p:nvSpPr>
          <p:cNvPr id="4198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Lymphoid Tissues</a:t>
            </a:r>
            <a:endParaRPr lang="en-US" dirty="0"/>
          </a:p>
        </p:txBody>
      </p:sp>
      <p:sp>
        <p:nvSpPr>
          <p:cNvPr id="41987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Central lymphoid tissue = bone marrow + thymus</a:t>
            </a:r>
          </a:p>
          <a:p>
            <a:r>
              <a:rPr lang="en-US" dirty="0" smtClean="0"/>
              <a:t>Bone marrow</a:t>
            </a:r>
          </a:p>
          <a:p>
            <a:pPr lvl="1"/>
            <a:r>
              <a:rPr lang="en-US" dirty="0" smtClean="0"/>
              <a:t>Hematopoietic stem cells: precursors for all blood cells</a:t>
            </a:r>
          </a:p>
          <a:p>
            <a:pPr lvl="1"/>
            <a:r>
              <a:rPr lang="en-US" dirty="0" smtClean="0"/>
              <a:t>Leukocytes (except T lymphocytes) fully develop in bone marrow</a:t>
            </a:r>
          </a:p>
          <a:p>
            <a:r>
              <a:rPr lang="en-US" dirty="0" smtClean="0"/>
              <a:t>Thymus</a:t>
            </a:r>
          </a:p>
          <a:p>
            <a:pPr lvl="1"/>
            <a:r>
              <a:rPr lang="en-US" dirty="0" smtClean="0"/>
              <a:t>T lymphocytes migrate from bone marrow to thymus</a:t>
            </a:r>
          </a:p>
          <a:p>
            <a:pPr lvl="1"/>
            <a:r>
              <a:rPr lang="en-US" dirty="0" smtClean="0"/>
              <a:t>Reach maturity in thymus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4"/>
          <p:cNvSpPr txBox="1">
            <a:spLocks noChangeArrowheads="1"/>
          </p:cNvSpPr>
          <p:nvPr/>
        </p:nvSpPr>
        <p:spPr bwMode="auto">
          <a:xfrm>
            <a:off x="533400" y="1828800"/>
            <a:ext cx="786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 sz="2800" b="1" dirty="0"/>
          </a:p>
        </p:txBody>
      </p:sp>
      <p:sp>
        <p:nvSpPr>
          <p:cNvPr id="4403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Lymphoid Tissues</a:t>
            </a:r>
            <a:endParaRPr lang="en-US" dirty="0"/>
          </a:p>
        </p:txBody>
      </p:sp>
      <p:sp>
        <p:nvSpPr>
          <p:cNvPr id="44035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Peripheral lymphoid tissue</a:t>
            </a:r>
          </a:p>
          <a:p>
            <a:pPr lvl="1"/>
            <a:r>
              <a:rPr lang="en-US" dirty="0" smtClean="0"/>
              <a:t>Spleen, lymph nodes, tonsils, adenoids, appendix, and </a:t>
            </a:r>
            <a:r>
              <a:rPr lang="en-US" dirty="0" err="1" smtClean="0"/>
              <a:t>Peyer</a:t>
            </a:r>
            <a:r>
              <a:rPr lang="fr-FR" dirty="0" smtClean="0"/>
              <a:t>'</a:t>
            </a:r>
            <a:r>
              <a:rPr lang="en-US" dirty="0" smtClean="0"/>
              <a:t>s patches</a:t>
            </a:r>
          </a:p>
          <a:p>
            <a:pPr lvl="1"/>
            <a:r>
              <a:rPr lang="en-US" dirty="0" smtClean="0"/>
              <a:t>Collections of B cells, T cells, and macrophages</a:t>
            </a:r>
          </a:p>
          <a:p>
            <a:pPr lvl="1"/>
            <a:r>
              <a:rPr lang="en-US" dirty="0" smtClean="0"/>
              <a:t>Trap microorganisms and foreign particles</a:t>
            </a:r>
          </a:p>
          <a:p>
            <a:pPr lvl="1"/>
            <a:r>
              <a:rPr lang="en-US" dirty="0" smtClean="0"/>
              <a:t>Expose them to leukocytes in high concentrations</a:t>
            </a:r>
          </a:p>
          <a:p>
            <a:pPr lvl="1"/>
            <a:r>
              <a:rPr lang="en-US" dirty="0" smtClean="0"/>
              <a:t>Spleen and lymph nodes filter blood and lymph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Lymphoid Tissue</a:t>
            </a:r>
            <a:endParaRPr lang="en-US" dirty="0"/>
          </a:p>
        </p:txBody>
      </p:sp>
      <p:sp>
        <p:nvSpPr>
          <p:cNvPr id="4608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Tonsils and adenoids </a:t>
            </a:r>
          </a:p>
          <a:p>
            <a:pPr lvl="1"/>
            <a:r>
              <a:rPr lang="en-US" dirty="0" smtClean="0"/>
              <a:t>Trap inhaled particles</a:t>
            </a:r>
          </a:p>
          <a:p>
            <a:r>
              <a:rPr lang="en-US" dirty="0" smtClean="0"/>
              <a:t>Appendix and </a:t>
            </a:r>
            <a:r>
              <a:rPr lang="en-US" dirty="0" err="1" smtClean="0"/>
              <a:t>Peyer</a:t>
            </a:r>
            <a:r>
              <a:rPr lang="fr-FR" dirty="0" smtClean="0"/>
              <a:t>'</a:t>
            </a:r>
            <a:r>
              <a:rPr lang="en-US" dirty="0" smtClean="0"/>
              <a:t>s patches </a:t>
            </a:r>
          </a:p>
          <a:p>
            <a:pPr lvl="1"/>
            <a:r>
              <a:rPr lang="en-US" dirty="0" smtClean="0"/>
              <a:t>Trap ingested particles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6" name="Rectangle 31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23.3  Lymphoid tissues.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36" name="Picture 35" descr="figure_23_03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2"/>
          <a:stretch/>
        </p:blipFill>
        <p:spPr>
          <a:xfrm>
            <a:off x="2971800" y="283761"/>
            <a:ext cx="3188208" cy="64539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63701" y="591794"/>
            <a:ext cx="5950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/>
              <a:t>Adenoids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197" y="769594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/>
              <a:t>Tonsils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3103" y="2268194"/>
            <a:ext cx="475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Lymph</a:t>
            </a:r>
          </a:p>
          <a:p>
            <a:pPr algn="l"/>
            <a:r>
              <a:rPr lang="en-US" sz="700" b="1" dirty="0"/>
              <a:t>nodes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6928" y="2176119"/>
            <a:ext cx="53091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Thymus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13753" y="2699994"/>
            <a:ext cx="428322" cy="2000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Heart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3103" y="2598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Spleen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8978" y="2839694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Small</a:t>
            </a:r>
          </a:p>
          <a:p>
            <a:pPr algn="l"/>
            <a:r>
              <a:rPr lang="en-US" sz="700" b="1" dirty="0"/>
              <a:t>intestine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3103" y="3125444"/>
            <a:ext cx="7684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 err="1" smtClean="0"/>
              <a:t>Peyer</a:t>
            </a:r>
            <a:r>
              <a:rPr lang="fr-FR" sz="700" b="1" dirty="0" smtClean="0"/>
              <a:t>'</a:t>
            </a:r>
            <a:r>
              <a:rPr lang="en-US" sz="700" b="1" dirty="0" smtClean="0"/>
              <a:t>s </a:t>
            </a:r>
            <a:r>
              <a:rPr lang="en-US" sz="700" b="1" dirty="0"/>
              <a:t>patch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6278" y="3319119"/>
            <a:ext cx="8258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Large intestine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2628" y="3519144"/>
            <a:ext cx="5950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Appendix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0103" y="4135094"/>
            <a:ext cx="7617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Bone marrow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9453" y="530349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b="1" dirty="0"/>
              <a:t>Lymphatic</a:t>
            </a:r>
          </a:p>
          <a:p>
            <a:pPr algn="l"/>
            <a:r>
              <a:rPr lang="en-US" sz="700" b="1" dirty="0"/>
              <a:t>vessels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0074" y="278152"/>
            <a:ext cx="15468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 Black"/>
                <a:cs typeface="Arial Black"/>
              </a:rPr>
              <a:t>Peripheral lymphoid tissues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31660" y="274977"/>
            <a:ext cx="14045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 Black"/>
                <a:cs typeface="Arial Black"/>
              </a:rPr>
              <a:t>Central lymphoid tissues</a:t>
            </a:r>
          </a:p>
        </p:txBody>
      </p:sp>
      <p:sp>
        <p:nvSpPr>
          <p:cNvPr id="51" name="Freeform 50"/>
          <p:cNvSpPr/>
          <p:nvPr/>
        </p:nvSpPr>
        <p:spPr>
          <a:xfrm>
            <a:off x="3406775" y="2280836"/>
            <a:ext cx="1193800" cy="3175"/>
          </a:xfrm>
          <a:custGeom>
            <a:avLst/>
            <a:gdLst>
              <a:gd name="connsiteX0" fmla="*/ 0 w 1193800"/>
              <a:gd name="connsiteY0" fmla="*/ 0 h 3175"/>
              <a:gd name="connsiteX1" fmla="*/ 1193800 w 119380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3800" h="3175">
                <a:moveTo>
                  <a:pt x="0" y="0"/>
                </a:moveTo>
                <a:lnTo>
                  <a:pt x="1193800" y="3175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5067300" y="1668061"/>
            <a:ext cx="708025" cy="641350"/>
          </a:xfrm>
          <a:custGeom>
            <a:avLst/>
            <a:gdLst>
              <a:gd name="connsiteX0" fmla="*/ 0 w 708025"/>
              <a:gd name="connsiteY0" fmla="*/ 454025 h 641350"/>
              <a:gd name="connsiteX1" fmla="*/ 514350 w 708025"/>
              <a:gd name="connsiteY1" fmla="*/ 641350 h 641350"/>
              <a:gd name="connsiteX2" fmla="*/ 708025 w 708025"/>
              <a:gd name="connsiteY2" fmla="*/ 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8025" h="641350">
                <a:moveTo>
                  <a:pt x="0" y="454025"/>
                </a:moveTo>
                <a:lnTo>
                  <a:pt x="514350" y="641350"/>
                </a:lnTo>
                <a:lnTo>
                  <a:pt x="708025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solidFill>
                  <a:srgbClr val="000000"/>
                </a:solidFill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4432300" y="2582461"/>
            <a:ext cx="152400" cy="174625"/>
          </a:xfrm>
          <a:custGeom>
            <a:avLst/>
            <a:gdLst>
              <a:gd name="connsiteX0" fmla="*/ 0 w 152400"/>
              <a:gd name="connsiteY0" fmla="*/ 174625 h 174625"/>
              <a:gd name="connsiteX1" fmla="*/ 152400 w 152400"/>
              <a:gd name="connsiteY1" fmla="*/ 0 h 17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174625">
                <a:moveTo>
                  <a:pt x="0" y="174625"/>
                </a:moveTo>
                <a:lnTo>
                  <a:pt x="15240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4" name="Freeform 53"/>
          <p:cNvSpPr/>
          <p:nvPr/>
        </p:nvSpPr>
        <p:spPr>
          <a:xfrm>
            <a:off x="4905375" y="2703111"/>
            <a:ext cx="523875" cy="158750"/>
          </a:xfrm>
          <a:custGeom>
            <a:avLst/>
            <a:gdLst>
              <a:gd name="connsiteX0" fmla="*/ 0 w 523875"/>
              <a:gd name="connsiteY0" fmla="*/ 158750 h 158750"/>
              <a:gd name="connsiteX1" fmla="*/ 523875 w 523875"/>
              <a:gd name="connsiteY1" fmla="*/ 0 h 15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" h="158750">
                <a:moveTo>
                  <a:pt x="0" y="158750"/>
                </a:moveTo>
                <a:lnTo>
                  <a:pt x="52387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5" name="Freeform 54"/>
          <p:cNvSpPr/>
          <p:nvPr/>
        </p:nvSpPr>
        <p:spPr>
          <a:xfrm>
            <a:off x="4791075" y="2941236"/>
            <a:ext cx="657225" cy="260350"/>
          </a:xfrm>
          <a:custGeom>
            <a:avLst/>
            <a:gdLst>
              <a:gd name="connsiteX0" fmla="*/ 0 w 657225"/>
              <a:gd name="connsiteY0" fmla="*/ 260350 h 260350"/>
              <a:gd name="connsiteX1" fmla="*/ 657225 w 657225"/>
              <a:gd name="connsiteY1" fmla="*/ 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225" h="260350">
                <a:moveTo>
                  <a:pt x="0" y="260350"/>
                </a:moveTo>
                <a:lnTo>
                  <a:pt x="6572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4895850" y="3220636"/>
            <a:ext cx="533400" cy="0"/>
          </a:xfrm>
          <a:custGeom>
            <a:avLst/>
            <a:gdLst>
              <a:gd name="connsiteX0" fmla="*/ 533400 w 533400"/>
              <a:gd name="connsiteY0" fmla="*/ 0 h 0"/>
              <a:gd name="connsiteX1" fmla="*/ 0 w 5334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400">
                <a:moveTo>
                  <a:pt x="533400" y="0"/>
                </a:moveTo>
                <a:lnTo>
                  <a:pt x="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4371975" y="3423836"/>
            <a:ext cx="1066800" cy="3175"/>
          </a:xfrm>
          <a:custGeom>
            <a:avLst/>
            <a:gdLst>
              <a:gd name="connsiteX0" fmla="*/ 0 w 1066800"/>
              <a:gd name="connsiteY0" fmla="*/ 0 h 3175"/>
              <a:gd name="connsiteX1" fmla="*/ 1066800 w 106680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6800" h="3175">
                <a:moveTo>
                  <a:pt x="0" y="0"/>
                </a:moveTo>
                <a:lnTo>
                  <a:pt x="1066800" y="3175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4489450" y="3611161"/>
            <a:ext cx="949325" cy="0"/>
          </a:xfrm>
          <a:custGeom>
            <a:avLst/>
            <a:gdLst>
              <a:gd name="connsiteX0" fmla="*/ 0 w 949325"/>
              <a:gd name="connsiteY0" fmla="*/ 0 h 0"/>
              <a:gd name="connsiteX1" fmla="*/ 949325 w 9493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9325">
                <a:moveTo>
                  <a:pt x="0" y="0"/>
                </a:moveTo>
                <a:lnTo>
                  <a:pt x="949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9" name="Freeform 58"/>
          <p:cNvSpPr/>
          <p:nvPr/>
        </p:nvSpPr>
        <p:spPr>
          <a:xfrm>
            <a:off x="3635375" y="3922311"/>
            <a:ext cx="590550" cy="317500"/>
          </a:xfrm>
          <a:custGeom>
            <a:avLst/>
            <a:gdLst>
              <a:gd name="connsiteX0" fmla="*/ 0 w 590550"/>
              <a:gd name="connsiteY0" fmla="*/ 317500 h 317500"/>
              <a:gd name="connsiteX1" fmla="*/ 590550 w 590550"/>
              <a:gd name="connsiteY1" fmla="*/ 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0550" h="317500">
                <a:moveTo>
                  <a:pt x="0" y="317500"/>
                </a:moveTo>
                <a:lnTo>
                  <a:pt x="59055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4959350" y="5414561"/>
            <a:ext cx="482600" cy="3175"/>
          </a:xfrm>
          <a:custGeom>
            <a:avLst/>
            <a:gdLst>
              <a:gd name="connsiteX0" fmla="*/ 0 w 482600"/>
              <a:gd name="connsiteY0" fmla="*/ 0 h 3175"/>
              <a:gd name="connsiteX1" fmla="*/ 482600 w 48260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600" h="3175">
                <a:moveTo>
                  <a:pt x="0" y="0"/>
                </a:moveTo>
                <a:lnTo>
                  <a:pt x="482600" y="3175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4505325" y="696511"/>
            <a:ext cx="933450" cy="701675"/>
          </a:xfrm>
          <a:custGeom>
            <a:avLst/>
            <a:gdLst>
              <a:gd name="connsiteX0" fmla="*/ 0 w 933450"/>
              <a:gd name="connsiteY0" fmla="*/ 701675 h 701675"/>
              <a:gd name="connsiteX1" fmla="*/ 933450 w 933450"/>
              <a:gd name="connsiteY1" fmla="*/ 0 h 70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450" h="701675">
                <a:moveTo>
                  <a:pt x="0" y="701675"/>
                </a:moveTo>
                <a:lnTo>
                  <a:pt x="93345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4562475" y="867961"/>
            <a:ext cx="873125" cy="657225"/>
          </a:xfrm>
          <a:custGeom>
            <a:avLst/>
            <a:gdLst>
              <a:gd name="connsiteX0" fmla="*/ 0 w 873125"/>
              <a:gd name="connsiteY0" fmla="*/ 657225 h 657225"/>
              <a:gd name="connsiteX1" fmla="*/ 873125 w 873125"/>
              <a:gd name="connsiteY1" fmla="*/ 0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3125" h="657225">
                <a:moveTo>
                  <a:pt x="0" y="657225"/>
                </a:moveTo>
                <a:lnTo>
                  <a:pt x="8731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23.2 Pathogens That Activate the Immune Response</a:t>
            </a:r>
            <a:endParaRPr lang="en-US" dirty="0"/>
          </a:p>
        </p:txBody>
      </p:sp>
      <p:sp>
        <p:nvSpPr>
          <p:cNvPr id="5017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Four different classes of pathogens</a:t>
            </a:r>
          </a:p>
          <a:p>
            <a:pPr lvl="1"/>
            <a:r>
              <a:rPr lang="en-US" dirty="0" smtClean="0"/>
              <a:t>Viruses</a:t>
            </a:r>
          </a:p>
          <a:p>
            <a:pPr lvl="1"/>
            <a:r>
              <a:rPr lang="en-US" dirty="0" smtClean="0"/>
              <a:t>Bacteria</a:t>
            </a:r>
          </a:p>
          <a:p>
            <a:pPr lvl="1"/>
            <a:r>
              <a:rPr lang="en-US" dirty="0" smtClean="0"/>
              <a:t>Fungi</a:t>
            </a:r>
          </a:p>
          <a:p>
            <a:pPr lvl="1"/>
            <a:r>
              <a:rPr lang="en-US" dirty="0" smtClean="0"/>
              <a:t>Parasites </a:t>
            </a:r>
          </a:p>
          <a:p>
            <a:r>
              <a:rPr lang="en-US" dirty="0" smtClean="0"/>
              <a:t>Ability to cause a disease = virulence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Viruses</a:t>
            </a:r>
            <a:endParaRPr lang="en-US" dirty="0"/>
          </a:p>
        </p:txBody>
      </p:sp>
      <p:sp>
        <p:nvSpPr>
          <p:cNvPr id="5222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Smallest (20–400 nm)</a:t>
            </a:r>
          </a:p>
          <a:p>
            <a:r>
              <a:rPr lang="en-US" dirty="0" smtClean="0"/>
              <a:t>Single- or double-stranded nucleic acid surrounded by protein coat</a:t>
            </a:r>
          </a:p>
          <a:p>
            <a:r>
              <a:rPr lang="en-US" dirty="0" smtClean="0"/>
              <a:t>Requires a host</a:t>
            </a:r>
          </a:p>
          <a:p>
            <a:r>
              <a:rPr lang="en-US" dirty="0" smtClean="0"/>
              <a:t>Uses host</a:t>
            </a:r>
            <a:r>
              <a:rPr lang="fr-FR" dirty="0" smtClean="0"/>
              <a:t>'</a:t>
            </a:r>
            <a:r>
              <a:rPr lang="en-US" dirty="0" smtClean="0"/>
              <a:t>s metabolic machinery to reproduce</a:t>
            </a:r>
          </a:p>
          <a:p>
            <a:pPr lvl="1"/>
            <a:r>
              <a:rPr lang="en-US" dirty="0" smtClean="0"/>
              <a:t>Can double the number of viral organisms hourly</a:t>
            </a:r>
          </a:p>
          <a:p>
            <a:r>
              <a:rPr lang="en-US" dirty="0" smtClean="0"/>
              <a:t>Target specific cells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Bacteria</a:t>
            </a:r>
            <a:endParaRPr lang="en-US" dirty="0"/>
          </a:p>
        </p:txBody>
      </p:sp>
      <p:sp>
        <p:nvSpPr>
          <p:cNvPr id="5427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Smallest (1–5 μm)</a:t>
            </a:r>
          </a:p>
          <a:p>
            <a:r>
              <a:rPr lang="en-US" dirty="0" smtClean="0"/>
              <a:t>Prokaryotic</a:t>
            </a:r>
          </a:p>
          <a:p>
            <a:r>
              <a:rPr lang="en-US" dirty="0" smtClean="0"/>
              <a:t>Most have single circular chromosome</a:t>
            </a:r>
          </a:p>
          <a:p>
            <a:r>
              <a:rPr lang="en-US" dirty="0" smtClean="0"/>
              <a:t>Gram-positive or -negative</a:t>
            </a:r>
          </a:p>
          <a:p>
            <a:pPr lvl="1"/>
            <a:r>
              <a:rPr lang="en-US" dirty="0" smtClean="0"/>
              <a:t>Ability to break up cresyl violet</a:t>
            </a:r>
          </a:p>
          <a:p>
            <a:r>
              <a:rPr lang="en-US" dirty="0" smtClean="0"/>
              <a:t>Invade tissue</a:t>
            </a:r>
          </a:p>
          <a:p>
            <a:pPr lvl="1"/>
            <a:r>
              <a:rPr lang="en-US" dirty="0" smtClean="0"/>
              <a:t>Colonization: adhesin</a:t>
            </a:r>
          </a:p>
          <a:p>
            <a:r>
              <a:rPr lang="en-US" dirty="0" smtClean="0"/>
              <a:t>Release endotoxins or exotoxins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Fungi</a:t>
            </a:r>
            <a:endParaRPr lang="en-US" dirty="0"/>
          </a:p>
        </p:txBody>
      </p:sp>
      <p:sp>
        <p:nvSpPr>
          <p:cNvPr id="5632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Constitute their own kingdom; neither plants nor animals</a:t>
            </a:r>
          </a:p>
          <a:p>
            <a:r>
              <a:rPr lang="en-US" dirty="0" smtClean="0"/>
              <a:t>Eukaryotic</a:t>
            </a:r>
          </a:p>
          <a:p>
            <a:r>
              <a:rPr lang="en-US" dirty="0" smtClean="0"/>
              <a:t>Yeast, molds, and mushrooms</a:t>
            </a:r>
          </a:p>
          <a:p>
            <a:r>
              <a:rPr lang="en-US" dirty="0" smtClean="0"/>
              <a:t>Absorb nutrients from environment</a:t>
            </a:r>
          </a:p>
          <a:p>
            <a:r>
              <a:rPr lang="en-US" dirty="0" smtClean="0"/>
              <a:t>Grow slowly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Parasites</a:t>
            </a:r>
            <a:endParaRPr lang="en-US" dirty="0"/>
          </a:p>
        </p:txBody>
      </p:sp>
      <p:sp>
        <p:nvSpPr>
          <p:cNvPr id="5837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Invading organisms</a:t>
            </a:r>
          </a:p>
          <a:p>
            <a:r>
              <a:rPr lang="en-US" dirty="0" smtClean="0"/>
              <a:t>Protozoans </a:t>
            </a:r>
          </a:p>
          <a:p>
            <a:pPr lvl="1"/>
            <a:r>
              <a:rPr lang="en-US" dirty="0" smtClean="0"/>
              <a:t>Example: </a:t>
            </a:r>
            <a:r>
              <a:rPr lang="en-US" i="1" dirty="0" smtClean="0"/>
              <a:t>Trypanosoma brucei</a:t>
            </a:r>
            <a:r>
              <a:rPr lang="en-US" dirty="0" smtClean="0"/>
              <a:t> (sleeping sickness)</a:t>
            </a:r>
          </a:p>
          <a:p>
            <a:r>
              <a:rPr lang="en-US" dirty="0" smtClean="0"/>
              <a:t>Metazoans</a:t>
            </a:r>
          </a:p>
          <a:p>
            <a:pPr lvl="1"/>
            <a:r>
              <a:rPr lang="en-US" dirty="0" smtClean="0"/>
              <a:t>Examples: worms, arthropods</a:t>
            </a:r>
          </a:p>
          <a:p>
            <a:r>
              <a:rPr lang="en-US" dirty="0" smtClean="0"/>
              <a:t>10 </a:t>
            </a:r>
            <a:r>
              <a:rPr lang="en-US" dirty="0" smtClean="0">
                <a:sym typeface="Symbol" charset="0"/>
              </a:rPr>
              <a:t>μm to 20 cm in size; most less than 50 μm</a:t>
            </a:r>
          </a:p>
          <a:p>
            <a:r>
              <a:rPr lang="en-US" dirty="0" smtClean="0"/>
              <a:t>Vector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8" name="Rectangle 35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23.4  Classes of pathogens: </a:t>
            </a:r>
            <a:r>
              <a:rPr lang="en-US" sz="1200" dirty="0" smtClean="0">
                <a:solidFill>
                  <a:srgbClr val="000000"/>
                </a:solidFill>
              </a:rPr>
              <a:t>viruses, bacteria, fungi, and parasites.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40" name="Picture 39" descr="figure_23_04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6"/>
          <a:stretch/>
        </p:blipFill>
        <p:spPr>
          <a:xfrm>
            <a:off x="266700" y="558800"/>
            <a:ext cx="8601456" cy="55505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698956" y="590719"/>
            <a:ext cx="590839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Capsid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3189" y="997117"/>
            <a:ext cx="895648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Nucleic acid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0157" y="1919983"/>
            <a:ext cx="421481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Rod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2159" y="2326381"/>
            <a:ext cx="453970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8826" y="2491481"/>
            <a:ext cx="672157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Cell wall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5126" y="539914"/>
            <a:ext cx="895648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Nucleic acid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5224" y="1280746"/>
            <a:ext cx="753297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Flagellum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0787" y="2169746"/>
            <a:ext cx="80082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Plasma</a:t>
            </a:r>
          </a:p>
          <a:p>
            <a:pPr algn="l"/>
            <a:r>
              <a:rPr lang="en-US" sz="950" b="1" dirty="0"/>
              <a:t>membrane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60982" y="3816513"/>
            <a:ext cx="814151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Hookworm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7118" y="3816515"/>
            <a:ext cx="1044542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Trypanosomes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121" y="4570049"/>
            <a:ext cx="929496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Erythrocytes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79689" y="5450582"/>
            <a:ext cx="89552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50" b="1" dirty="0"/>
              <a:t>Microscopic</a:t>
            </a:r>
          </a:p>
          <a:p>
            <a:pPr algn="ctr"/>
            <a:r>
              <a:rPr lang="en-US" sz="950" b="1" dirty="0"/>
              <a:t>parasites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112" y="5602981"/>
            <a:ext cx="784884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Tapeworm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4123" y="5450580"/>
            <a:ext cx="89552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50" b="1" dirty="0"/>
              <a:t>Microscopic</a:t>
            </a:r>
          </a:p>
          <a:p>
            <a:pPr algn="ctr"/>
            <a:r>
              <a:rPr lang="en-US" sz="950" b="1" dirty="0"/>
              <a:t>fungi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1933" y="5886608"/>
            <a:ext cx="813973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dirty="0">
                <a:latin typeface="Arial Black"/>
                <a:cs typeface="Arial Black"/>
              </a:rPr>
              <a:t>Parasites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98384" y="5886608"/>
            <a:ext cx="550270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dirty="0">
                <a:latin typeface="Arial Black"/>
                <a:cs typeface="Arial Black"/>
              </a:rPr>
              <a:t>Fungi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76184" y="3088375"/>
            <a:ext cx="550270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dirty="0">
                <a:latin typeface="Arial Black"/>
                <a:cs typeface="Arial Black"/>
              </a:rPr>
              <a:t>Virus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98516" y="3088374"/>
            <a:ext cx="875006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dirty="0">
                <a:latin typeface="Arial Black"/>
                <a:cs typeface="Arial Black"/>
              </a:rPr>
              <a:t>Bacterium</a:t>
            </a:r>
          </a:p>
        </p:txBody>
      </p:sp>
      <p:sp>
        <p:nvSpPr>
          <p:cNvPr id="59" name="Freeform 58"/>
          <p:cNvSpPr/>
          <p:nvPr/>
        </p:nvSpPr>
        <p:spPr>
          <a:xfrm>
            <a:off x="2066925" y="723900"/>
            <a:ext cx="666750" cy="120650"/>
          </a:xfrm>
          <a:custGeom>
            <a:avLst/>
            <a:gdLst>
              <a:gd name="connsiteX0" fmla="*/ 0 w 666750"/>
              <a:gd name="connsiteY0" fmla="*/ 120650 h 120650"/>
              <a:gd name="connsiteX1" fmla="*/ 374650 w 666750"/>
              <a:gd name="connsiteY1" fmla="*/ 0 h 120650"/>
              <a:gd name="connsiteX2" fmla="*/ 666750 w 666750"/>
              <a:gd name="connsiteY2" fmla="*/ 0 h 12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750" h="120650">
                <a:moveTo>
                  <a:pt x="0" y="120650"/>
                </a:moveTo>
                <a:lnTo>
                  <a:pt x="374650" y="0"/>
                </a:lnTo>
                <a:lnTo>
                  <a:pt x="66675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1939925" y="1108075"/>
            <a:ext cx="796925" cy="0"/>
          </a:xfrm>
          <a:custGeom>
            <a:avLst/>
            <a:gdLst>
              <a:gd name="connsiteX0" fmla="*/ 0 w 796925"/>
              <a:gd name="connsiteY0" fmla="*/ 0 h 0"/>
              <a:gd name="connsiteX1" fmla="*/ 796925 w 7969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6925">
                <a:moveTo>
                  <a:pt x="0" y="0"/>
                </a:moveTo>
                <a:lnTo>
                  <a:pt x="7969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1898650" y="2038350"/>
            <a:ext cx="276225" cy="3175"/>
          </a:xfrm>
          <a:custGeom>
            <a:avLst/>
            <a:gdLst>
              <a:gd name="connsiteX0" fmla="*/ 0 w 276225"/>
              <a:gd name="connsiteY0" fmla="*/ 0 h 3175"/>
              <a:gd name="connsiteX1" fmla="*/ 276225 w 276225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6225" h="3175">
                <a:moveTo>
                  <a:pt x="0" y="0"/>
                </a:moveTo>
                <a:lnTo>
                  <a:pt x="276225" y="31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2527300" y="2447925"/>
            <a:ext cx="434975" cy="76200"/>
          </a:xfrm>
          <a:custGeom>
            <a:avLst/>
            <a:gdLst>
              <a:gd name="connsiteX0" fmla="*/ 0 w 434975"/>
              <a:gd name="connsiteY0" fmla="*/ 76200 h 76200"/>
              <a:gd name="connsiteX1" fmla="*/ 161925 w 434975"/>
              <a:gd name="connsiteY1" fmla="*/ 0 h 76200"/>
              <a:gd name="connsiteX2" fmla="*/ 434975 w 434975"/>
              <a:gd name="connsiteY2" fmla="*/ 317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4975" h="76200">
                <a:moveTo>
                  <a:pt x="0" y="76200"/>
                </a:moveTo>
                <a:lnTo>
                  <a:pt x="161925" y="0"/>
                </a:lnTo>
                <a:lnTo>
                  <a:pt x="434975" y="31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5346700" y="2085975"/>
            <a:ext cx="98425" cy="444500"/>
          </a:xfrm>
          <a:custGeom>
            <a:avLst/>
            <a:gdLst>
              <a:gd name="connsiteX0" fmla="*/ 0 w 98425"/>
              <a:gd name="connsiteY0" fmla="*/ 444500 h 444500"/>
              <a:gd name="connsiteX1" fmla="*/ 98425 w 98425"/>
              <a:gd name="connsiteY1" fmla="*/ 0 h 44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425" h="444500">
                <a:moveTo>
                  <a:pt x="0" y="444500"/>
                </a:moveTo>
                <a:lnTo>
                  <a:pt x="9842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6337300" y="733425"/>
            <a:ext cx="0" cy="844550"/>
          </a:xfrm>
          <a:custGeom>
            <a:avLst/>
            <a:gdLst>
              <a:gd name="connsiteX0" fmla="*/ 0 w 0"/>
              <a:gd name="connsiteY0" fmla="*/ 844550 h 844550"/>
              <a:gd name="connsiteX1" fmla="*/ 0 w 0"/>
              <a:gd name="connsiteY1" fmla="*/ 0 h 84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844550">
                <a:moveTo>
                  <a:pt x="0" y="844550"/>
                </a:moveTo>
                <a:lnTo>
                  <a:pt x="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7337425" y="1949450"/>
            <a:ext cx="307975" cy="333375"/>
          </a:xfrm>
          <a:custGeom>
            <a:avLst/>
            <a:gdLst>
              <a:gd name="connsiteX0" fmla="*/ 0 w 307975"/>
              <a:gd name="connsiteY0" fmla="*/ 0 h 333375"/>
              <a:gd name="connsiteX1" fmla="*/ 307975 w 307975"/>
              <a:gd name="connsiteY1" fmla="*/ 333375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75" h="333375">
                <a:moveTo>
                  <a:pt x="0" y="0"/>
                </a:moveTo>
                <a:lnTo>
                  <a:pt x="307975" y="3333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6" name="Freeform 65"/>
          <p:cNvSpPr/>
          <p:nvPr/>
        </p:nvSpPr>
        <p:spPr>
          <a:xfrm>
            <a:off x="8197850" y="1479550"/>
            <a:ext cx="130175" cy="320675"/>
          </a:xfrm>
          <a:custGeom>
            <a:avLst/>
            <a:gdLst>
              <a:gd name="connsiteX0" fmla="*/ 0 w 130175"/>
              <a:gd name="connsiteY0" fmla="*/ 320675 h 320675"/>
              <a:gd name="connsiteX1" fmla="*/ 130175 w 130175"/>
              <a:gd name="connsiteY1" fmla="*/ 0 h 32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0175" h="320675">
                <a:moveTo>
                  <a:pt x="0" y="320675"/>
                </a:moveTo>
                <a:lnTo>
                  <a:pt x="1301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5619750" y="3943350"/>
            <a:ext cx="1082675" cy="149225"/>
          </a:xfrm>
          <a:custGeom>
            <a:avLst/>
            <a:gdLst>
              <a:gd name="connsiteX0" fmla="*/ 0 w 1082675"/>
              <a:gd name="connsiteY0" fmla="*/ 149225 h 149225"/>
              <a:gd name="connsiteX1" fmla="*/ 800100 w 1082675"/>
              <a:gd name="connsiteY1" fmla="*/ 3175 h 149225"/>
              <a:gd name="connsiteX2" fmla="*/ 1082675 w 1082675"/>
              <a:gd name="connsiteY2" fmla="*/ 0 h 14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2675" h="149225">
                <a:moveTo>
                  <a:pt x="0" y="149225"/>
                </a:moveTo>
                <a:lnTo>
                  <a:pt x="800100" y="3175"/>
                </a:lnTo>
                <a:lnTo>
                  <a:pt x="10826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8" name="Freeform 67"/>
          <p:cNvSpPr/>
          <p:nvPr/>
        </p:nvSpPr>
        <p:spPr>
          <a:xfrm>
            <a:off x="5775325" y="3946525"/>
            <a:ext cx="647700" cy="977900"/>
          </a:xfrm>
          <a:custGeom>
            <a:avLst/>
            <a:gdLst>
              <a:gd name="connsiteX0" fmla="*/ 0 w 647700"/>
              <a:gd name="connsiteY0" fmla="*/ 977900 h 977900"/>
              <a:gd name="connsiteX1" fmla="*/ 647700 w 647700"/>
              <a:gd name="connsiteY1" fmla="*/ 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47700" h="977900">
                <a:moveTo>
                  <a:pt x="0" y="977900"/>
                </a:moveTo>
                <a:lnTo>
                  <a:pt x="6477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9" name="Freeform 68"/>
          <p:cNvSpPr/>
          <p:nvPr/>
        </p:nvSpPr>
        <p:spPr>
          <a:xfrm>
            <a:off x="6210300" y="4689475"/>
            <a:ext cx="473075" cy="0"/>
          </a:xfrm>
          <a:custGeom>
            <a:avLst/>
            <a:gdLst>
              <a:gd name="connsiteX0" fmla="*/ 0 w 473075"/>
              <a:gd name="connsiteY0" fmla="*/ 0 h 0"/>
              <a:gd name="connsiteX1" fmla="*/ 473075 w 4730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075">
                <a:moveTo>
                  <a:pt x="0" y="0"/>
                </a:moveTo>
                <a:lnTo>
                  <a:pt x="4730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0" name="Freeform 69"/>
          <p:cNvSpPr/>
          <p:nvPr/>
        </p:nvSpPr>
        <p:spPr>
          <a:xfrm>
            <a:off x="6229350" y="4686300"/>
            <a:ext cx="307975" cy="212725"/>
          </a:xfrm>
          <a:custGeom>
            <a:avLst/>
            <a:gdLst>
              <a:gd name="connsiteX0" fmla="*/ 0 w 307975"/>
              <a:gd name="connsiteY0" fmla="*/ 212725 h 212725"/>
              <a:gd name="connsiteX1" fmla="*/ 307975 w 307975"/>
              <a:gd name="connsiteY1" fmla="*/ 0 h 2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75" h="212725">
                <a:moveTo>
                  <a:pt x="0" y="212725"/>
                </a:moveTo>
                <a:lnTo>
                  <a:pt x="307975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23.3 Organization of the Body</a:t>
            </a:r>
            <a:r>
              <a:rPr lang="fr-FR" dirty="0" smtClean="0"/>
              <a:t>'</a:t>
            </a:r>
            <a:r>
              <a:rPr lang="en-US" dirty="0" smtClean="0"/>
              <a:t>s Defenses</a:t>
            </a:r>
            <a:endParaRPr lang="en-US" dirty="0"/>
          </a:p>
        </p:txBody>
      </p:sp>
      <p:sp>
        <p:nvSpPr>
          <p:cNvPr id="6246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Nonspecific defenses (innate defenses)</a:t>
            </a:r>
          </a:p>
          <a:p>
            <a:pPr lvl="1"/>
            <a:r>
              <a:rPr lang="en-US" dirty="0" smtClean="0"/>
              <a:t>Pathogen-associated molecular patterns (PAMPs)</a:t>
            </a:r>
          </a:p>
          <a:p>
            <a:pPr lvl="1"/>
            <a:r>
              <a:rPr lang="en-US" dirty="0" smtClean="0"/>
              <a:t>Pattern recognition receptors: bind PAMPs</a:t>
            </a:r>
          </a:p>
          <a:p>
            <a:pPr lvl="1"/>
            <a:r>
              <a:rPr lang="en-US" dirty="0" smtClean="0"/>
              <a:t>Physical barriers</a:t>
            </a:r>
          </a:p>
          <a:p>
            <a:pPr lvl="1"/>
            <a:r>
              <a:rPr lang="en-US" dirty="0" smtClean="0"/>
              <a:t>Inflammation</a:t>
            </a:r>
          </a:p>
          <a:p>
            <a:pPr lvl="1"/>
            <a:r>
              <a:rPr lang="en-US" dirty="0" smtClean="0"/>
              <a:t>Interferons</a:t>
            </a:r>
          </a:p>
          <a:p>
            <a:pPr lvl="1"/>
            <a:r>
              <a:rPr lang="en-US" dirty="0" smtClean="0"/>
              <a:t>Natural killer cells</a:t>
            </a:r>
          </a:p>
          <a:p>
            <a:pPr lvl="1"/>
            <a:r>
              <a:rPr lang="en-US" dirty="0" smtClean="0"/>
              <a:t>Complement system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6451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Inflammation: series of events causing accumulation of proteins, fluid, and phagocytes in an injured or invaded area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Macrophages engulf debris and foreign matter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Capillaries dilate and become more permeable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Foreign matter is contained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More leukocytes migrate to area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Leukocytes clear infection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6656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Phagocytosis of pathogens</a:t>
            </a:r>
          </a:p>
          <a:p>
            <a:pPr lvl="1"/>
            <a:r>
              <a:rPr lang="en-US" dirty="0" smtClean="0"/>
              <a:t>Proteins on microbes bound by macrophages</a:t>
            </a:r>
          </a:p>
          <a:p>
            <a:pPr lvl="1"/>
            <a:r>
              <a:rPr lang="en-US" dirty="0" smtClean="0"/>
              <a:t>Triggers phagocytosis and secretions</a:t>
            </a:r>
          </a:p>
          <a:p>
            <a:pPr lvl="1"/>
            <a:r>
              <a:rPr lang="en-US" dirty="0" smtClean="0"/>
              <a:t>Secretory products trigger subsequent steps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3" name="Rectangle 18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23.5a  Major events in local inflammation.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23" name="Picture 22" descr="figure_23_05a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68"/>
          <a:stretch/>
        </p:blipFill>
        <p:spPr>
          <a:xfrm>
            <a:off x="266700" y="1244600"/>
            <a:ext cx="8601456" cy="41697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824884" y="1419614"/>
            <a:ext cx="1502397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Cytokines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0648" y="1980970"/>
            <a:ext cx="1808674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Macrophage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808" y="1518649"/>
            <a:ext cx="1195582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Foreign</a:t>
            </a:r>
          </a:p>
          <a:p>
            <a:pPr algn="l"/>
            <a:r>
              <a:rPr lang="en-US" sz="2150" b="1" dirty="0"/>
              <a:t>matter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6572" y="2744521"/>
            <a:ext cx="1053146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Tissue</a:t>
            </a:r>
          </a:p>
          <a:p>
            <a:pPr algn="l"/>
            <a:r>
              <a:rPr lang="en-US" sz="2150" b="1" dirty="0"/>
              <a:t>injury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8730" y="4228455"/>
            <a:ext cx="139509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Microbes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4317" y="3927226"/>
            <a:ext cx="1351652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Capillary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543" y="5008829"/>
            <a:ext cx="5225916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50" b="1" dirty="0"/>
              <a:t>Phagocytosis by nearby macrophages</a:t>
            </a:r>
          </a:p>
        </p:txBody>
      </p:sp>
      <p:sp>
        <p:nvSpPr>
          <p:cNvPr id="31" name="Freeform 30"/>
          <p:cNvSpPr/>
          <p:nvPr/>
        </p:nvSpPr>
        <p:spPr>
          <a:xfrm>
            <a:off x="4276725" y="1571625"/>
            <a:ext cx="765175" cy="184150"/>
          </a:xfrm>
          <a:custGeom>
            <a:avLst/>
            <a:gdLst>
              <a:gd name="connsiteX0" fmla="*/ 765175 w 765175"/>
              <a:gd name="connsiteY0" fmla="*/ 0 h 184150"/>
              <a:gd name="connsiteX1" fmla="*/ 0 w 765175"/>
              <a:gd name="connsiteY1" fmla="*/ 85725 h 184150"/>
              <a:gd name="connsiteX2" fmla="*/ 711200 w 765175"/>
              <a:gd name="connsiteY2" fmla="*/ 184150 h 18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5175" h="184150">
                <a:moveTo>
                  <a:pt x="765175" y="0"/>
                </a:moveTo>
                <a:lnTo>
                  <a:pt x="0" y="85725"/>
                </a:lnTo>
                <a:lnTo>
                  <a:pt x="711200" y="18415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4632325" y="2235200"/>
            <a:ext cx="1054100" cy="0"/>
          </a:xfrm>
          <a:custGeom>
            <a:avLst/>
            <a:gdLst>
              <a:gd name="connsiteX0" fmla="*/ 0 w 1054100"/>
              <a:gd name="connsiteY0" fmla="*/ 0 h 0"/>
              <a:gd name="connsiteX1" fmla="*/ 1054100 w 1054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4100">
                <a:moveTo>
                  <a:pt x="0" y="0"/>
                </a:moveTo>
                <a:lnTo>
                  <a:pt x="1054100" y="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6162675" y="2232025"/>
            <a:ext cx="393700" cy="396875"/>
          </a:xfrm>
          <a:custGeom>
            <a:avLst/>
            <a:gdLst>
              <a:gd name="connsiteX0" fmla="*/ 0 w 393700"/>
              <a:gd name="connsiteY0" fmla="*/ 244475 h 396875"/>
              <a:gd name="connsiteX1" fmla="*/ 393700 w 393700"/>
              <a:gd name="connsiteY1" fmla="*/ 0 h 396875"/>
              <a:gd name="connsiteX2" fmla="*/ 206375 w 393700"/>
              <a:gd name="connsiteY2" fmla="*/ 396875 h 39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3700" h="396875">
                <a:moveTo>
                  <a:pt x="0" y="244475"/>
                </a:moveTo>
                <a:lnTo>
                  <a:pt x="393700" y="0"/>
                </a:lnTo>
                <a:lnTo>
                  <a:pt x="206375" y="396875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6848475" y="2962275"/>
            <a:ext cx="854075" cy="0"/>
          </a:xfrm>
          <a:custGeom>
            <a:avLst/>
            <a:gdLst>
              <a:gd name="connsiteX0" fmla="*/ 0 w 854075"/>
              <a:gd name="connsiteY0" fmla="*/ 0 h 0"/>
              <a:gd name="connsiteX1" fmla="*/ 854075 w 8540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4075">
                <a:moveTo>
                  <a:pt x="0" y="0"/>
                </a:moveTo>
                <a:lnTo>
                  <a:pt x="854075" y="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5829300" y="3508375"/>
            <a:ext cx="365125" cy="809625"/>
          </a:xfrm>
          <a:custGeom>
            <a:avLst/>
            <a:gdLst>
              <a:gd name="connsiteX0" fmla="*/ 0 w 365125"/>
              <a:gd name="connsiteY0" fmla="*/ 98425 h 809625"/>
              <a:gd name="connsiteX1" fmla="*/ 365125 w 365125"/>
              <a:gd name="connsiteY1" fmla="*/ 809625 h 809625"/>
              <a:gd name="connsiteX2" fmla="*/ 225425 w 365125"/>
              <a:gd name="connsiteY2" fmla="*/ 0 h 80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125" h="809625">
                <a:moveTo>
                  <a:pt x="0" y="98425"/>
                </a:moveTo>
                <a:lnTo>
                  <a:pt x="365125" y="809625"/>
                </a:lnTo>
                <a:lnTo>
                  <a:pt x="225425" y="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2254250" y="4143375"/>
            <a:ext cx="533400" cy="3175"/>
          </a:xfrm>
          <a:custGeom>
            <a:avLst/>
            <a:gdLst>
              <a:gd name="connsiteX0" fmla="*/ 0 w 533400"/>
              <a:gd name="connsiteY0" fmla="*/ 0 h 3175"/>
              <a:gd name="connsiteX1" fmla="*/ 533400 w 533400"/>
              <a:gd name="connsiteY1" fmla="*/ 3175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400" h="3175">
                <a:moveTo>
                  <a:pt x="0" y="0"/>
                </a:moveTo>
                <a:lnTo>
                  <a:pt x="533400" y="3175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7065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Dilation and increased permeability in capillaries</a:t>
            </a:r>
          </a:p>
          <a:p>
            <a:pPr lvl="1"/>
            <a:r>
              <a:rPr lang="en-US" dirty="0" smtClean="0"/>
              <a:t>Damaged mast cells secrete</a:t>
            </a:r>
            <a:r>
              <a:rPr lang="en-US" dirty="0" smtClean="0">
                <a:sym typeface="Wingdings" charset="0"/>
              </a:rPr>
              <a:t> histamine</a:t>
            </a:r>
          </a:p>
          <a:p>
            <a:pPr lvl="1"/>
            <a:r>
              <a:rPr lang="en-US" dirty="0" smtClean="0">
                <a:sym typeface="Wingdings" charset="0"/>
              </a:rPr>
              <a:t>Histamine triggers dilation and increases permeability</a:t>
            </a:r>
          </a:p>
          <a:p>
            <a:pPr lvl="1"/>
            <a:r>
              <a:rPr lang="en-US" dirty="0" smtClean="0">
                <a:sym typeface="Wingdings" charset="0"/>
              </a:rPr>
              <a:t>Result: increased blood flow and increased movement of proteins and cells to injured tissue</a:t>
            </a:r>
            <a:endParaRPr lang="en-US" dirty="0" smtClean="0"/>
          </a:p>
          <a:p>
            <a:r>
              <a:rPr lang="en-US" dirty="0" smtClean="0"/>
              <a:t>Symptoms of inflammation induced by effects of histamine</a:t>
            </a:r>
          </a:p>
          <a:p>
            <a:pPr lvl="1"/>
            <a:r>
              <a:rPr lang="en-US" dirty="0" smtClean="0"/>
              <a:t>Redness</a:t>
            </a:r>
          </a:p>
          <a:p>
            <a:pPr lvl="1"/>
            <a:r>
              <a:rPr lang="en-US" dirty="0" smtClean="0"/>
              <a:t>Heat</a:t>
            </a:r>
          </a:p>
          <a:p>
            <a:pPr lvl="1"/>
            <a:r>
              <a:rPr lang="en-US" dirty="0" smtClean="0"/>
              <a:t>Edema</a:t>
            </a:r>
          </a:p>
          <a:p>
            <a:pPr lvl="1"/>
            <a:r>
              <a:rPr lang="en-US" dirty="0" smtClean="0"/>
              <a:t>Pain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0" name="Rectangle 9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23.5b  Major events in local inflammation.</a:t>
            </a:r>
          </a:p>
        </p:txBody>
      </p:sp>
      <p:pic>
        <p:nvPicPr>
          <p:cNvPr id="14" name="Picture 13" descr="figure_23_05b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6"/>
          <a:stretch/>
        </p:blipFill>
        <p:spPr>
          <a:xfrm>
            <a:off x="266700" y="1244600"/>
            <a:ext cx="8601456" cy="41719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86241" y="1455447"/>
            <a:ext cx="157820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Defensive</a:t>
            </a:r>
          </a:p>
          <a:p>
            <a:pPr algn="l"/>
            <a:r>
              <a:rPr lang="en-US" sz="2300" b="1" dirty="0"/>
              <a:t>proteins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7740" y="3320602"/>
            <a:ext cx="159433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Histamine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7341" y="4110501"/>
            <a:ext cx="88906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Fluid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369" y="4995147"/>
            <a:ext cx="6503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200" b="1" dirty="0"/>
              <a:t>Dilation and increased permeability of capillary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747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Containment of foreign matter</a:t>
            </a:r>
          </a:p>
          <a:p>
            <a:pPr lvl="1"/>
            <a:r>
              <a:rPr lang="en-US" dirty="0" smtClean="0"/>
              <a:t>Mast cells and </a:t>
            </a:r>
            <a:r>
              <a:rPr lang="en-US" dirty="0"/>
              <a:t>basophils </a:t>
            </a:r>
            <a:r>
              <a:rPr lang="en-US" dirty="0" smtClean="0"/>
              <a:t>→</a:t>
            </a:r>
            <a:r>
              <a:rPr lang="en-US" dirty="0" smtClean="0">
                <a:sym typeface="Wingdings" charset="0"/>
              </a:rPr>
              <a:t> heparin</a:t>
            </a:r>
          </a:p>
          <a:p>
            <a:pPr lvl="1"/>
            <a:r>
              <a:rPr lang="en-US" dirty="0" smtClean="0"/>
              <a:t>Heparin prevents clot formation initially so blood cells can access area</a:t>
            </a:r>
          </a:p>
          <a:p>
            <a:r>
              <a:rPr lang="en-US" dirty="0" smtClean="0"/>
              <a:t>Clotting factors eventually form a clot in tissue, which prevents spread of foreign matter</a:t>
            </a:r>
          </a:p>
          <a:p>
            <a:r>
              <a:rPr lang="en-US" dirty="0" smtClean="0"/>
              <a:t>Eventually forms a scab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8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23.5c  Major events in local inflammation.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13" name="Picture 12" descr="figure_23_05c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6"/>
          <a:stretch/>
        </p:blipFill>
        <p:spPr>
          <a:xfrm>
            <a:off x="266700" y="1231900"/>
            <a:ext cx="8601456" cy="41931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4656" y="1736644"/>
            <a:ext cx="134820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Clotting</a:t>
            </a:r>
          </a:p>
          <a:p>
            <a:pPr algn="l"/>
            <a:r>
              <a:rPr lang="en-US" sz="2300" b="1" dirty="0"/>
              <a:t>proteins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9416" y="3252162"/>
            <a:ext cx="128281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Heparin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900" y="5001459"/>
            <a:ext cx="59689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200" b="1" dirty="0"/>
              <a:t>Containment of bacteria and foreign matter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7885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Leukocyte migration and proliferation</a:t>
            </a:r>
          </a:p>
          <a:p>
            <a:pPr lvl="1"/>
            <a:r>
              <a:rPr lang="en-US" dirty="0" smtClean="0"/>
              <a:t>1 hour: neutrophil migration</a:t>
            </a:r>
          </a:p>
          <a:p>
            <a:pPr lvl="1"/>
            <a:r>
              <a:rPr lang="en-US" dirty="0" smtClean="0"/>
              <a:t>10 hours: monocyte </a:t>
            </a:r>
            <a:r>
              <a:rPr lang="en-US" dirty="0"/>
              <a:t>migration </a:t>
            </a:r>
            <a:r>
              <a:rPr lang="en-US" dirty="0" smtClean="0"/>
              <a:t>→</a:t>
            </a:r>
            <a:r>
              <a:rPr lang="en-US" dirty="0" smtClean="0">
                <a:sym typeface="Wingdings" charset="0"/>
              </a:rPr>
              <a:t> macrophages</a:t>
            </a:r>
          </a:p>
          <a:p>
            <a:r>
              <a:rPr lang="en-US" dirty="0" smtClean="0"/>
              <a:t>Cells move from blood to tissue triggered by cytokines</a:t>
            </a:r>
            <a:endParaRPr lang="en-US" dirty="0" smtClean="0">
              <a:sym typeface="Wingdings" charset="0"/>
            </a:endParaRPr>
          </a:p>
          <a:p>
            <a:pPr lvl="1"/>
            <a:r>
              <a:rPr lang="en-US" dirty="0" smtClean="0">
                <a:sym typeface="Wingdings" charset="0"/>
              </a:rPr>
              <a:t>Margination: move to vasculature wall</a:t>
            </a:r>
          </a:p>
          <a:p>
            <a:pPr lvl="1"/>
            <a:r>
              <a:rPr lang="en-US" dirty="0" smtClean="0">
                <a:sym typeface="Wingdings" charset="0"/>
              </a:rPr>
              <a:t>Attachment: bind to wall</a:t>
            </a:r>
          </a:p>
          <a:p>
            <a:pPr lvl="1"/>
            <a:r>
              <a:rPr lang="en-US" dirty="0" smtClean="0">
                <a:sym typeface="Wingdings" charset="0"/>
              </a:rPr>
              <a:t>Diapedesis: move between endothelial cells</a:t>
            </a:r>
          </a:p>
          <a:p>
            <a:r>
              <a:rPr lang="en-US" dirty="0" smtClean="0">
                <a:sym typeface="Wingdings" charset="0"/>
              </a:rPr>
              <a:t>Movement in tissue to injury: chemotaxis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8089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Leukocyte proliferation</a:t>
            </a:r>
          </a:p>
          <a:p>
            <a:pPr lvl="1"/>
            <a:r>
              <a:rPr lang="en-US" dirty="0" smtClean="0"/>
              <a:t>Cytokines travel to bone marrow</a:t>
            </a:r>
          </a:p>
          <a:p>
            <a:pPr lvl="1"/>
            <a:r>
              <a:rPr lang="en-US" dirty="0" smtClean="0"/>
              <a:t>Stimulate production of leukocytes</a:t>
            </a:r>
          </a:p>
          <a:p>
            <a:pPr lvl="1"/>
            <a:r>
              <a:rPr lang="en-US" dirty="0" smtClean="0"/>
              <a:t>Increase four to five times in circulating numbers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1" name="Rectangle 10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23.5d  Major events in local inflammation.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15" name="Picture 14" descr="figure_23_05d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4"/>
          <a:stretch/>
        </p:blipFill>
        <p:spPr>
          <a:xfrm>
            <a:off x="266700" y="1231900"/>
            <a:ext cx="8601456" cy="41910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3671" y="1479656"/>
            <a:ext cx="185601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Margination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206" y="3061512"/>
            <a:ext cx="170925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b="1" dirty="0"/>
              <a:t>Leukocyte</a:t>
            </a:r>
          </a:p>
          <a:p>
            <a:pPr algn="l"/>
            <a:r>
              <a:rPr lang="en-US" sz="2300" b="1" dirty="0"/>
              <a:t>diapedesis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899" y="4979361"/>
            <a:ext cx="52479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200" b="1" dirty="0"/>
              <a:t>Leukocyte proliferation and migration</a:t>
            </a:r>
          </a:p>
        </p:txBody>
      </p:sp>
      <p:sp>
        <p:nvSpPr>
          <p:cNvPr id="19" name="Freeform 18"/>
          <p:cNvSpPr/>
          <p:nvPr/>
        </p:nvSpPr>
        <p:spPr>
          <a:xfrm>
            <a:off x="2886075" y="1717675"/>
            <a:ext cx="812800" cy="241300"/>
          </a:xfrm>
          <a:custGeom>
            <a:avLst/>
            <a:gdLst>
              <a:gd name="connsiteX0" fmla="*/ 0 w 812800"/>
              <a:gd name="connsiteY0" fmla="*/ 241300 h 241300"/>
              <a:gd name="connsiteX1" fmla="*/ 812800 w 812800"/>
              <a:gd name="connsiteY1" fmla="*/ 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2800" h="241300">
                <a:moveTo>
                  <a:pt x="0" y="241300"/>
                </a:moveTo>
                <a:lnTo>
                  <a:pt x="812800" y="0"/>
                </a:lnTo>
              </a:path>
            </a:pathLst>
          </a:custGeom>
          <a:ln w="254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486150" y="2974975"/>
            <a:ext cx="215900" cy="323850"/>
          </a:xfrm>
          <a:custGeom>
            <a:avLst/>
            <a:gdLst>
              <a:gd name="connsiteX0" fmla="*/ 0 w 215900"/>
              <a:gd name="connsiteY0" fmla="*/ 0 h 323850"/>
              <a:gd name="connsiteX1" fmla="*/ 215900 w 215900"/>
              <a:gd name="connsiteY1" fmla="*/ 32385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5900" h="323850">
                <a:moveTo>
                  <a:pt x="0" y="0"/>
                </a:moveTo>
                <a:lnTo>
                  <a:pt x="215900" y="32385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8499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Clearing of foreign particles</a:t>
            </a:r>
          </a:p>
          <a:p>
            <a:pPr lvl="1"/>
            <a:r>
              <a:rPr lang="en-US" dirty="0" smtClean="0"/>
              <a:t>Once foreign particles are present in damaged or invaded tissue, leukocytes must clear the tissue</a:t>
            </a:r>
          </a:p>
          <a:p>
            <a:pPr lvl="2"/>
            <a:r>
              <a:rPr lang="en-US" dirty="0" smtClean="0"/>
              <a:t>Phagocytosis</a:t>
            </a:r>
          </a:p>
          <a:p>
            <a:pPr lvl="2"/>
            <a:r>
              <a:rPr lang="en-US" dirty="0" smtClean="0"/>
              <a:t>Secretion of cytokines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Figure 23.5e  Major events in local inflammation.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11" name="Picture 10" descr="figure_23_05e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6"/>
          <a:stretch/>
        </p:blipFill>
        <p:spPr>
          <a:xfrm>
            <a:off x="266700" y="1244600"/>
            <a:ext cx="8601456" cy="41719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899" y="5004594"/>
            <a:ext cx="57972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200" b="1" dirty="0"/>
              <a:t>Continued activity of recruited leukocytes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ext Box 4"/>
          <p:cNvSpPr txBox="1">
            <a:spLocks noChangeArrowheads="1"/>
          </p:cNvSpPr>
          <p:nvPr/>
        </p:nvSpPr>
        <p:spPr bwMode="auto">
          <a:xfrm>
            <a:off x="4860925" y="2743200"/>
            <a:ext cx="428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 b="1" dirty="0"/>
          </a:p>
        </p:txBody>
      </p:sp>
      <p:sp>
        <p:nvSpPr>
          <p:cNvPr id="8909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89091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Steps of phagocytosis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Attachment</a:t>
            </a:r>
          </a:p>
          <a:p>
            <a:pPr lvl="2"/>
            <a:r>
              <a:rPr lang="en-US" dirty="0" smtClean="0"/>
              <a:t>Specific: damaged cells or protein-targeted cells</a:t>
            </a:r>
          </a:p>
          <a:p>
            <a:pPr lvl="2"/>
            <a:r>
              <a:rPr lang="en-US" dirty="0" smtClean="0"/>
              <a:t>Proteins = opsonins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Internalization</a:t>
            </a:r>
          </a:p>
          <a:p>
            <a:pPr lvl="2"/>
            <a:r>
              <a:rPr lang="en-US" dirty="0" smtClean="0"/>
              <a:t>Takes approximately 0.01 sec</a:t>
            </a:r>
          </a:p>
          <a:p>
            <a:pPr lvl="2"/>
            <a:r>
              <a:rPr lang="en-US" dirty="0" smtClean="0"/>
              <a:t>Phagosome + lysosome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secondary lysosome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Degradation</a:t>
            </a:r>
          </a:p>
          <a:p>
            <a:pPr lvl="2"/>
            <a:r>
              <a:rPr lang="en-US" dirty="0" smtClean="0"/>
              <a:t>Lysosome enzymes degrade phagocytosed product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Exocyosis</a:t>
            </a:r>
          </a:p>
          <a:p>
            <a:pPr lvl="2"/>
            <a:r>
              <a:rPr lang="en-US" dirty="0" smtClean="0"/>
              <a:t>Elimination of some degradation products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60" name="Rectangle 27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23.6a  Phagocytosis.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32" name="Picture 31" descr="figure_23_06a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7"/>
          <a:stretch/>
        </p:blipFill>
        <p:spPr>
          <a:xfrm>
            <a:off x="1765300" y="349990"/>
            <a:ext cx="5440070" cy="62599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675180" y="1375577"/>
            <a:ext cx="8332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Nucleus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36282" y="1172600"/>
            <a:ext cx="112958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Phagosome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3641" y="2554891"/>
            <a:ext cx="109580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Lysosomes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5232" y="2897232"/>
            <a:ext cx="90743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Enzymes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8865" y="2326623"/>
            <a:ext cx="112082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Lysosome-</a:t>
            </a:r>
          </a:p>
          <a:p>
            <a:pPr algn="l"/>
            <a:r>
              <a:rPr lang="en-US" sz="1300" b="1" dirty="0"/>
              <a:t>phagosome</a:t>
            </a:r>
          </a:p>
          <a:p>
            <a:pPr algn="l"/>
            <a:r>
              <a:rPr lang="en-US" sz="1300" b="1" dirty="0"/>
              <a:t>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7368" y="3484766"/>
            <a:ext cx="10371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Secondary</a:t>
            </a:r>
          </a:p>
          <a:p>
            <a:pPr algn="l"/>
            <a:r>
              <a:rPr lang="en-US" sz="1300" b="1" dirty="0"/>
              <a:t>lysosome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751" y="4194905"/>
            <a:ext cx="888960" cy="49244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Bacterial</a:t>
            </a:r>
          </a:p>
          <a:p>
            <a:pPr algn="l"/>
            <a:r>
              <a:rPr lang="en-US" sz="1300" b="1" dirty="0"/>
              <a:t>debris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572" y="4216128"/>
            <a:ext cx="90743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Enzymes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0061" y="4879701"/>
            <a:ext cx="10438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00" b="1" dirty="0"/>
              <a:t>Exocytotic</a:t>
            </a:r>
          </a:p>
          <a:p>
            <a:pPr algn="l"/>
            <a:r>
              <a:rPr lang="en-US" sz="1300" b="1" dirty="0"/>
              <a:t>vesicle</a:t>
            </a:r>
          </a:p>
        </p:txBody>
      </p:sp>
      <p:sp>
        <p:nvSpPr>
          <p:cNvPr id="42" name="Freeform 41"/>
          <p:cNvSpPr/>
          <p:nvPr/>
        </p:nvSpPr>
        <p:spPr>
          <a:xfrm>
            <a:off x="4295775" y="5026819"/>
            <a:ext cx="638175" cy="714375"/>
          </a:xfrm>
          <a:custGeom>
            <a:avLst/>
            <a:gdLst>
              <a:gd name="connsiteX0" fmla="*/ 0 w 638175"/>
              <a:gd name="connsiteY0" fmla="*/ 714375 h 714375"/>
              <a:gd name="connsiteX1" fmla="*/ 638175 w 638175"/>
              <a:gd name="connsiteY1" fmla="*/ 0 h 714375"/>
              <a:gd name="connsiteX2" fmla="*/ 212725 w 638175"/>
              <a:gd name="connsiteY2" fmla="*/ 63500 h 71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175" h="714375">
                <a:moveTo>
                  <a:pt x="0" y="714375"/>
                </a:moveTo>
                <a:lnTo>
                  <a:pt x="638175" y="0"/>
                </a:lnTo>
                <a:lnTo>
                  <a:pt x="212725" y="6350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4962525" y="4102894"/>
            <a:ext cx="301625" cy="260350"/>
          </a:xfrm>
          <a:custGeom>
            <a:avLst/>
            <a:gdLst>
              <a:gd name="connsiteX0" fmla="*/ 0 w 301625"/>
              <a:gd name="connsiteY0" fmla="*/ 133350 h 260350"/>
              <a:gd name="connsiteX1" fmla="*/ 301625 w 301625"/>
              <a:gd name="connsiteY1" fmla="*/ 260350 h 260350"/>
              <a:gd name="connsiteX2" fmla="*/ 19050 w 301625"/>
              <a:gd name="connsiteY2" fmla="*/ 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625" h="260350">
                <a:moveTo>
                  <a:pt x="0" y="133350"/>
                </a:moveTo>
                <a:lnTo>
                  <a:pt x="301625" y="260350"/>
                </a:lnTo>
                <a:lnTo>
                  <a:pt x="19050" y="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3654425" y="4337844"/>
            <a:ext cx="333375" cy="6350"/>
          </a:xfrm>
          <a:custGeom>
            <a:avLst/>
            <a:gdLst>
              <a:gd name="connsiteX0" fmla="*/ 0 w 333375"/>
              <a:gd name="connsiteY0" fmla="*/ 0 h 6350"/>
              <a:gd name="connsiteX1" fmla="*/ 333375 w 333375"/>
              <a:gd name="connsiteY1" fmla="*/ 635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375" h="6350">
                <a:moveTo>
                  <a:pt x="0" y="0"/>
                </a:moveTo>
                <a:lnTo>
                  <a:pt x="333375" y="635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3794125" y="3439319"/>
            <a:ext cx="327025" cy="104775"/>
          </a:xfrm>
          <a:custGeom>
            <a:avLst/>
            <a:gdLst>
              <a:gd name="connsiteX0" fmla="*/ 0 w 327025"/>
              <a:gd name="connsiteY0" fmla="*/ 104775 h 104775"/>
              <a:gd name="connsiteX1" fmla="*/ 327025 w 327025"/>
              <a:gd name="connsiteY1" fmla="*/ 0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7025" h="104775">
                <a:moveTo>
                  <a:pt x="0" y="104775"/>
                </a:moveTo>
                <a:lnTo>
                  <a:pt x="327025" y="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5838825" y="3051969"/>
            <a:ext cx="285750" cy="82550"/>
          </a:xfrm>
          <a:custGeom>
            <a:avLst/>
            <a:gdLst>
              <a:gd name="connsiteX0" fmla="*/ 0 w 285750"/>
              <a:gd name="connsiteY0" fmla="*/ 82550 h 82550"/>
              <a:gd name="connsiteX1" fmla="*/ 285750 w 285750"/>
              <a:gd name="connsiteY1" fmla="*/ 9525 h 82550"/>
              <a:gd name="connsiteX2" fmla="*/ 50800 w 285750"/>
              <a:gd name="connsiteY2" fmla="*/ 0 h 8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750" h="82550">
                <a:moveTo>
                  <a:pt x="0" y="82550"/>
                </a:moveTo>
                <a:lnTo>
                  <a:pt x="285750" y="9525"/>
                </a:lnTo>
                <a:lnTo>
                  <a:pt x="50800" y="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5784850" y="2515394"/>
            <a:ext cx="349250" cy="358775"/>
          </a:xfrm>
          <a:custGeom>
            <a:avLst/>
            <a:gdLst>
              <a:gd name="connsiteX0" fmla="*/ 79375 w 349250"/>
              <a:gd name="connsiteY0" fmla="*/ 358775 h 358775"/>
              <a:gd name="connsiteX1" fmla="*/ 349250 w 349250"/>
              <a:gd name="connsiteY1" fmla="*/ 180975 h 358775"/>
              <a:gd name="connsiteX2" fmla="*/ 0 w 349250"/>
              <a:gd name="connsiteY2" fmla="*/ 0 h 35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250" h="358775">
                <a:moveTo>
                  <a:pt x="79375" y="358775"/>
                </a:moveTo>
                <a:lnTo>
                  <a:pt x="349250" y="180975"/>
                </a:lnTo>
                <a:lnTo>
                  <a:pt x="0" y="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4587875" y="1420019"/>
            <a:ext cx="3175" cy="273050"/>
          </a:xfrm>
          <a:custGeom>
            <a:avLst/>
            <a:gdLst>
              <a:gd name="connsiteX0" fmla="*/ 0 w 3175"/>
              <a:gd name="connsiteY0" fmla="*/ 273050 h 273050"/>
              <a:gd name="connsiteX1" fmla="*/ 3175 w 3175"/>
              <a:gd name="connsiteY1" fmla="*/ 0 h 2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" h="273050">
                <a:moveTo>
                  <a:pt x="0" y="273050"/>
                </a:moveTo>
                <a:cubicBezTo>
                  <a:pt x="1058" y="182033"/>
                  <a:pt x="2117" y="91017"/>
                  <a:pt x="3175" y="0"/>
                </a:cubicBez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3086100" y="1623219"/>
            <a:ext cx="3175" cy="279400"/>
          </a:xfrm>
          <a:custGeom>
            <a:avLst/>
            <a:gdLst>
              <a:gd name="connsiteX0" fmla="*/ 3175 w 3175"/>
              <a:gd name="connsiteY0" fmla="*/ 279400 h 279400"/>
              <a:gd name="connsiteX1" fmla="*/ 0 w 3175"/>
              <a:gd name="connsiteY1" fmla="*/ 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" h="279400">
                <a:moveTo>
                  <a:pt x="3175" y="279400"/>
                </a:moveTo>
                <a:cubicBezTo>
                  <a:pt x="2117" y="186267"/>
                  <a:pt x="1058" y="93133"/>
                  <a:pt x="0" y="0"/>
                </a:cubicBez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igure_23_06b_label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1" y="323942"/>
            <a:ext cx="7042099" cy="6300826"/>
          </a:xfrm>
          <a:prstGeom prst="rect">
            <a:avLst/>
          </a:prstGeom>
        </p:spPr>
      </p:pic>
      <p:sp>
        <p:nvSpPr>
          <p:cNvPr id="93186" name="Rectangle 5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23.6b  Phagocytosis.</a:t>
            </a:r>
            <a:endParaRPr lang="en-US" sz="1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9523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Secretion of cytokines by phagocytes</a:t>
            </a:r>
          </a:p>
          <a:p>
            <a:pPr lvl="1"/>
            <a:r>
              <a:rPr lang="en-US" dirty="0" smtClean="0"/>
              <a:t>Trigger: attachment of foreign particle to phagocyte</a:t>
            </a:r>
          </a:p>
          <a:p>
            <a:pPr lvl="1"/>
            <a:r>
              <a:rPr lang="en-US" dirty="0" smtClean="0"/>
              <a:t>Secretory products of macrophages</a:t>
            </a:r>
          </a:p>
          <a:p>
            <a:pPr lvl="2"/>
            <a:r>
              <a:rPr lang="en-US" dirty="0" smtClean="0"/>
              <a:t>Interleukins: communicate between leukocytes</a:t>
            </a:r>
          </a:p>
          <a:p>
            <a:pPr lvl="3"/>
            <a:r>
              <a:rPr lang="en-US" dirty="0" smtClean="0"/>
              <a:t>IL-1</a:t>
            </a:r>
          </a:p>
          <a:p>
            <a:pPr lvl="3"/>
            <a:r>
              <a:rPr lang="en-US" dirty="0" smtClean="0"/>
              <a:t>IL-6</a:t>
            </a:r>
          </a:p>
          <a:p>
            <a:pPr lvl="2"/>
            <a:r>
              <a:rPr lang="en-US" dirty="0" smtClean="0"/>
              <a:t>TNF-</a:t>
            </a:r>
            <a:r>
              <a:rPr lang="en-US" dirty="0" smtClean="0">
                <a:sym typeface="Symbol" charset="0"/>
              </a:rPr>
              <a:t>α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97282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Actions of interleukins and TNF-</a:t>
            </a:r>
            <a:r>
              <a:rPr lang="en-US" dirty="0" smtClean="0">
                <a:sym typeface="Symbol" charset="0"/>
              </a:rPr>
              <a:t>α</a:t>
            </a:r>
            <a:endParaRPr lang="en-US" dirty="0" smtClean="0"/>
          </a:p>
          <a:p>
            <a:pPr lvl="1"/>
            <a:r>
              <a:rPr lang="en-US" dirty="0" smtClean="0"/>
              <a:t>Bone marrow: produces and secretes more leukocytes</a:t>
            </a:r>
          </a:p>
          <a:p>
            <a:pPr lvl="2"/>
            <a:r>
              <a:rPr lang="en-US" dirty="0" smtClean="0"/>
              <a:t>Act as endogenous pyrogens</a:t>
            </a:r>
          </a:p>
          <a:p>
            <a:pPr lvl="2"/>
            <a:r>
              <a:rPr lang="en-US" dirty="0" smtClean="0"/>
              <a:t>Stimulate fever via hypothalamus</a:t>
            </a:r>
          </a:p>
          <a:p>
            <a:pPr lvl="2"/>
            <a:r>
              <a:rPr lang="en-US" dirty="0" smtClean="0"/>
              <a:t>Hypothalamus increases body temperature via prostaglandins</a:t>
            </a:r>
          </a:p>
          <a:p>
            <a:pPr lvl="1"/>
            <a:r>
              <a:rPr lang="en-US" dirty="0" smtClean="0"/>
              <a:t>Liver: acute-phase proteins</a:t>
            </a:r>
          </a:p>
          <a:p>
            <a:pPr lvl="1"/>
            <a:r>
              <a:rPr lang="en-US" dirty="0" smtClean="0"/>
              <a:t>IL-1 stimulates</a:t>
            </a:r>
            <a:r>
              <a:rPr lang="en-US" dirty="0" smtClean="0">
                <a:sym typeface="Wingdings" charset="0"/>
              </a:rPr>
              <a:t> proliferation and differentiation of B and T lymphocytes</a:t>
            </a:r>
          </a:p>
          <a:p>
            <a:pPr lvl="2"/>
            <a:r>
              <a:rPr lang="en-US" dirty="0" smtClean="0">
                <a:sym typeface="Wingdings" charset="0"/>
              </a:rPr>
              <a:t>B cells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antibody production</a:t>
            </a:r>
          </a:p>
          <a:p>
            <a:pPr lvl="2"/>
            <a:r>
              <a:rPr lang="en-US" dirty="0" smtClean="0">
                <a:sym typeface="Wingdings" charset="0"/>
              </a:rPr>
              <a:t>T cells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cell-mediated immunity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9933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Interferons</a:t>
            </a:r>
          </a:p>
          <a:p>
            <a:pPr lvl="1"/>
            <a:r>
              <a:rPr lang="en-US" dirty="0" smtClean="0"/>
              <a:t>Proteins secreted by leukocytes and virus-infected cells</a:t>
            </a:r>
          </a:p>
          <a:p>
            <a:pPr lvl="1"/>
            <a:r>
              <a:rPr lang="en-US" dirty="0" smtClean="0"/>
              <a:t>Induce virus resistance in neighboring cells</a:t>
            </a:r>
          </a:p>
          <a:p>
            <a:pPr lvl="1"/>
            <a:r>
              <a:rPr lang="en-US" dirty="0" smtClean="0"/>
              <a:t>Viral infection </a:t>
            </a:r>
          </a:p>
          <a:p>
            <a:pPr lvl="1"/>
            <a:r>
              <a:rPr lang="en-US" dirty="0" smtClean="0"/>
              <a:t>RNA invades host cell, using that cell</a:t>
            </a:r>
            <a:r>
              <a:rPr lang="fr-FR" dirty="0" smtClean="0"/>
              <a:t>'</a:t>
            </a:r>
            <a:r>
              <a:rPr lang="en-US" dirty="0" smtClean="0"/>
              <a:t>s replication machinery to reproduce</a:t>
            </a:r>
          </a:p>
          <a:p>
            <a:pPr lvl="1"/>
            <a:r>
              <a:rPr lang="en-US" dirty="0" smtClean="0"/>
              <a:t>Viral nucleic acid stimulates host cell to secrete interferon-</a:t>
            </a:r>
            <a:r>
              <a:rPr lang="en-US" dirty="0" smtClean="0">
                <a:sym typeface="Symbol" charset="0"/>
              </a:rPr>
              <a:t>α</a:t>
            </a:r>
            <a:r>
              <a:rPr lang="en-US" dirty="0" smtClean="0"/>
              <a:t> and interferon-</a:t>
            </a:r>
            <a:r>
              <a:rPr lang="en-US" dirty="0" smtClean="0">
                <a:sym typeface="Symbol" charset="0"/>
              </a:rPr>
              <a:t>β</a:t>
            </a:r>
            <a:endParaRPr lang="en-US" dirty="0" smtClean="0"/>
          </a:p>
          <a:p>
            <a:pPr lvl="2"/>
            <a:r>
              <a:rPr lang="en-US" dirty="0" smtClean="0"/>
              <a:t>Kills host cells</a:t>
            </a:r>
          </a:p>
          <a:p>
            <a:pPr lvl="2"/>
            <a:r>
              <a:rPr lang="en-US" dirty="0" smtClean="0"/>
              <a:t>Induces neighboring cells to resist viral infection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10137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Interferon-</a:t>
            </a:r>
            <a:r>
              <a:rPr lang="en-US" dirty="0" smtClean="0">
                <a:sym typeface="Symbol" charset="0"/>
              </a:rPr>
              <a:t>γ</a:t>
            </a:r>
            <a:endParaRPr lang="en-US" dirty="0" smtClean="0"/>
          </a:p>
          <a:p>
            <a:pPr lvl="1"/>
            <a:r>
              <a:rPr lang="en-US" dirty="0" smtClean="0"/>
              <a:t>Secreted from active T cells and NK cells</a:t>
            </a:r>
          </a:p>
          <a:p>
            <a:pPr lvl="1"/>
            <a:r>
              <a:rPr lang="en-US" dirty="0" smtClean="0"/>
              <a:t>Inhibits viral replication</a:t>
            </a:r>
          </a:p>
          <a:p>
            <a:pPr lvl="1"/>
            <a:r>
              <a:rPr lang="en-US" dirty="0" smtClean="0"/>
              <a:t>Enhances phagocytosis by macrophages</a:t>
            </a:r>
          </a:p>
          <a:p>
            <a:pPr lvl="1"/>
            <a:r>
              <a:rPr lang="en-US" dirty="0" smtClean="0"/>
              <a:t>Boosts antibody production in B cells</a:t>
            </a:r>
          </a:p>
          <a:p>
            <a:pPr lvl="1"/>
            <a:r>
              <a:rPr lang="en-US" dirty="0" smtClean="0"/>
              <a:t>Helps activate NK cells and cytotoxic T cells</a:t>
            </a:r>
          </a:p>
          <a:p>
            <a:pPr lvl="1"/>
            <a:r>
              <a:rPr lang="en-US" dirty="0" smtClean="0"/>
              <a:t>Inhibits cell division</a:t>
            </a:r>
            <a:r>
              <a:rPr lang="en-US" dirty="0" smtClean="0">
                <a:sym typeface="Wingdings" charset="0"/>
              </a:rPr>
              <a:t>—</a:t>
            </a:r>
            <a:r>
              <a:rPr lang="en-US" dirty="0" smtClean="0"/>
              <a:t>defense against cancer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10342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Natural killer cells</a:t>
            </a:r>
          </a:p>
          <a:p>
            <a:pPr lvl="1"/>
            <a:r>
              <a:rPr lang="en-US" dirty="0" smtClean="0"/>
              <a:t>Recognize abnormal or infected cells</a:t>
            </a:r>
          </a:p>
          <a:p>
            <a:pPr lvl="2"/>
            <a:r>
              <a:rPr lang="en-US" dirty="0" smtClean="0"/>
              <a:t>Cause lysis of pathogen by secreting perforins</a:t>
            </a:r>
          </a:p>
          <a:p>
            <a:pPr lvl="1"/>
            <a:r>
              <a:rPr lang="en-US" dirty="0" smtClean="0"/>
              <a:t>Can attack virus-infected cells without identifying virus</a:t>
            </a:r>
          </a:p>
          <a:p>
            <a:pPr lvl="2"/>
            <a:r>
              <a:rPr lang="en-US" dirty="0" smtClean="0"/>
              <a:t>Early defense against viral infections</a:t>
            </a:r>
          </a:p>
          <a:p>
            <a:pPr lvl="1"/>
            <a:r>
              <a:rPr lang="en-US" dirty="0" smtClean="0"/>
              <a:t>Part of specific immune response</a:t>
            </a:r>
          </a:p>
          <a:p>
            <a:pPr lvl="1"/>
            <a:r>
              <a:rPr lang="en-US" dirty="0" smtClean="0"/>
              <a:t>Actions are enhanced by interleukin-2 produced by T cells as well as by antibodies produced by plasma cells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10547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Complement system</a:t>
            </a:r>
          </a:p>
          <a:p>
            <a:pPr lvl="1"/>
            <a:r>
              <a:rPr lang="en-US" dirty="0" smtClean="0"/>
              <a:t>Plasma proteins that lyse foreign cells, especially bacteria</a:t>
            </a:r>
          </a:p>
          <a:p>
            <a:pPr lvl="1"/>
            <a:r>
              <a:rPr lang="en-US" dirty="0" smtClean="0"/>
              <a:t>Part of response to antibodies (specific immunity) in addition to nonspecific response</a:t>
            </a:r>
          </a:p>
          <a:p>
            <a:pPr lvl="1"/>
            <a:r>
              <a:rPr lang="en-US" dirty="0" smtClean="0"/>
              <a:t>Approximately 30 proteins participate in the response cascade, resulting in MAC reaching the surface of bacteria</a:t>
            </a:r>
          </a:p>
          <a:p>
            <a:pPr lvl="1"/>
            <a:r>
              <a:rPr lang="en-US" dirty="0" smtClean="0"/>
              <a:t>MAC pierces the bacterial membrane, causing lysis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10752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Activation of complement system</a:t>
            </a:r>
          </a:p>
          <a:p>
            <a:pPr lvl="1"/>
            <a:r>
              <a:rPr lang="en-US" dirty="0" smtClean="0"/>
              <a:t>Classical pathway </a:t>
            </a:r>
          </a:p>
          <a:p>
            <a:pPr lvl="2"/>
            <a:r>
              <a:rPr lang="en-US" dirty="0" smtClean="0"/>
              <a:t>Binding to antibodies attached to bacteria</a:t>
            </a:r>
          </a:p>
          <a:p>
            <a:pPr lvl="2"/>
            <a:r>
              <a:rPr lang="en-US" dirty="0" smtClean="0"/>
              <a:t>Part of specific defense mechanisms</a:t>
            </a:r>
          </a:p>
          <a:p>
            <a:pPr lvl="1"/>
            <a:r>
              <a:rPr lang="en-US" dirty="0" smtClean="0"/>
              <a:t>Lectin pathway</a:t>
            </a:r>
          </a:p>
          <a:p>
            <a:pPr lvl="2"/>
            <a:r>
              <a:rPr lang="en-US" dirty="0" smtClean="0"/>
              <a:t>Binding to mannose-containing carbohydrates on bacteria or viruses</a:t>
            </a:r>
          </a:p>
          <a:p>
            <a:pPr lvl="1"/>
            <a:r>
              <a:rPr lang="en-US" dirty="0" smtClean="0"/>
              <a:t>Alternative pathway </a:t>
            </a:r>
          </a:p>
          <a:p>
            <a:pPr lvl="2"/>
            <a:r>
              <a:rPr lang="en-US" dirty="0" smtClean="0"/>
              <a:t>Binding to carbohydrates on bacterial cell walls</a:t>
            </a:r>
          </a:p>
          <a:p>
            <a:pPr lvl="2"/>
            <a:r>
              <a:rPr lang="en-US" dirty="0" smtClean="0"/>
              <a:t>Part of nonspecific defense mechanisms 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81" name="Rectangle 1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23.7  Complement activation and actions.</a:t>
            </a:r>
          </a:p>
        </p:txBody>
      </p:sp>
      <p:pic>
        <p:nvPicPr>
          <p:cNvPr id="21" name="Picture 20" descr="figure_23_07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8"/>
          <a:stretch/>
        </p:blipFill>
        <p:spPr>
          <a:xfrm>
            <a:off x="596901" y="372732"/>
            <a:ext cx="7551725" cy="6130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9291" y="507280"/>
            <a:ext cx="124126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Classical</a:t>
            </a:r>
          </a:p>
          <a:p>
            <a:pPr algn="ctr"/>
            <a:r>
              <a:rPr lang="en-US" sz="1900" b="1" dirty="0"/>
              <a:t>pathway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1030" y="498868"/>
            <a:ext cx="117211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Lectin</a:t>
            </a:r>
          </a:p>
          <a:p>
            <a:pPr algn="ctr"/>
            <a:r>
              <a:rPr lang="en-US" sz="1900" b="1" dirty="0"/>
              <a:t>pathway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002" y="507279"/>
            <a:ext cx="145424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Alternative</a:t>
            </a:r>
          </a:p>
          <a:p>
            <a:pPr algn="ctr"/>
            <a:r>
              <a:rPr lang="en-US" sz="1900" b="1" dirty="0"/>
              <a:t>pathway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6945" y="2374489"/>
            <a:ext cx="166028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Complement</a:t>
            </a:r>
          </a:p>
          <a:p>
            <a:pPr algn="ctr"/>
            <a:r>
              <a:rPr lang="en-US" sz="1900" b="1" dirty="0"/>
              <a:t>activation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971" y="4292163"/>
            <a:ext cx="172774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Opsonization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8522" y="4149179"/>
            <a:ext cx="152513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Leukocyte</a:t>
            </a:r>
          </a:p>
          <a:p>
            <a:pPr algn="ctr"/>
            <a:r>
              <a:rPr lang="en-US" sz="1900" b="1" dirty="0"/>
              <a:t>recruitment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0326" y="4166001"/>
            <a:ext cx="135165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Histamine</a:t>
            </a:r>
          </a:p>
          <a:p>
            <a:pPr algn="ctr"/>
            <a:r>
              <a:rPr lang="en-US" sz="1900" b="1" dirty="0"/>
              <a:t>secretion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0928" y="4300575"/>
            <a:ext cx="73955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/>
              <a:t>MAC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747" y="5368754"/>
            <a:ext cx="189049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Initial stimulus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339" y="5755653"/>
            <a:ext cx="291618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Physiological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009" y="6142552"/>
            <a:ext cx="92931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Result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57" name="Rectangle 44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23.8  Complement pathways.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49" name="Picture 48" descr="figure_23_08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3"/>
          <a:stretch/>
        </p:blipFill>
        <p:spPr>
          <a:xfrm>
            <a:off x="1676400" y="383333"/>
            <a:ext cx="5501640" cy="611410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32521" y="1495027"/>
            <a:ext cx="10859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Ab + Pathogen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1211" y="1880260"/>
            <a:ext cx="3485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52479" y="2269726"/>
            <a:ext cx="3485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C2</a:t>
            </a:r>
            <a:endParaRPr lang="en-US" sz="10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3064678" y="2532191"/>
            <a:ext cx="426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C2b</a:t>
            </a:r>
            <a:endParaRPr lang="en-US" sz="10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3696093" y="2269724"/>
            <a:ext cx="569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C4b2a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7347" y="1981858"/>
            <a:ext cx="3485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9186" y="2265492"/>
            <a:ext cx="41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C3a</a:t>
            </a:r>
            <a:endParaRPr lang="en-US" sz="10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4322626" y="2629554"/>
            <a:ext cx="5695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C3b</a:t>
            </a:r>
          </a:p>
          <a:p>
            <a:pPr algn="ctr"/>
            <a:r>
              <a:rPr lang="en-US" sz="1000" b="1" dirty="0"/>
              <a:t>+</a:t>
            </a:r>
          </a:p>
          <a:p>
            <a:pPr algn="ctr"/>
            <a:r>
              <a:rPr lang="en-US" sz="1000" b="1" dirty="0"/>
              <a:t>C4b2a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2032" y="3603221"/>
            <a:ext cx="71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C4b2a3b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6578" y="3328053"/>
            <a:ext cx="348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C4</a:t>
            </a:r>
          </a:p>
          <a:p>
            <a:pPr algn="ctr"/>
            <a:r>
              <a:rPr lang="en-US" sz="1000" b="1" dirty="0"/>
              <a:t>+</a:t>
            </a:r>
          </a:p>
          <a:p>
            <a:pPr algn="ctr"/>
            <a:r>
              <a:rPr lang="en-US" sz="1000" b="1" dirty="0"/>
              <a:t>C2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81751" y="2908956"/>
            <a:ext cx="1169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MBL + mannose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69452" y="2900490"/>
            <a:ext cx="5528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MASP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9047" y="3361923"/>
            <a:ext cx="3485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C5</a:t>
            </a:r>
            <a:endParaRPr lang="en-US" sz="10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5646291" y="3772558"/>
            <a:ext cx="41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C5a</a:t>
            </a:r>
            <a:endParaRPr lang="en-US" sz="10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5291416" y="4030790"/>
            <a:ext cx="426932" cy="10643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" b="1" dirty="0"/>
              <a:t>C5b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+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C6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+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C7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+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C8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74992" y="5465887"/>
            <a:ext cx="476713" cy="510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" b="1" dirty="0"/>
              <a:t>MAC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+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C9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74992" y="6325253"/>
            <a:ext cx="476713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00" b="1" dirty="0" smtClean="0"/>
              <a:t>MAC</a:t>
            </a:r>
            <a:endParaRPr lang="en-US" sz="10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825515" y="5178020"/>
            <a:ext cx="1424614" cy="371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Reactions occurring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on cell membrane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651" y="3611685"/>
            <a:ext cx="747533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C3bBb3b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3885" y="2781950"/>
            <a:ext cx="519543" cy="510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C3b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   </a:t>
            </a:r>
            <a:r>
              <a:rPr lang="en-US" sz="1000" b="1" dirty="0" smtClean="0"/>
              <a:t>+</a:t>
            </a:r>
          </a:p>
          <a:p>
            <a:pPr algn="l">
              <a:lnSpc>
                <a:spcPct val="90000"/>
              </a:lnSpc>
            </a:pPr>
            <a:r>
              <a:rPr lang="en-US" sz="1000" b="1" dirty="0" smtClean="0"/>
              <a:t>C3Bb</a:t>
            </a:r>
            <a:endParaRPr lang="en-US" sz="10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6595986" y="2502551"/>
            <a:ext cx="419919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 smtClean="0"/>
              <a:t>C3a</a:t>
            </a:r>
            <a:endParaRPr lang="en-US" sz="1000" b="1" dirty="0"/>
          </a:p>
        </p:txBody>
      </p:sp>
      <p:sp>
        <p:nvSpPr>
          <p:cNvPr id="71" name="TextBox 70"/>
          <p:cNvSpPr txBox="1"/>
          <p:nvPr/>
        </p:nvSpPr>
        <p:spPr>
          <a:xfrm>
            <a:off x="6325054" y="2172353"/>
            <a:ext cx="348598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 smtClean="0"/>
              <a:t>C3</a:t>
            </a:r>
            <a:endParaRPr lang="en-US" sz="1000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5207455" y="2494086"/>
            <a:ext cx="597878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C3bBb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22318" y="2180819"/>
            <a:ext cx="348598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Ba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58252" y="1888718"/>
            <a:ext cx="519543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C3bB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0589" y="1071685"/>
            <a:ext cx="426932" cy="510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" b="1" dirty="0"/>
              <a:t>C3b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+</a:t>
            </a:r>
          </a:p>
          <a:p>
            <a:pPr algn="ctr">
              <a:lnSpc>
                <a:spcPct val="90000"/>
              </a:lnSpc>
            </a:pPr>
            <a:r>
              <a:rPr lang="en-US" sz="1000" b="1" dirty="0"/>
              <a:t>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5829" y="766884"/>
            <a:ext cx="419919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00" b="1" dirty="0" smtClean="0"/>
              <a:t>C3a</a:t>
            </a:r>
            <a:endParaRPr 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5339759" y="483248"/>
            <a:ext cx="348598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00" b="1" dirty="0" smtClean="0"/>
              <a:t>C3</a:t>
            </a:r>
            <a:endParaRPr lang="en-US" sz="10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655394" y="1215614"/>
            <a:ext cx="1467068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rgbClr val="013C80"/>
                </a:solidFill>
                <a:latin typeface="Arial Black"/>
                <a:cs typeface="Arial Black"/>
              </a:rPr>
              <a:t>Classical pathway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1819" y="407048"/>
            <a:ext cx="844214" cy="371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7D156A"/>
                </a:solidFill>
                <a:latin typeface="Arial Black"/>
                <a:cs typeface="Arial Black"/>
              </a:rPr>
              <a:t>Alternate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7D156A"/>
                </a:solidFill>
                <a:latin typeface="Arial Black"/>
                <a:cs typeface="Arial Black"/>
              </a:rPr>
              <a:t>pathway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37192" y="3904132"/>
            <a:ext cx="1264000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EA9922"/>
                </a:solidFill>
                <a:latin typeface="Arial Black"/>
                <a:cs typeface="Arial Black"/>
              </a:rPr>
              <a:t>Lectin pathway</a:t>
            </a:r>
          </a:p>
        </p:txBody>
      </p:sp>
      <p:sp>
        <p:nvSpPr>
          <p:cNvPr id="81" name="Freeform 80"/>
          <p:cNvSpPr/>
          <p:nvPr/>
        </p:nvSpPr>
        <p:spPr>
          <a:xfrm>
            <a:off x="5689600" y="4082263"/>
            <a:ext cx="101600" cy="2397125"/>
          </a:xfrm>
          <a:custGeom>
            <a:avLst/>
            <a:gdLst>
              <a:gd name="connsiteX0" fmla="*/ 0 w 101600"/>
              <a:gd name="connsiteY0" fmla="*/ 0 h 2397125"/>
              <a:gd name="connsiteX1" fmla="*/ 101600 w 101600"/>
              <a:gd name="connsiteY1" fmla="*/ 0 h 2397125"/>
              <a:gd name="connsiteX2" fmla="*/ 95250 w 101600"/>
              <a:gd name="connsiteY2" fmla="*/ 2397125 h 2397125"/>
              <a:gd name="connsiteX3" fmla="*/ 6350 w 101600"/>
              <a:gd name="connsiteY3" fmla="*/ 2390775 h 239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600" h="2397125">
                <a:moveTo>
                  <a:pt x="0" y="0"/>
                </a:moveTo>
                <a:lnTo>
                  <a:pt x="101600" y="0"/>
                </a:lnTo>
                <a:cubicBezTo>
                  <a:pt x="99483" y="799042"/>
                  <a:pt x="97367" y="1598083"/>
                  <a:pt x="95250" y="2397125"/>
                </a:cubicBezTo>
                <a:lnTo>
                  <a:pt x="6350" y="2390775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5784850" y="5279238"/>
            <a:ext cx="101600" cy="0"/>
          </a:xfrm>
          <a:custGeom>
            <a:avLst/>
            <a:gdLst>
              <a:gd name="connsiteX0" fmla="*/ 101600 w 101600"/>
              <a:gd name="connsiteY0" fmla="*/ 0 h 0"/>
              <a:gd name="connsiteX1" fmla="*/ 0 w 101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>
                <a:moveTo>
                  <a:pt x="101600" y="0"/>
                </a:moveTo>
                <a:lnTo>
                  <a:pt x="0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Nonspecific Defenses</a:t>
            </a:r>
            <a:endParaRPr lang="en-US" dirty="0"/>
          </a:p>
        </p:txBody>
      </p:sp>
      <p:sp>
        <p:nvSpPr>
          <p:cNvPr id="11366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Complement protein functions</a:t>
            </a:r>
          </a:p>
          <a:p>
            <a:pPr lvl="1"/>
            <a:r>
              <a:rPr lang="en-US" dirty="0" smtClean="0"/>
              <a:t>Form MAC to lyse cell</a:t>
            </a:r>
          </a:p>
          <a:p>
            <a:pPr lvl="1"/>
            <a:r>
              <a:rPr lang="en-US" dirty="0" smtClean="0"/>
              <a:t>Chemotaxis</a:t>
            </a:r>
          </a:p>
          <a:p>
            <a:pPr lvl="1"/>
            <a:r>
              <a:rPr lang="en-US" dirty="0" smtClean="0"/>
              <a:t>Trigger histamine release from mast cells</a:t>
            </a:r>
          </a:p>
          <a:p>
            <a:pPr lvl="1"/>
            <a:r>
              <a:rPr lang="en-US" dirty="0" smtClean="0"/>
              <a:t>Act as opsonins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28" name="Rectangle 19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23.9  Formation of the MAC complex and cell lysis.</a:t>
            </a:r>
          </a:p>
        </p:txBody>
      </p:sp>
      <p:pic>
        <p:nvPicPr>
          <p:cNvPr id="24" name="Picture 23" descr="figure_23_09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53"/>
          <a:stretch/>
        </p:blipFill>
        <p:spPr>
          <a:xfrm>
            <a:off x="266700" y="1892300"/>
            <a:ext cx="8601456" cy="28956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6" y="1924724"/>
            <a:ext cx="1253543" cy="371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First complement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protein (inactive)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7137" y="2542788"/>
            <a:ext cx="1339078" cy="510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Cascade of protein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activation steps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on membrane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4838" y="3321721"/>
            <a:ext cx="469763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Pore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4840" y="3596889"/>
            <a:ext cx="761872" cy="371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MAC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is formed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438" y="3088891"/>
            <a:ext cx="726431" cy="371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Bacterial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cell</a:t>
            </a:r>
          </a:p>
        </p:txBody>
      </p:sp>
      <p:sp>
        <p:nvSpPr>
          <p:cNvPr id="30" name="Freeform 29"/>
          <p:cNvSpPr/>
          <p:nvPr/>
        </p:nvSpPr>
        <p:spPr>
          <a:xfrm>
            <a:off x="914400" y="2035175"/>
            <a:ext cx="400050" cy="0"/>
          </a:xfrm>
          <a:custGeom>
            <a:avLst/>
            <a:gdLst>
              <a:gd name="connsiteX0" fmla="*/ 0 w 400050"/>
              <a:gd name="connsiteY0" fmla="*/ 0 h 0"/>
              <a:gd name="connsiteX1" fmla="*/ 400050 w 400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0050">
                <a:moveTo>
                  <a:pt x="0" y="0"/>
                </a:moveTo>
                <a:lnTo>
                  <a:pt x="40005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1238250" y="2463800"/>
            <a:ext cx="1206500" cy="869950"/>
          </a:xfrm>
          <a:custGeom>
            <a:avLst/>
            <a:gdLst>
              <a:gd name="connsiteX0" fmla="*/ 0 w 1206500"/>
              <a:gd name="connsiteY0" fmla="*/ 76200 h 869950"/>
              <a:gd name="connsiteX1" fmla="*/ 53975 w 1206500"/>
              <a:gd name="connsiteY1" fmla="*/ 0 h 869950"/>
              <a:gd name="connsiteX2" fmla="*/ 1206500 w 1206500"/>
              <a:gd name="connsiteY2" fmla="*/ 793750 h 869950"/>
              <a:gd name="connsiteX3" fmla="*/ 1149350 w 1206500"/>
              <a:gd name="connsiteY3" fmla="*/ 869950 h 86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500" h="869950">
                <a:moveTo>
                  <a:pt x="0" y="76200"/>
                </a:moveTo>
                <a:lnTo>
                  <a:pt x="53975" y="0"/>
                </a:lnTo>
                <a:lnTo>
                  <a:pt x="1206500" y="793750"/>
                </a:lnTo>
                <a:lnTo>
                  <a:pt x="1149350" y="86995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889125" y="2654300"/>
            <a:ext cx="260350" cy="219075"/>
          </a:xfrm>
          <a:custGeom>
            <a:avLst/>
            <a:gdLst>
              <a:gd name="connsiteX0" fmla="*/ 0 w 260350"/>
              <a:gd name="connsiteY0" fmla="*/ 219075 h 219075"/>
              <a:gd name="connsiteX1" fmla="*/ 152400 w 260350"/>
              <a:gd name="connsiteY1" fmla="*/ 0 h 219075"/>
              <a:gd name="connsiteX2" fmla="*/ 260350 w 260350"/>
              <a:gd name="connsiteY2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350" h="219075">
                <a:moveTo>
                  <a:pt x="0" y="219075"/>
                </a:moveTo>
                <a:lnTo>
                  <a:pt x="152400" y="0"/>
                </a:lnTo>
                <a:lnTo>
                  <a:pt x="26035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2482850" y="3590925"/>
            <a:ext cx="320675" cy="127000"/>
          </a:xfrm>
          <a:custGeom>
            <a:avLst/>
            <a:gdLst>
              <a:gd name="connsiteX0" fmla="*/ 0 w 320675"/>
              <a:gd name="connsiteY0" fmla="*/ 0 h 127000"/>
              <a:gd name="connsiteX1" fmla="*/ 320675 w 320675"/>
              <a:gd name="connsiteY1" fmla="*/ 1270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0675" h="127000">
                <a:moveTo>
                  <a:pt x="0" y="0"/>
                </a:moveTo>
                <a:lnTo>
                  <a:pt x="320675" y="12700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508250" y="3432175"/>
            <a:ext cx="301625" cy="101600"/>
          </a:xfrm>
          <a:custGeom>
            <a:avLst/>
            <a:gdLst>
              <a:gd name="connsiteX0" fmla="*/ 301625 w 301625"/>
              <a:gd name="connsiteY0" fmla="*/ 0 h 101600"/>
              <a:gd name="connsiteX1" fmla="*/ 0 w 301625"/>
              <a:gd name="connsiteY1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1625" h="101600">
                <a:moveTo>
                  <a:pt x="301625" y="0"/>
                </a:moveTo>
                <a:lnTo>
                  <a:pt x="0" y="10160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51550" y="4566262"/>
            <a:ext cx="1096687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Pore 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3683" y="4570493"/>
            <a:ext cx="704828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Swelling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4047" y="2902560"/>
            <a:ext cx="669199" cy="510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Fluid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rushes</a:t>
            </a:r>
          </a:p>
          <a:p>
            <a:pPr algn="l">
              <a:lnSpc>
                <a:spcPct val="90000"/>
              </a:lnSpc>
            </a:pPr>
            <a:r>
              <a:rPr lang="en-US" sz="1000" b="1" dirty="0"/>
              <a:t>into 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5180" y="4557794"/>
            <a:ext cx="507834" cy="233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00" b="1" dirty="0"/>
              <a:t>Lysis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89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23.10  Actions of complement proteins independent of MAC.</a:t>
            </a:r>
          </a:p>
        </p:txBody>
      </p:sp>
      <p:pic>
        <p:nvPicPr>
          <p:cNvPr id="37" name="Picture 36" descr="figure_23_10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1"/>
          <a:stretch/>
        </p:blipFill>
        <p:spPr>
          <a:xfrm>
            <a:off x="800100" y="392894"/>
            <a:ext cx="7152132" cy="6131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6356" y="577543"/>
            <a:ext cx="659155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Pathogen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531" y="1215718"/>
            <a:ext cx="633507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Antibody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731" y="1688793"/>
            <a:ext cx="851515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Solubilization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7406" y="866468"/>
            <a:ext cx="518141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+3b (  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7406" y="421968"/>
            <a:ext cx="813043" cy="315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Complement</a:t>
            </a:r>
          </a:p>
          <a:p>
            <a:pPr algn="l">
              <a:lnSpc>
                <a:spcPct val="90000"/>
              </a:lnSpc>
            </a:pPr>
            <a:r>
              <a:rPr lang="en-US" sz="800" b="1" dirty="0"/>
              <a:t>receptor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1256" y="1412568"/>
            <a:ext cx="710451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Phagocyte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03681" y="1263343"/>
            <a:ext cx="710451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Bacterium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4956" y="533093"/>
            <a:ext cx="304390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3b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60581" y="1698318"/>
            <a:ext cx="838691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Opsonization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2156" y="2292043"/>
            <a:ext cx="1236236" cy="426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Vasodilation</a:t>
            </a:r>
          </a:p>
          <a:p>
            <a:pPr algn="l">
              <a:lnSpc>
                <a:spcPct val="90000"/>
              </a:lnSpc>
            </a:pPr>
            <a:r>
              <a:rPr lang="en-US" sz="800" b="1" dirty="0"/>
              <a:t>and increased</a:t>
            </a:r>
          </a:p>
          <a:p>
            <a:pPr algn="l">
              <a:lnSpc>
                <a:spcPct val="90000"/>
              </a:lnSpc>
            </a:pPr>
            <a:r>
              <a:rPr lang="en-US" sz="800" b="1" dirty="0"/>
              <a:t>capillary permeability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0523" y="2812743"/>
            <a:ext cx="620683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Capillary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0223" y="3367309"/>
            <a:ext cx="766205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Chemotaxis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99287" y="3735610"/>
            <a:ext cx="908522" cy="426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Neutrophil,</a:t>
            </a:r>
          </a:p>
          <a:p>
            <a:pPr algn="l">
              <a:lnSpc>
                <a:spcPct val="90000"/>
              </a:lnSpc>
            </a:pPr>
            <a:r>
              <a:rPr lang="en-US" sz="800" b="1" dirty="0"/>
              <a:t>monocyte</a:t>
            </a:r>
          </a:p>
          <a:p>
            <a:pPr algn="l">
              <a:lnSpc>
                <a:spcPct val="90000"/>
              </a:lnSpc>
            </a:pPr>
            <a:r>
              <a:rPr lang="en-US" sz="800" b="1" dirty="0"/>
              <a:t>and eosinophil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1755" y="4565341"/>
            <a:ext cx="1148271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Hydrolytic enzymes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0890" y="4946341"/>
            <a:ext cx="697627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Neutrophil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5989" y="5793009"/>
            <a:ext cx="697627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Histamine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21023" y="6174008"/>
            <a:ext cx="620683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Mast cell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731" y="6333817"/>
            <a:ext cx="825867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Inflammation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7156" y="5562292"/>
            <a:ext cx="377026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/>
              <a:t>C3a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506" y="5749617"/>
            <a:ext cx="377026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 smtClean="0"/>
              <a:t>C4a</a:t>
            </a:r>
            <a:endParaRPr lang="en-US" sz="800" b="1" dirty="0"/>
          </a:p>
        </p:txBody>
      </p:sp>
      <p:sp>
        <p:nvSpPr>
          <p:cNvPr id="58" name="Freeform 57"/>
          <p:cNvSpPr/>
          <p:nvPr/>
        </p:nvSpPr>
        <p:spPr>
          <a:xfrm>
            <a:off x="6696075" y="704099"/>
            <a:ext cx="136525" cy="200025"/>
          </a:xfrm>
          <a:custGeom>
            <a:avLst/>
            <a:gdLst>
              <a:gd name="connsiteX0" fmla="*/ 0 w 136525"/>
              <a:gd name="connsiteY0" fmla="*/ 200025 h 200025"/>
              <a:gd name="connsiteX1" fmla="*/ 136525 w 136525"/>
              <a:gd name="connsiteY1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525" h="200025">
                <a:moveTo>
                  <a:pt x="0" y="200025"/>
                </a:moveTo>
                <a:lnTo>
                  <a:pt x="1365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9" name="Freeform 58"/>
          <p:cNvSpPr/>
          <p:nvPr/>
        </p:nvSpPr>
        <p:spPr>
          <a:xfrm>
            <a:off x="7489825" y="700924"/>
            <a:ext cx="3175" cy="231775"/>
          </a:xfrm>
          <a:custGeom>
            <a:avLst/>
            <a:gdLst>
              <a:gd name="connsiteX0" fmla="*/ 0 w 3175"/>
              <a:gd name="connsiteY0" fmla="*/ 231775 h 231775"/>
              <a:gd name="connsiteX1" fmla="*/ 3175 w 3175"/>
              <a:gd name="connsiteY1" fmla="*/ 0 h 231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" h="231775">
                <a:moveTo>
                  <a:pt x="0" y="231775"/>
                </a:moveTo>
                <a:cubicBezTo>
                  <a:pt x="1058" y="154517"/>
                  <a:pt x="2117" y="77258"/>
                  <a:pt x="3175" y="0"/>
                </a:cubicBez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1352550" y="688224"/>
            <a:ext cx="234950" cy="215900"/>
          </a:xfrm>
          <a:custGeom>
            <a:avLst/>
            <a:gdLst>
              <a:gd name="connsiteX0" fmla="*/ 0 w 234950"/>
              <a:gd name="connsiteY0" fmla="*/ 0 h 215900"/>
              <a:gd name="connsiteX1" fmla="*/ 234950 w 234950"/>
              <a:gd name="connsiteY1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4950" h="215900">
                <a:moveTo>
                  <a:pt x="0" y="0"/>
                </a:moveTo>
                <a:lnTo>
                  <a:pt x="234950" y="21590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3849" y="2393840"/>
            <a:ext cx="377026" cy="20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800" b="1" dirty="0" smtClean="0"/>
              <a:t>C5a</a:t>
            </a:r>
            <a:endParaRPr lang="en-US" sz="800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1981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Humoral immunity</a:t>
            </a:r>
          </a:p>
          <a:p>
            <a:pPr lvl="1"/>
            <a:r>
              <a:rPr lang="en-US" dirty="0" smtClean="0"/>
              <a:t>B cell mediated </a:t>
            </a:r>
          </a:p>
          <a:p>
            <a:pPr lvl="1"/>
            <a:r>
              <a:rPr lang="en-US" dirty="0" smtClean="0"/>
              <a:t>Involves secretion of antibodies by plasma cells</a:t>
            </a:r>
          </a:p>
          <a:p>
            <a:pPr lvl="1"/>
            <a:r>
              <a:rPr lang="en-US" dirty="0" smtClean="0"/>
              <a:t>Defend against bacteria, toxins, and viruses in body fluids</a:t>
            </a:r>
          </a:p>
          <a:p>
            <a:r>
              <a:rPr lang="en-US" dirty="0" smtClean="0"/>
              <a:t>Cell-mediated immunity </a:t>
            </a:r>
          </a:p>
          <a:p>
            <a:pPr lvl="1"/>
            <a:r>
              <a:rPr lang="en-US" dirty="0" smtClean="0"/>
              <a:t>T cell mediated </a:t>
            </a:r>
          </a:p>
          <a:p>
            <a:pPr lvl="1"/>
            <a:r>
              <a:rPr lang="en-US" dirty="0" smtClean="0"/>
              <a:t>Involves lysis of cells by cytotoxic T cells</a:t>
            </a:r>
          </a:p>
          <a:p>
            <a:pPr lvl="1"/>
            <a:r>
              <a:rPr lang="en-US" dirty="0" smtClean="0"/>
              <a:t>Defend against bacteria and viruses in body cells</a:t>
            </a:r>
          </a:p>
          <a:p>
            <a:pPr lvl="1"/>
            <a:r>
              <a:rPr lang="en-US" dirty="0" smtClean="0"/>
              <a:t>Part of reaction to transplants and cancer cells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2185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Features of specific immune response</a:t>
            </a:r>
          </a:p>
          <a:p>
            <a:pPr lvl="1"/>
            <a:r>
              <a:rPr lang="en-US" dirty="0" smtClean="0"/>
              <a:t>Specificity</a:t>
            </a:r>
          </a:p>
          <a:p>
            <a:pPr lvl="1"/>
            <a:r>
              <a:rPr lang="en-US" dirty="0" smtClean="0"/>
              <a:t>Diversity</a:t>
            </a:r>
          </a:p>
          <a:p>
            <a:pPr lvl="1"/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Self-tolerance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23906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Specificity</a:t>
            </a:r>
          </a:p>
          <a:p>
            <a:pPr lvl="1"/>
            <a:r>
              <a:rPr lang="en-US" dirty="0" smtClean="0"/>
              <a:t>Antigens (antibody generators) confer specificity</a:t>
            </a:r>
          </a:p>
          <a:p>
            <a:pPr lvl="2"/>
            <a:r>
              <a:rPr lang="en-US" dirty="0" smtClean="0"/>
              <a:t>Complex proteins and polysaccharides</a:t>
            </a:r>
          </a:p>
          <a:p>
            <a:pPr lvl="2"/>
            <a:r>
              <a:rPr lang="en-US" dirty="0" smtClean="0"/>
              <a:t>Part of foreign invaders and tumor cells</a:t>
            </a:r>
          </a:p>
          <a:p>
            <a:pPr lvl="2"/>
            <a:r>
              <a:rPr lang="en-US" dirty="0" smtClean="0"/>
              <a:t>Epitopes: recognition sites for B or T cells</a:t>
            </a:r>
          </a:p>
          <a:p>
            <a:pPr lvl="1"/>
            <a:r>
              <a:rPr lang="en-US" dirty="0" smtClean="0"/>
              <a:t>B cell and T cell specificity</a:t>
            </a:r>
          </a:p>
          <a:p>
            <a:pPr lvl="2"/>
            <a:r>
              <a:rPr lang="en-US" dirty="0" smtClean="0"/>
              <a:t>Antigen receptors recognize certain antigens only</a:t>
            </a:r>
          </a:p>
          <a:p>
            <a:pPr lvl="2"/>
            <a:r>
              <a:rPr lang="en-US" dirty="0" smtClean="0"/>
              <a:t>B cells: membrane antibodies</a:t>
            </a:r>
          </a:p>
          <a:p>
            <a:pPr lvl="2"/>
            <a:r>
              <a:rPr lang="en-US" dirty="0" smtClean="0"/>
              <a:t>T cells: T cell receptors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259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Antibody structure</a:t>
            </a:r>
          </a:p>
          <a:p>
            <a:pPr lvl="1"/>
            <a:r>
              <a:rPr lang="en-US" dirty="0" smtClean="0"/>
              <a:t>Two heavy chains</a:t>
            </a:r>
          </a:p>
          <a:p>
            <a:pPr lvl="1"/>
            <a:r>
              <a:rPr lang="en-US" dirty="0" smtClean="0"/>
              <a:t>Two light chains</a:t>
            </a:r>
          </a:p>
          <a:p>
            <a:pPr lvl="1"/>
            <a:r>
              <a:rPr lang="en-US" dirty="0" smtClean="0"/>
              <a:t>Constant region: same within a class of antibodies</a:t>
            </a:r>
          </a:p>
          <a:p>
            <a:pPr lvl="1"/>
            <a:r>
              <a:rPr lang="en-US" dirty="0" smtClean="0"/>
              <a:t>Variable region: differs for different antigens, gives specificity to antigen-binding site</a:t>
            </a:r>
          </a:p>
          <a:p>
            <a:pPr lvl="1"/>
            <a:r>
              <a:rPr lang="en-US" dirty="0" smtClean="0"/>
              <a:t>Two antigen-binding sites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35" name="Rectangle 38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23.11  The basis of antigen-antibody specificity.</a:t>
            </a:r>
          </a:p>
        </p:txBody>
      </p:sp>
      <p:pic>
        <p:nvPicPr>
          <p:cNvPr id="43" name="Picture 42" descr="figure_23_11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1"/>
          <a:stretch/>
        </p:blipFill>
        <p:spPr>
          <a:xfrm>
            <a:off x="266700" y="838200"/>
            <a:ext cx="8601456" cy="498686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37616" y="2166498"/>
            <a:ext cx="748661" cy="581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0" b="1" dirty="0"/>
              <a:t>Antigen-</a:t>
            </a:r>
          </a:p>
          <a:p>
            <a:pPr algn="l"/>
            <a:r>
              <a:rPr lang="en-US" sz="1060" b="1" dirty="0" smtClean="0"/>
              <a:t>binding</a:t>
            </a:r>
            <a:endParaRPr lang="en-US" sz="1060" b="1" dirty="0"/>
          </a:p>
          <a:p>
            <a:pPr algn="l"/>
            <a:r>
              <a:rPr lang="en-US" sz="1060" b="1" dirty="0" smtClean="0"/>
              <a:t>site</a:t>
            </a:r>
            <a:endParaRPr lang="en-US" sz="106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663796" y="3692184"/>
            <a:ext cx="539701" cy="418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Light</a:t>
            </a:r>
          </a:p>
          <a:p>
            <a:r>
              <a:rPr lang="en-US" dirty="0">
                <a:solidFill>
                  <a:schemeClr val="tx1"/>
                </a:solidFill>
              </a:rPr>
              <a:t>chain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145" y="2899490"/>
            <a:ext cx="761747" cy="418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Disulﬁde</a:t>
            </a:r>
          </a:p>
          <a:p>
            <a:r>
              <a:rPr lang="en-US" dirty="0">
                <a:solidFill>
                  <a:schemeClr val="tx1"/>
                </a:solidFill>
              </a:rPr>
              <a:t>bridge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4764" y="2218980"/>
            <a:ext cx="748661" cy="581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Antigen-</a:t>
            </a:r>
          </a:p>
          <a:p>
            <a:r>
              <a:rPr lang="en-US" dirty="0">
                <a:solidFill>
                  <a:schemeClr val="tx1"/>
                </a:solidFill>
              </a:rPr>
              <a:t>binding</a:t>
            </a:r>
          </a:p>
          <a:p>
            <a:r>
              <a:rPr lang="en-US" dirty="0">
                <a:solidFill>
                  <a:schemeClr val="tx1"/>
                </a:solidFill>
              </a:rPr>
              <a:t>site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36685" y="3691122"/>
            <a:ext cx="539701" cy="418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Light</a:t>
            </a:r>
          </a:p>
          <a:p>
            <a:r>
              <a:rPr lang="en-US" dirty="0">
                <a:solidFill>
                  <a:schemeClr val="tx1"/>
                </a:solidFill>
              </a:rPr>
              <a:t>chain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3543" y="5353766"/>
            <a:ext cx="1056700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Heavy chains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9121" y="4326125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 rot="19364074">
            <a:off x="3221337" y="3574271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 rot="2700000">
            <a:off x="974493" y="3021634"/>
            <a:ext cx="2753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53" name="TextBox 52"/>
          <p:cNvSpPr txBox="1"/>
          <p:nvPr/>
        </p:nvSpPr>
        <p:spPr>
          <a:xfrm rot="2700000">
            <a:off x="1282469" y="2715775"/>
            <a:ext cx="2753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54" name="TextBox 53"/>
          <p:cNvSpPr txBox="1"/>
          <p:nvPr/>
        </p:nvSpPr>
        <p:spPr>
          <a:xfrm rot="2700000">
            <a:off x="1822219" y="3258882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 rot="2700000">
            <a:off x="1502602" y="3578498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6813" y="361492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80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-S-S-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98929" y="3718641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80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-S-S-</a:t>
            </a:r>
          </a:p>
        </p:txBody>
      </p:sp>
      <p:sp>
        <p:nvSpPr>
          <p:cNvPr id="58" name="TextBox 57"/>
          <p:cNvSpPr txBox="1"/>
          <p:nvPr/>
        </p:nvSpPr>
        <p:spPr>
          <a:xfrm rot="2700000">
            <a:off x="2903925" y="3524077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80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-S-S-</a:t>
            </a:r>
          </a:p>
        </p:txBody>
      </p:sp>
      <p:sp>
        <p:nvSpPr>
          <p:cNvPr id="59" name="TextBox 58"/>
          <p:cNvSpPr txBox="1"/>
          <p:nvPr/>
        </p:nvSpPr>
        <p:spPr>
          <a:xfrm rot="18900000">
            <a:off x="1685782" y="3518786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sz="800" dirty="0">
                <a:solidFill>
                  <a:schemeClr val="tx1"/>
                </a:solidFill>
              </a:rPr>
              <a:t>-S-S-</a:t>
            </a:r>
          </a:p>
        </p:txBody>
      </p:sp>
      <p:sp>
        <p:nvSpPr>
          <p:cNvPr id="60" name="Freeform 59"/>
          <p:cNvSpPr/>
          <p:nvPr/>
        </p:nvSpPr>
        <p:spPr>
          <a:xfrm>
            <a:off x="667789" y="2397125"/>
            <a:ext cx="548821" cy="539750"/>
          </a:xfrm>
          <a:custGeom>
            <a:avLst/>
            <a:gdLst>
              <a:gd name="connsiteX0" fmla="*/ 47625 w 384175"/>
              <a:gd name="connsiteY0" fmla="*/ 377825 h 377825"/>
              <a:gd name="connsiteX1" fmla="*/ 0 w 384175"/>
              <a:gd name="connsiteY1" fmla="*/ 327025 h 377825"/>
              <a:gd name="connsiteX2" fmla="*/ 333375 w 384175"/>
              <a:gd name="connsiteY2" fmla="*/ 0 h 377825"/>
              <a:gd name="connsiteX3" fmla="*/ 384175 w 384175"/>
              <a:gd name="connsiteY3" fmla="*/ 44450 h 37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175" h="377825">
                <a:moveTo>
                  <a:pt x="47625" y="377825"/>
                </a:moveTo>
                <a:lnTo>
                  <a:pt x="0" y="327025"/>
                </a:lnTo>
                <a:lnTo>
                  <a:pt x="333375" y="0"/>
                </a:lnTo>
                <a:lnTo>
                  <a:pt x="384175" y="4445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824044" y="2541877"/>
            <a:ext cx="87497" cy="92102"/>
          </a:xfrm>
          <a:custGeom>
            <a:avLst/>
            <a:gdLst>
              <a:gd name="connsiteX0" fmla="*/ 0 w 60325"/>
              <a:gd name="connsiteY0" fmla="*/ 0 h 63500"/>
              <a:gd name="connsiteX1" fmla="*/ 60325 w 60325"/>
              <a:gd name="connsiteY1" fmla="*/ 63500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325" h="63500">
                <a:moveTo>
                  <a:pt x="0" y="0"/>
                </a:moveTo>
                <a:lnTo>
                  <a:pt x="60325" y="6350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3629025" y="3553854"/>
            <a:ext cx="276225" cy="281546"/>
          </a:xfrm>
          <a:custGeom>
            <a:avLst/>
            <a:gdLst>
              <a:gd name="connsiteX0" fmla="*/ 0 w 187325"/>
              <a:gd name="connsiteY0" fmla="*/ 0 h 184150"/>
              <a:gd name="connsiteX1" fmla="*/ 187325 w 187325"/>
              <a:gd name="connsiteY1" fmla="*/ 184150 h 18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325" h="184150">
                <a:moveTo>
                  <a:pt x="0" y="0"/>
                </a:moveTo>
                <a:lnTo>
                  <a:pt x="187325" y="18415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1130300" y="3560204"/>
            <a:ext cx="269875" cy="265671"/>
          </a:xfrm>
          <a:custGeom>
            <a:avLst/>
            <a:gdLst>
              <a:gd name="connsiteX0" fmla="*/ 0 w 187325"/>
              <a:gd name="connsiteY0" fmla="*/ 193675 h 193675"/>
              <a:gd name="connsiteX1" fmla="*/ 187325 w 187325"/>
              <a:gd name="connsiteY1" fmla="*/ 0 h 19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325" h="193675">
                <a:moveTo>
                  <a:pt x="0" y="193675"/>
                </a:moveTo>
                <a:lnTo>
                  <a:pt x="187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2292350" y="5188978"/>
            <a:ext cx="443032" cy="218047"/>
          </a:xfrm>
          <a:custGeom>
            <a:avLst/>
            <a:gdLst>
              <a:gd name="connsiteX0" fmla="*/ 0 w 304800"/>
              <a:gd name="connsiteY0" fmla="*/ 0 h 158750"/>
              <a:gd name="connsiteX1" fmla="*/ 146050 w 304800"/>
              <a:gd name="connsiteY1" fmla="*/ 158750 h 158750"/>
              <a:gd name="connsiteX2" fmla="*/ 304800 w 304800"/>
              <a:gd name="connsiteY2" fmla="*/ 0 h 158750"/>
              <a:gd name="connsiteX0" fmla="*/ 0 w 304800"/>
              <a:gd name="connsiteY0" fmla="*/ 0 h 150013"/>
              <a:gd name="connsiteX1" fmla="*/ 150419 w 304800"/>
              <a:gd name="connsiteY1" fmla="*/ 150013 h 150013"/>
              <a:gd name="connsiteX2" fmla="*/ 304800 w 304800"/>
              <a:gd name="connsiteY2" fmla="*/ 0 h 150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150013">
                <a:moveTo>
                  <a:pt x="0" y="0"/>
                </a:moveTo>
                <a:lnTo>
                  <a:pt x="150419" y="150013"/>
                </a:lnTo>
                <a:cubicBezTo>
                  <a:pt x="203336" y="97096"/>
                  <a:pt x="251883" y="52917"/>
                  <a:pt x="304800" y="0"/>
                </a:cubicBez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644569" y="1944874"/>
            <a:ext cx="703394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Antigen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0785" y="2277191"/>
            <a:ext cx="761747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Epitopes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27436" y="5334716"/>
            <a:ext cx="787395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Antibody</a:t>
            </a:r>
          </a:p>
        </p:txBody>
      </p:sp>
      <p:sp>
        <p:nvSpPr>
          <p:cNvPr id="68" name="Freeform 67"/>
          <p:cNvSpPr/>
          <p:nvPr/>
        </p:nvSpPr>
        <p:spPr>
          <a:xfrm>
            <a:off x="6864351" y="1982229"/>
            <a:ext cx="815974" cy="870041"/>
          </a:xfrm>
          <a:custGeom>
            <a:avLst/>
            <a:gdLst>
              <a:gd name="connsiteX0" fmla="*/ 555625 w 555625"/>
              <a:gd name="connsiteY0" fmla="*/ 603250 h 603250"/>
              <a:gd name="connsiteX1" fmla="*/ 0 w 555625"/>
              <a:gd name="connsiteY1" fmla="*/ 311150 h 603250"/>
              <a:gd name="connsiteX2" fmla="*/ 288925 w 555625"/>
              <a:gd name="connsiteY2" fmla="*/ 0 h 603250"/>
              <a:gd name="connsiteX3" fmla="*/ 288925 w 555625"/>
              <a:gd name="connsiteY3" fmla="*/ 0 h 603250"/>
              <a:gd name="connsiteX0" fmla="*/ 555625 w 555625"/>
              <a:gd name="connsiteY0" fmla="*/ 603250 h 603250"/>
              <a:gd name="connsiteX1" fmla="*/ 0 w 555625"/>
              <a:gd name="connsiteY1" fmla="*/ 311150 h 603250"/>
              <a:gd name="connsiteX2" fmla="*/ 288925 w 555625"/>
              <a:gd name="connsiteY2" fmla="*/ 0 h 603250"/>
              <a:gd name="connsiteX3" fmla="*/ 464044 w 555625"/>
              <a:gd name="connsiteY3" fmla="*/ 112422 h 603250"/>
              <a:gd name="connsiteX0" fmla="*/ 555625 w 555625"/>
              <a:gd name="connsiteY0" fmla="*/ 603250 h 603250"/>
              <a:gd name="connsiteX1" fmla="*/ 0 w 555625"/>
              <a:gd name="connsiteY1" fmla="*/ 311150 h 603250"/>
              <a:gd name="connsiteX2" fmla="*/ 288925 w 555625"/>
              <a:gd name="connsiteY2" fmla="*/ 0 h 603250"/>
              <a:gd name="connsiteX0" fmla="*/ 555625 w 555625"/>
              <a:gd name="connsiteY0" fmla="*/ 592440 h 592440"/>
              <a:gd name="connsiteX1" fmla="*/ 0 w 555625"/>
              <a:gd name="connsiteY1" fmla="*/ 300340 h 592440"/>
              <a:gd name="connsiteX2" fmla="*/ 299735 w 555625"/>
              <a:gd name="connsiteY2" fmla="*/ 0 h 59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5625" h="592440">
                <a:moveTo>
                  <a:pt x="555625" y="592440"/>
                </a:moveTo>
                <a:lnTo>
                  <a:pt x="0" y="300340"/>
                </a:lnTo>
                <a:lnTo>
                  <a:pt x="29973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9" name="Freeform 68"/>
          <p:cNvSpPr/>
          <p:nvPr/>
        </p:nvSpPr>
        <p:spPr>
          <a:xfrm flipH="1">
            <a:off x="3807864" y="2397125"/>
            <a:ext cx="548821" cy="539750"/>
          </a:xfrm>
          <a:custGeom>
            <a:avLst/>
            <a:gdLst>
              <a:gd name="connsiteX0" fmla="*/ 47625 w 384175"/>
              <a:gd name="connsiteY0" fmla="*/ 377825 h 377825"/>
              <a:gd name="connsiteX1" fmla="*/ 0 w 384175"/>
              <a:gd name="connsiteY1" fmla="*/ 327025 h 377825"/>
              <a:gd name="connsiteX2" fmla="*/ 333375 w 384175"/>
              <a:gd name="connsiteY2" fmla="*/ 0 h 377825"/>
              <a:gd name="connsiteX3" fmla="*/ 384175 w 384175"/>
              <a:gd name="connsiteY3" fmla="*/ 44450 h 37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175" h="377825">
                <a:moveTo>
                  <a:pt x="47625" y="377825"/>
                </a:moveTo>
                <a:lnTo>
                  <a:pt x="0" y="327025"/>
                </a:lnTo>
                <a:lnTo>
                  <a:pt x="333375" y="0"/>
                </a:lnTo>
                <a:lnTo>
                  <a:pt x="384175" y="4445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0" name="Freeform 69"/>
          <p:cNvSpPr/>
          <p:nvPr/>
        </p:nvSpPr>
        <p:spPr>
          <a:xfrm flipH="1">
            <a:off x="4106993" y="2511425"/>
            <a:ext cx="115756" cy="119379"/>
          </a:xfrm>
          <a:custGeom>
            <a:avLst/>
            <a:gdLst>
              <a:gd name="connsiteX0" fmla="*/ 0 w 60325"/>
              <a:gd name="connsiteY0" fmla="*/ 0 h 63500"/>
              <a:gd name="connsiteX1" fmla="*/ 60325 w 60325"/>
              <a:gd name="connsiteY1" fmla="*/ 63500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325" h="63500">
                <a:moveTo>
                  <a:pt x="0" y="0"/>
                </a:moveTo>
                <a:lnTo>
                  <a:pt x="60325" y="6350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71" name="Straight Connector 70"/>
          <p:cNvCxnSpPr/>
          <p:nvPr/>
        </p:nvCxnSpPr>
        <p:spPr bwMode="auto">
          <a:xfrm flipV="1">
            <a:off x="2501900" y="3282950"/>
            <a:ext cx="0" cy="3651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2" name="TextBox 71"/>
          <p:cNvSpPr txBox="1"/>
          <p:nvPr/>
        </p:nvSpPr>
        <p:spPr>
          <a:xfrm>
            <a:off x="2596321" y="4326125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3" name="TextBox 72"/>
          <p:cNvSpPr txBox="1"/>
          <p:nvPr/>
        </p:nvSpPr>
        <p:spPr>
          <a:xfrm rot="19364074">
            <a:off x="2900662" y="3253596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TextBox 73"/>
          <p:cNvSpPr txBox="1"/>
          <p:nvPr/>
        </p:nvSpPr>
        <p:spPr>
          <a:xfrm rot="18855308">
            <a:off x="3453112" y="2713846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 smtClean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 rot="18855308">
            <a:off x="3761088" y="3024995"/>
            <a:ext cx="282833" cy="255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60" b="1">
                <a:solidFill>
                  <a:srgbClr val="FF0000"/>
                </a:solidFill>
              </a:defRPr>
            </a:lvl1pPr>
          </a:lstStyle>
          <a:p>
            <a:r>
              <a:rPr lang="en-US" dirty="0" smtClean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6" name="Straight Connector 75"/>
          <p:cNvCxnSpPr>
            <a:stCxn id="68" idx="1"/>
          </p:cNvCxnSpPr>
          <p:nvPr/>
        </p:nvCxnSpPr>
        <p:spPr bwMode="auto">
          <a:xfrm flipV="1">
            <a:off x="6864351" y="2416175"/>
            <a:ext cx="527049" cy="71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60" name="Rectangle 15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23.12  B cell and T cell antigen receptors.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20" name="Picture 19" descr="figure_23_12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7"/>
          <a:stretch/>
        </p:blipFill>
        <p:spPr>
          <a:xfrm>
            <a:off x="2324100" y="385784"/>
            <a:ext cx="4340230" cy="62599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75587" y="539462"/>
            <a:ext cx="1529122" cy="567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Antigen-</a:t>
            </a:r>
          </a:p>
          <a:p>
            <a:pPr algn="l">
              <a:lnSpc>
                <a:spcPct val="90000"/>
              </a:lnSpc>
            </a:pPr>
            <a:r>
              <a:rPr lang="en-US" sz="1700" b="1" dirty="0"/>
              <a:t>binding 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7638" y="1599232"/>
            <a:ext cx="1275027" cy="567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Membrane</a:t>
            </a:r>
          </a:p>
          <a:p>
            <a:pPr algn="l">
              <a:lnSpc>
                <a:spcPct val="90000"/>
              </a:lnSpc>
            </a:pPr>
            <a:r>
              <a:rPr lang="en-US" sz="1700" b="1" dirty="0"/>
              <a:t>antibody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7491" y="2465551"/>
            <a:ext cx="766306" cy="332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B 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6932" y="4063613"/>
            <a:ext cx="1407876" cy="567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Antigen-</a:t>
            </a:r>
          </a:p>
          <a:p>
            <a:pPr algn="l">
              <a:lnSpc>
                <a:spcPct val="90000"/>
              </a:lnSpc>
            </a:pPr>
            <a:r>
              <a:rPr lang="en-US" sz="1700" b="1" dirty="0"/>
              <a:t>binding 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3281" y="4904698"/>
            <a:ext cx="1710831" cy="567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T cell</a:t>
            </a:r>
          </a:p>
          <a:p>
            <a:pPr algn="l">
              <a:lnSpc>
                <a:spcPct val="90000"/>
              </a:lnSpc>
            </a:pPr>
            <a:r>
              <a:rPr lang="en-US" sz="1700" b="1" dirty="0"/>
              <a:t>receptor (TCR)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7952" y="5998110"/>
            <a:ext cx="742035" cy="332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T </a:t>
            </a:r>
            <a:r>
              <a:rPr lang="en-US" sz="1700" b="1" dirty="0" smtClean="0"/>
              <a:t>cell</a:t>
            </a:r>
            <a:endParaRPr lang="en-US" sz="1700" b="1" dirty="0"/>
          </a:p>
        </p:txBody>
      </p:sp>
      <p:sp>
        <p:nvSpPr>
          <p:cNvPr id="27" name="Freeform 26"/>
          <p:cNvSpPr/>
          <p:nvPr/>
        </p:nvSpPr>
        <p:spPr>
          <a:xfrm>
            <a:off x="3905250" y="750963"/>
            <a:ext cx="1320800" cy="431800"/>
          </a:xfrm>
          <a:custGeom>
            <a:avLst/>
            <a:gdLst>
              <a:gd name="connsiteX0" fmla="*/ 0 w 1320800"/>
              <a:gd name="connsiteY0" fmla="*/ 431800 h 431800"/>
              <a:gd name="connsiteX1" fmla="*/ 1320800 w 1320800"/>
              <a:gd name="connsiteY1" fmla="*/ 0 h 431800"/>
              <a:gd name="connsiteX2" fmla="*/ 1187450 w 1320800"/>
              <a:gd name="connsiteY2" fmla="*/ 422275 h 43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0800" h="431800">
                <a:moveTo>
                  <a:pt x="0" y="431800"/>
                </a:moveTo>
                <a:lnTo>
                  <a:pt x="1320800" y="0"/>
                </a:lnTo>
                <a:lnTo>
                  <a:pt x="1187450" y="422275"/>
                </a:lnTo>
              </a:path>
            </a:pathLst>
          </a:custGeom>
          <a:ln w="28575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4648200" y="1776488"/>
            <a:ext cx="628650" cy="0"/>
          </a:xfrm>
          <a:custGeom>
            <a:avLst/>
            <a:gdLst>
              <a:gd name="connsiteX0" fmla="*/ 0 w 628650"/>
              <a:gd name="connsiteY0" fmla="*/ 0 h 0"/>
              <a:gd name="connsiteX1" fmla="*/ 628650 w 6286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  <a:ln w="28575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4511675" y="4208538"/>
            <a:ext cx="466725" cy="336550"/>
          </a:xfrm>
          <a:custGeom>
            <a:avLst/>
            <a:gdLst>
              <a:gd name="connsiteX0" fmla="*/ 0 w 466725"/>
              <a:gd name="connsiteY0" fmla="*/ 336550 h 336550"/>
              <a:gd name="connsiteX1" fmla="*/ 466725 w 466725"/>
              <a:gd name="connsiteY1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6725" h="336550">
                <a:moveTo>
                  <a:pt x="0" y="336550"/>
                </a:moveTo>
                <a:lnTo>
                  <a:pt x="466725" y="0"/>
                </a:lnTo>
              </a:path>
            </a:pathLst>
          </a:custGeom>
          <a:ln w="28575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4651375" y="5078488"/>
            <a:ext cx="346075" cy="0"/>
          </a:xfrm>
          <a:custGeom>
            <a:avLst/>
            <a:gdLst>
              <a:gd name="connsiteX0" fmla="*/ 0 w 346075"/>
              <a:gd name="connsiteY0" fmla="*/ 0 h 0"/>
              <a:gd name="connsiteX1" fmla="*/ 346075 w 3460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075">
                <a:moveTo>
                  <a:pt x="0" y="0"/>
                </a:moveTo>
                <a:lnTo>
                  <a:pt x="346075" y="0"/>
                </a:lnTo>
              </a:path>
            </a:pathLst>
          </a:custGeom>
          <a:ln w="28575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3209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Diversity</a:t>
            </a:r>
          </a:p>
          <a:p>
            <a:pPr lvl="1"/>
            <a:r>
              <a:rPr lang="en-US" dirty="0" smtClean="0"/>
              <a:t>Specificity means that a B or T cell can recognize only a few of many antigens; determined genetically</a:t>
            </a:r>
          </a:p>
          <a:p>
            <a:pPr lvl="1"/>
            <a:r>
              <a:rPr lang="en-US" dirty="0" smtClean="0"/>
              <a:t>Diversity in B- and T-cell antigen receptor types allows the immune system to recognize millions of antigens</a:t>
            </a:r>
          </a:p>
          <a:p>
            <a:pPr lvl="1"/>
            <a:r>
              <a:rPr lang="en-US" dirty="0" smtClean="0"/>
              <a:t>Antigen interacts with specific lymphocyte</a:t>
            </a:r>
          </a:p>
          <a:p>
            <a:pPr lvl="1"/>
            <a:r>
              <a:rPr lang="en-US" dirty="0" smtClean="0"/>
              <a:t>Induces those lymphocytes to proliferate and differentiate </a:t>
            </a:r>
          </a:p>
          <a:p>
            <a:pPr lvl="2"/>
            <a:r>
              <a:rPr lang="en-US" dirty="0" smtClean="0"/>
              <a:t>Activation of lymphocytes = clonal selection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3414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types of clones</a:t>
            </a:r>
          </a:p>
          <a:p>
            <a:pPr lvl="1"/>
            <a:r>
              <a:rPr lang="en-US" dirty="0" smtClean="0"/>
              <a:t>Effector cells </a:t>
            </a:r>
          </a:p>
          <a:p>
            <a:pPr lvl="2"/>
            <a:r>
              <a:rPr lang="en-US" dirty="0" smtClean="0"/>
              <a:t>Combat the antigen that stimulated their production</a:t>
            </a:r>
          </a:p>
          <a:p>
            <a:pPr lvl="2"/>
            <a:r>
              <a:rPr lang="en-US" dirty="0" smtClean="0"/>
              <a:t>Short lived</a:t>
            </a:r>
          </a:p>
          <a:p>
            <a:pPr lvl="1"/>
            <a:r>
              <a:rPr lang="en-US" dirty="0" smtClean="0"/>
              <a:t>Memory cells </a:t>
            </a:r>
          </a:p>
          <a:p>
            <a:pPr lvl="2"/>
            <a:r>
              <a:rPr lang="en-US" dirty="0" smtClean="0"/>
              <a:t>Long lived</a:t>
            </a:r>
          </a:p>
          <a:p>
            <a:pPr lvl="2"/>
            <a:r>
              <a:rPr lang="en-US" dirty="0" smtClean="0"/>
              <a:t>Antigen specific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02" name="Rectangle 1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23.13  Clonal selection in B lymphocytes.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18" name="Picture 17" descr="figure_23_13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4"/>
          <a:stretch/>
        </p:blipFill>
        <p:spPr>
          <a:xfrm>
            <a:off x="2235201" y="419448"/>
            <a:ext cx="4511711" cy="62601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5548" y="405593"/>
            <a:ext cx="722486" cy="247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100" b="1" dirty="0"/>
              <a:t>Antigen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6213" y="1781187"/>
            <a:ext cx="1305466" cy="247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100" b="1" dirty="0"/>
              <a:t>Cell proliferation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2638" y="2111387"/>
            <a:ext cx="1422973" cy="247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100" b="1" dirty="0"/>
              <a:t>Cell differentiation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3613" y="2562237"/>
            <a:ext cx="1148904" cy="3998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00" b="1" dirty="0"/>
              <a:t>Plasma cells</a:t>
            </a:r>
          </a:p>
          <a:p>
            <a:pPr algn="ctr">
              <a:lnSpc>
                <a:spcPct val="90000"/>
              </a:lnSpc>
            </a:pPr>
            <a:r>
              <a:rPr lang="en-US" sz="1100" b="1" dirty="0"/>
              <a:t>(effector cells)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8884" y="2559062"/>
            <a:ext cx="1223412" cy="247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100" b="1" dirty="0"/>
              <a:t>Memory B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9665" y="5154586"/>
            <a:ext cx="813043" cy="3998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00" b="1" dirty="0"/>
              <a:t>Antibody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secretion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9807" y="5843561"/>
            <a:ext cx="928459" cy="55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100" b="1" dirty="0"/>
              <a:t>Antibodies</a:t>
            </a:r>
          </a:p>
          <a:p>
            <a:pPr algn="l">
              <a:lnSpc>
                <a:spcPct val="90000"/>
              </a:lnSpc>
            </a:pPr>
            <a:r>
              <a:rPr lang="en-US" sz="1100" b="1" dirty="0"/>
              <a:t>bind to</a:t>
            </a:r>
          </a:p>
          <a:p>
            <a:pPr algn="l">
              <a:lnSpc>
                <a:spcPct val="90000"/>
              </a:lnSpc>
            </a:pPr>
            <a:r>
              <a:rPr lang="en-US" sz="1100" b="1" dirty="0"/>
              <a:t>antigen</a:t>
            </a:r>
          </a:p>
        </p:txBody>
      </p:sp>
      <p:sp>
        <p:nvSpPr>
          <p:cNvPr id="26" name="Freeform 25"/>
          <p:cNvSpPr/>
          <p:nvPr/>
        </p:nvSpPr>
        <p:spPr>
          <a:xfrm>
            <a:off x="4546600" y="531741"/>
            <a:ext cx="295275" cy="3175"/>
          </a:xfrm>
          <a:custGeom>
            <a:avLst/>
            <a:gdLst>
              <a:gd name="connsiteX0" fmla="*/ 0 w 295275"/>
              <a:gd name="connsiteY0" fmla="*/ 3175 h 3175"/>
              <a:gd name="connsiteX1" fmla="*/ 295275 w 295275"/>
              <a:gd name="connsiteY1" fmla="*/ 0 h 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5275" h="3175">
                <a:moveTo>
                  <a:pt x="0" y="3175"/>
                </a:moveTo>
                <a:lnTo>
                  <a:pt x="29527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3824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First exposure to antigen</a:t>
            </a:r>
          </a:p>
          <a:p>
            <a:pPr lvl="1"/>
            <a:r>
              <a:rPr lang="en-US" dirty="0" smtClean="0"/>
              <a:t>Takes 10–17 days to occur after exposure</a:t>
            </a:r>
          </a:p>
          <a:p>
            <a:pPr lvl="1"/>
            <a:r>
              <a:rPr lang="en-US" dirty="0" smtClean="0"/>
              <a:t>Symptoms of illness occur during these days</a:t>
            </a:r>
          </a:p>
          <a:p>
            <a:pPr lvl="1"/>
            <a:r>
              <a:rPr lang="en-US" dirty="0" smtClean="0"/>
              <a:t>Antigen-selected B and T cells proliferate and differentiate into effector cells</a:t>
            </a:r>
          </a:p>
          <a:p>
            <a:pPr lvl="2"/>
            <a:r>
              <a:rPr lang="en-US" dirty="0" smtClean="0"/>
              <a:t>Plasma cells</a:t>
            </a:r>
          </a:p>
          <a:p>
            <a:pPr lvl="2"/>
            <a:r>
              <a:rPr lang="en-US" dirty="0" smtClean="0"/>
              <a:t>Cytotoxic T cells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4029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Secondary immune response</a:t>
            </a:r>
          </a:p>
          <a:p>
            <a:pPr lvl="1"/>
            <a:r>
              <a:rPr lang="en-US" dirty="0" smtClean="0"/>
              <a:t>Subsequent exposures to antigen</a:t>
            </a:r>
          </a:p>
          <a:p>
            <a:pPr lvl="1"/>
            <a:r>
              <a:rPr lang="en-US" dirty="0" smtClean="0"/>
              <a:t>Takes 2–7 days to occur</a:t>
            </a:r>
          </a:p>
          <a:p>
            <a:pPr lvl="1"/>
            <a:r>
              <a:rPr lang="en-US" dirty="0" smtClean="0"/>
              <a:t>Response has greater magnitude and is more prolonged</a:t>
            </a:r>
          </a:p>
          <a:p>
            <a:pPr lvl="1"/>
            <a:r>
              <a:rPr lang="en-US" dirty="0" smtClean="0"/>
              <a:t>Occurs due to presence of memory cells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4" name="Rectangle 11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23.14  Primary and secondary responses to a given antigen.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16" name="Picture 15" descr="figure_23_14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11"/>
          <a:stretch/>
        </p:blipFill>
        <p:spPr>
          <a:xfrm>
            <a:off x="266700" y="1295400"/>
            <a:ext cx="8601456" cy="4050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07508" y="3634704"/>
            <a:ext cx="1428596" cy="483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First exposure</a:t>
            </a:r>
          </a:p>
          <a:p>
            <a:pPr algn="l">
              <a:lnSpc>
                <a:spcPct val="90000"/>
              </a:lnSpc>
            </a:pPr>
            <a:r>
              <a:rPr lang="en-US" sz="1400" b="1" dirty="0"/>
              <a:t>to antigen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916" y="1363773"/>
            <a:ext cx="1701520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Primary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179" y="1355362"/>
            <a:ext cx="1954381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Secondary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7080" y="3239395"/>
            <a:ext cx="1184940" cy="8715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Second</a:t>
            </a:r>
          </a:p>
          <a:p>
            <a:pPr algn="l">
              <a:lnSpc>
                <a:spcPct val="90000"/>
              </a:lnSpc>
            </a:pPr>
            <a:r>
              <a:rPr lang="en-US" sz="1400" b="1" dirty="0"/>
              <a:t>exposure</a:t>
            </a:r>
          </a:p>
          <a:p>
            <a:pPr algn="l">
              <a:lnSpc>
                <a:spcPct val="90000"/>
              </a:lnSpc>
            </a:pPr>
            <a:r>
              <a:rPr lang="en-US" sz="1400" b="1" dirty="0"/>
              <a:t>to the same</a:t>
            </a:r>
          </a:p>
          <a:p>
            <a:pPr algn="l">
              <a:lnSpc>
                <a:spcPct val="90000"/>
              </a:lnSpc>
            </a:pPr>
            <a:r>
              <a:rPr lang="en-US" sz="1400" b="1" dirty="0"/>
              <a:t>antigen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859" y="5089782"/>
            <a:ext cx="2416071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Time after infection (days)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885602" y="2869315"/>
            <a:ext cx="2778300" cy="483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b="1" dirty="0"/>
              <a:t>Serum antibody concentration</a:t>
            </a:r>
          </a:p>
          <a:p>
            <a:pPr algn="ctr">
              <a:lnSpc>
                <a:spcPct val="90000"/>
              </a:lnSpc>
            </a:pPr>
            <a:r>
              <a:rPr lang="en-US" sz="1400" b="1" dirty="0"/>
              <a:t>(logarithmic scale)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925" y="1473114"/>
            <a:ext cx="4842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100</a:t>
            </a:r>
            <a:endParaRPr lang="en-US" sz="1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96435" y="2288967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10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54384" y="3062765"/>
            <a:ext cx="43424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1.0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54384" y="3844974"/>
            <a:ext cx="43424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0.1</a:t>
            </a:r>
            <a:endParaRPr lang="en-US" sz="1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53463" y="4652416"/>
            <a:ext cx="53409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0.01</a:t>
            </a:r>
            <a:endParaRPr lang="en-US" sz="1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015102" y="4829044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0</a:t>
            </a:r>
            <a:endParaRPr lang="en-US" sz="1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393561" y="4829044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2</a:t>
            </a:r>
            <a:endParaRPr lang="en-US" sz="1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772022" y="4829045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4</a:t>
            </a:r>
            <a:endParaRPr lang="en-US" sz="1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2158892" y="4829045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6</a:t>
            </a:r>
            <a:endParaRPr lang="en-US" sz="1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545762" y="4829045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8</a:t>
            </a:r>
            <a:endParaRPr lang="en-US" sz="1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2882171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10</a:t>
            </a:r>
            <a:endParaRPr lang="en-US" sz="1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3260631" y="4820634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12</a:t>
            </a:r>
            <a:endParaRPr lang="en-US" sz="14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3655911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14</a:t>
            </a:r>
            <a:endParaRPr lang="en-US" sz="14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042781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16</a:t>
            </a:r>
            <a:endParaRPr lang="en-US" sz="14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4412831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18</a:t>
            </a:r>
            <a:endParaRPr lang="en-US" sz="14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413642" y="4829044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2</a:t>
            </a:r>
            <a:endParaRPr lang="en-US" sz="1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792103" y="4829045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4</a:t>
            </a:r>
            <a:endParaRPr lang="en-US" sz="14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178973" y="4829045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6</a:t>
            </a:r>
            <a:endParaRPr lang="en-US" sz="14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6565843" y="4829045"/>
            <a:ext cx="284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8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6902252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10</a:t>
            </a:r>
            <a:endParaRPr lang="en-US" sz="14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7280712" y="4820634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12</a:t>
            </a:r>
            <a:endParaRPr lang="en-US" sz="14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675992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14</a:t>
            </a:r>
            <a:endParaRPr lang="en-US" sz="14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8062862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16</a:t>
            </a:r>
            <a:endParaRPr lang="en-US" sz="14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8432912" y="4829045"/>
            <a:ext cx="38436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smtClean="0"/>
              <a:t>18</a:t>
            </a:r>
            <a:endParaRPr lang="en-US" sz="1400" b="1" dirty="0"/>
          </a:p>
        </p:txBody>
      </p:sp>
      <p:sp>
        <p:nvSpPr>
          <p:cNvPr id="47" name="Freeform 46"/>
          <p:cNvSpPr/>
          <p:nvPr/>
        </p:nvSpPr>
        <p:spPr>
          <a:xfrm>
            <a:off x="5248275" y="3375025"/>
            <a:ext cx="403225" cy="1384300"/>
          </a:xfrm>
          <a:custGeom>
            <a:avLst/>
            <a:gdLst>
              <a:gd name="connsiteX0" fmla="*/ 0 w 403225"/>
              <a:gd name="connsiteY0" fmla="*/ 1384300 h 1384300"/>
              <a:gd name="connsiteX1" fmla="*/ 403225 w 403225"/>
              <a:gd name="connsiteY1" fmla="*/ 0 h 138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3225" h="1384300">
                <a:moveTo>
                  <a:pt x="0" y="1384300"/>
                </a:moveTo>
                <a:lnTo>
                  <a:pt x="403225" y="0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1177925" y="3778250"/>
            <a:ext cx="876300" cy="993775"/>
          </a:xfrm>
          <a:custGeom>
            <a:avLst/>
            <a:gdLst>
              <a:gd name="connsiteX0" fmla="*/ 0 w 876300"/>
              <a:gd name="connsiteY0" fmla="*/ 993775 h 993775"/>
              <a:gd name="connsiteX1" fmla="*/ 876300 w 876300"/>
              <a:gd name="connsiteY1" fmla="*/ 0 h 99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6300" h="993775">
                <a:moveTo>
                  <a:pt x="0" y="993775"/>
                </a:moveTo>
                <a:lnTo>
                  <a:pt x="876300" y="0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Defenses: Immune Responses</a:t>
            </a:r>
            <a:endParaRPr lang="en-US" dirty="0"/>
          </a:p>
        </p:txBody>
      </p:sp>
      <p:sp>
        <p:nvSpPr>
          <p:cNvPr id="144386" name="Rectangle 6"/>
          <p:cNvSpPr>
            <a:spLocks noGrp="1" noChangeArrowheads="1"/>
          </p:cNvSpPr>
          <p:nvPr>
            <p:ph idx="1"/>
          </p:nvPr>
        </p:nvSpPr>
        <p:spPr>
          <a:xfrm>
            <a:off x="301625" y="1068388"/>
            <a:ext cx="8596747" cy="5256212"/>
          </a:xfrm>
        </p:spPr>
        <p:txBody>
          <a:bodyPr/>
          <a:lstStyle/>
          <a:p>
            <a:r>
              <a:rPr lang="en-US" dirty="0" smtClean="0"/>
              <a:t>Self-tolerance</a:t>
            </a:r>
          </a:p>
          <a:p>
            <a:pPr lvl="1"/>
            <a:r>
              <a:rPr lang="en-US" dirty="0" smtClean="0"/>
              <a:t>B and T cells do not attack normal cells of body</a:t>
            </a:r>
          </a:p>
          <a:p>
            <a:pPr lvl="1"/>
            <a:r>
              <a:rPr lang="en-US" dirty="0" smtClean="0"/>
              <a:t>As cells develop in bone marrow and thymus, any that have antigen receptors against normal body cells are destroyed by apoptosis (programmed cell death)</a:t>
            </a:r>
          </a:p>
          <a:p>
            <a:pPr lvl="1"/>
            <a:r>
              <a:rPr lang="en-US" dirty="0" smtClean="0"/>
              <a:t>Autoimmune diseases caused by failure of self-tolerance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2378</Words>
  <Application>Microsoft Macintosh PowerPoint</Application>
  <PresentationFormat>On-screen Show (4:3)</PresentationFormat>
  <Paragraphs>764</Paragraphs>
  <Slides>69</Slides>
  <Notes>69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0" baseType="lpstr">
      <vt:lpstr>Blank Presentation</vt:lpstr>
      <vt:lpstr>The Immune System</vt:lpstr>
      <vt:lpstr>Chapter Outline</vt:lpstr>
      <vt:lpstr>23.1 Anatomy of the Immune System</vt:lpstr>
      <vt:lpstr>Physical Barriers</vt:lpstr>
      <vt:lpstr>Figure 23.1  Chemical and physical barriers to pathogens.</vt:lpstr>
      <vt:lpstr>Figure 23.2  Immune cell production.</vt:lpstr>
      <vt:lpstr>Figure 23.2  Immune cell production.</vt:lpstr>
      <vt:lpstr>Figure 23.2  Immune cell production.</vt:lpstr>
      <vt:lpstr>Figure 23.2  Immune cell production.</vt:lpstr>
      <vt:lpstr>Figure 23.2  Immune cell production.</vt:lpstr>
      <vt:lpstr>Leukocytes</vt:lpstr>
      <vt:lpstr>Leukocytes</vt:lpstr>
      <vt:lpstr>Leukocytes</vt:lpstr>
      <vt:lpstr>Leukocytes</vt:lpstr>
      <vt:lpstr>Leukocytes</vt:lpstr>
      <vt:lpstr>Leukocytes</vt:lpstr>
      <vt:lpstr>Leukocytes</vt:lpstr>
      <vt:lpstr>Lymphoid Tissues</vt:lpstr>
      <vt:lpstr>Lymphoid Tissues</vt:lpstr>
      <vt:lpstr>Lymphoid Tissues</vt:lpstr>
      <vt:lpstr>Lymphoid Tissue</vt:lpstr>
      <vt:lpstr>Figure 23.3  Lymphoid tissues.</vt:lpstr>
      <vt:lpstr>23.2 Pathogens That Activate the Immune Response</vt:lpstr>
      <vt:lpstr>Viruses</vt:lpstr>
      <vt:lpstr>Bacteria</vt:lpstr>
      <vt:lpstr>Fungi</vt:lpstr>
      <vt:lpstr>Parasites</vt:lpstr>
      <vt:lpstr>Figure 23.4  Classes of pathogens: viruses, bacteria, fungi, and parasites.</vt:lpstr>
      <vt:lpstr>23.3 Organization of the Body's Defenses</vt:lpstr>
      <vt:lpstr>Nonspecific defenses</vt:lpstr>
      <vt:lpstr>Nonspecific Defenses</vt:lpstr>
      <vt:lpstr>Figure 23.5a  Major events in local inflammation.</vt:lpstr>
      <vt:lpstr>Nonspecific Defenses</vt:lpstr>
      <vt:lpstr>Figure 23.5b  Major events in local inflammation.</vt:lpstr>
      <vt:lpstr>Nonspecific Defenses</vt:lpstr>
      <vt:lpstr>Figure 23.5c  Major events in local inflammation.</vt:lpstr>
      <vt:lpstr>Nonspecific Defenses</vt:lpstr>
      <vt:lpstr>Nonspecific Defenses</vt:lpstr>
      <vt:lpstr>Figure 23.5d  Major events in local inflammation.</vt:lpstr>
      <vt:lpstr>Nonspecific Defenses</vt:lpstr>
      <vt:lpstr>Figure 23.5e  Major events in local inflammation.</vt:lpstr>
      <vt:lpstr>Nonspecific Defenses</vt:lpstr>
      <vt:lpstr>Figure 23.6a  Phagocytosis.</vt:lpstr>
      <vt:lpstr>Figure 23.6b  Phagocytosis.</vt:lpstr>
      <vt:lpstr>Nonspecific Defenses</vt:lpstr>
      <vt:lpstr>Nonspecific Defenses</vt:lpstr>
      <vt:lpstr>Nonspecific Defenses</vt:lpstr>
      <vt:lpstr>Nonspecific Defenses</vt:lpstr>
      <vt:lpstr>Nonspecific Defenses</vt:lpstr>
      <vt:lpstr>Nonspecific Defenses</vt:lpstr>
      <vt:lpstr>Nonspecific Defenses</vt:lpstr>
      <vt:lpstr>Figure 23.7  Complement activation and actions.</vt:lpstr>
      <vt:lpstr>Figure 23.8  Complement pathways.</vt:lpstr>
      <vt:lpstr>Nonspecific Defenses</vt:lpstr>
      <vt:lpstr>Figure 23.9  Formation of the MAC complex and cell lysis.</vt:lpstr>
      <vt:lpstr>Figure 23.10  Actions of complement proteins independent of MAC.</vt:lpstr>
      <vt:lpstr>Specific Defenses: Immune Responses</vt:lpstr>
      <vt:lpstr>Specific Defenses: Immune Responses</vt:lpstr>
      <vt:lpstr>Specific Defenses: Immune Responses</vt:lpstr>
      <vt:lpstr>Specific Defenses: Immune Responses</vt:lpstr>
      <vt:lpstr>Figure 23.11  The basis of antigen-antibody specificity.</vt:lpstr>
      <vt:lpstr>Figure 23.12  B cell and T cell antigen receptors.</vt:lpstr>
      <vt:lpstr>Specific Defenses: Immune Responses</vt:lpstr>
      <vt:lpstr>Specific Defenses: Immune Responses</vt:lpstr>
      <vt:lpstr>Figure 23.13  Clonal selection in B lymphocytes.</vt:lpstr>
      <vt:lpstr>Specific Defenses: Immune Responses</vt:lpstr>
      <vt:lpstr>Specific Defenses: Immune Responses</vt:lpstr>
      <vt:lpstr>Figure 23.14  Primary and secondary responses to a given antigen.</vt:lpstr>
      <vt:lpstr>Specific Defenses: Immune Responses</vt:lpstr>
    </vt:vector>
  </TitlesOfParts>
  <Company>PMG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PMG</dc:creator>
  <cp:lastModifiedBy>Premedia media</cp:lastModifiedBy>
  <cp:revision>64</cp:revision>
  <dcterms:created xsi:type="dcterms:W3CDTF">2012-07-13T15:05:13Z</dcterms:created>
  <dcterms:modified xsi:type="dcterms:W3CDTF">2016-03-02T10:51:41Z</dcterms:modified>
</cp:coreProperties>
</file>