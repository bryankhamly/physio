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43" r:id="rId62"/>
    <p:sldId id="344" r:id="rId63"/>
    <p:sldId id="345" r:id="rId64"/>
    <p:sldId id="346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47" r:id="rId76"/>
    <p:sldId id="348" r:id="rId77"/>
    <p:sldId id="349" r:id="rId78"/>
    <p:sldId id="350" r:id="rId79"/>
    <p:sldId id="351" r:id="rId80"/>
    <p:sldId id="352" r:id="rId81"/>
    <p:sldId id="353" r:id="rId82"/>
    <p:sldId id="337" r:id="rId83"/>
    <p:sldId id="338" r:id="rId84"/>
    <p:sldId id="339" r:id="rId85"/>
    <p:sldId id="340" r:id="rId86"/>
    <p:sldId id="341" r:id="rId87"/>
    <p:sldId id="342" r:id="rId8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66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8B3"/>
    <a:srgbClr val="BE004C"/>
    <a:srgbClr val="CCE4BB"/>
    <a:srgbClr val="69BB2D"/>
    <a:srgbClr val="A0CBD1"/>
    <a:srgbClr val="5B3163"/>
    <a:srgbClr val="45A1AC"/>
    <a:srgbClr val="533F7A"/>
    <a:srgbClr val="FF6600"/>
    <a:srgbClr val="015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5" autoAdjust="0"/>
    <p:restoredTop sz="90887" autoAdjust="0"/>
  </p:normalViewPr>
  <p:slideViewPr>
    <p:cSldViewPr snapToGrid="0">
      <p:cViewPr varScale="1">
        <p:scale>
          <a:sx n="82" d="100"/>
          <a:sy n="82" d="100"/>
        </p:scale>
        <p:origin x="1794" y="84"/>
      </p:cViewPr>
      <p:guideLst>
        <p:guide orient="horz" pos="2160"/>
        <p:guide pos="36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B7851-FA3F-1543-9FAB-DCD902E6CB3B}" type="datetimeFigureOut">
              <a:rPr lang="en-US" smtClean="0"/>
              <a:t>11/30/2020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212C-D7EE-654D-94D3-6D73D689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3212C-D7EE-654D-94D3-6D73D68942D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08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19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4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29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A218691-A926-C144-BE35-DD08BE93E63F}" type="slidenum">
              <a:rPr lang="en-US" sz="1200"/>
              <a:pPr eaLnBrk="1" hangingPunct="1"/>
              <a:t>4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E8469E4-D81C-DA46-8D20-A5C448681CF1}" type="slidenum">
              <a:rPr lang="en-US" sz="1200"/>
              <a:pPr eaLnBrk="1" hangingPunct="1"/>
              <a:t>6</a:t>
            </a:fld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C3D125E-CC63-0649-B273-0167CE3B7C1D}" type="slidenum">
              <a:rPr lang="en-US" sz="1200"/>
              <a:pPr eaLnBrk="1" hangingPunct="1"/>
              <a:t>9</a:t>
            </a:fld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67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DC268B2-D0F1-294A-89C7-842E0DBFF0B8}" type="slidenum">
              <a:rPr lang="en-US" sz="1200"/>
              <a:pPr eaLnBrk="1" hangingPunct="1"/>
              <a:t>15</a:t>
            </a:fld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2BA2885-9598-DC4E-B36B-8F036EE8855D}" type="slidenum">
              <a:rPr lang="en-US" sz="1200"/>
              <a:pPr eaLnBrk="1" hangingPunct="1"/>
              <a:t>17</a:t>
            </a:fld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5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915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0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5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007437-3B74-1B43-9761-109A025CBABE}" type="slidenum">
              <a:rPr lang="en-US" sz="1200"/>
              <a:pPr eaLnBrk="1" hangingPunct="1"/>
              <a:t>25</a:t>
            </a:fld>
            <a:endParaRPr 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4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349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553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6221A3A-6E59-F749-B067-93F8A3F46968}" type="slidenum">
              <a:rPr lang="en-US" sz="1200"/>
              <a:pPr eaLnBrk="1" hangingPunct="1"/>
              <a:t>31</a:t>
            </a:fld>
            <a:endParaRPr 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63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168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443F0F8-7A9E-5D4F-BBD9-B250EF5D41AE}" type="slidenum">
              <a:rPr lang="en-US" sz="1200"/>
              <a:pPr eaLnBrk="1" hangingPunct="1"/>
              <a:t>34</a:t>
            </a:fld>
            <a:endParaRPr lang="en-US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577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82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334B51D-D630-DC49-B6F3-E604DFAB6F4D}" type="slidenum">
              <a:rPr lang="en-US" sz="1200"/>
              <a:pPr eaLnBrk="1" hangingPunct="1"/>
              <a:t>37</a:t>
            </a:fld>
            <a:endParaRPr lang="en-US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8192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221AD78-A3EC-A74F-A823-2B5B3F796EE4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397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01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4F785BE-47E7-E14B-B5B1-8C34ECA40E9D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21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625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8306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983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36544F1-6808-5E4C-91BC-534CCFA77452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035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0035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DF09B16-E85D-A847-805D-9F58870E95F6}" type="slidenum">
              <a:rPr lang="en-US" sz="1200"/>
              <a:pPr eaLnBrk="1" hangingPunct="1"/>
              <a:t>47</a:t>
            </a:fld>
            <a:endParaRPr lang="en-US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240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45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49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854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059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105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4B6F1F1-DA18-F740-8F81-F0C48D663926}" type="slidenum">
              <a:rPr lang="en-US" sz="1200"/>
              <a:pPr eaLnBrk="1" hangingPunct="1"/>
              <a:t>52</a:t>
            </a:fld>
            <a:endParaRPr lang="en-US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4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469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167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176B671-E849-2445-A14F-976604F806C5}" type="slidenum">
              <a:rPr lang="en-US" sz="1200"/>
              <a:pPr eaLnBrk="1" hangingPunct="1"/>
              <a:t>55</a:t>
            </a:fld>
            <a:endParaRPr lang="en-US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878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288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493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249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88652E9-4928-9549-BB20-B87AC9C9B502}" type="slidenum">
              <a:rPr lang="en-US" sz="1200"/>
              <a:pPr eaLnBrk="1" hangingPunct="1"/>
              <a:t>59</a:t>
            </a:fld>
            <a:endParaRPr lang="en-US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697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61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62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63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64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721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926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131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541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454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8246B14-A750-6B4F-837B-2E764985BE9F}" type="slidenum">
              <a:rPr lang="en-US" sz="1200"/>
              <a:pPr eaLnBrk="1" hangingPunct="1"/>
              <a:t>69</a:t>
            </a:fld>
            <a:endParaRPr lang="en-US" sz="12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7458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47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F4447E8-CDD4-EA4F-860A-50DC63F1437F}" type="slidenum">
              <a:rPr lang="en-US" sz="1200"/>
              <a:pPr eaLnBrk="1" hangingPunct="1"/>
              <a:t>70</a:t>
            </a:fld>
            <a:endParaRPr lang="en-US" sz="12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950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5155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5155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3462071-0666-9441-82C0-79C8015666B1}" type="slidenum">
              <a:rPr lang="en-US" sz="1200"/>
              <a:pPr eaLnBrk="1" hangingPunct="1"/>
              <a:t>72</a:t>
            </a:fld>
            <a:endParaRPr lang="en-US" sz="12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5360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55650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5565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7868" indent="-27994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19797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67716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5635" indent="-223959" defTabSz="914501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3554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1472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59391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07310" indent="-223959" defTabSz="9145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61B70C7-A7AC-034E-AD73-FD8A39B8AD30}" type="slidenum">
              <a:rPr lang="en-US" sz="1200"/>
              <a:pPr eaLnBrk="1" hangingPunct="1"/>
              <a:t>74</a:t>
            </a:fld>
            <a:endParaRPr lang="en-US" sz="12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75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76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77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78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79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80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06D8CB-A87C-7C4B-83DF-CDBA62AF9E20}" type="slidenum">
              <a:rPr lang="en-US"/>
              <a:pPr/>
              <a:t>81</a:t>
            </a:fld>
            <a:endParaRPr lang="en-US" dirty="0"/>
          </a:p>
        </p:txBody>
      </p:sp>
      <p:sp>
        <p:nvSpPr>
          <p:cNvPr id="77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203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4082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6130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8178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0226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2274" name="Rectangle 3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 userDrawn="1"/>
        </p:nvSpPr>
        <p:spPr bwMode="auto">
          <a:xfrm>
            <a:off x="5723467" y="274638"/>
            <a:ext cx="3043238" cy="6771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900" dirty="0"/>
              <a:t>PowerPoint</a:t>
            </a:r>
            <a:r>
              <a:rPr lang="en-US" sz="1900" baseline="30000" dirty="0"/>
              <a:t>®</a:t>
            </a:r>
            <a:r>
              <a:rPr lang="en-US" sz="1900" dirty="0"/>
              <a:t> Lecture Presentation</a:t>
            </a:r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5723467" y="2741613"/>
            <a:ext cx="1670050" cy="5048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ct val="50000"/>
              </a:spcAft>
              <a:buClr>
                <a:srgbClr val="669900"/>
              </a:buClr>
              <a:buFont typeface="Wingdings" charset="0"/>
              <a:buNone/>
            </a:pPr>
            <a:r>
              <a:rPr lang="en-US" sz="1800" b="1" dirty="0"/>
              <a:t>C H A P T E 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611112"/>
            <a:ext cx="9144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900" dirty="0"/>
              <a:t>© 2017 Pearson Education, Inc.</a:t>
            </a:r>
          </a:p>
        </p:txBody>
      </p:sp>
      <p:sp>
        <p:nvSpPr>
          <p:cNvPr id="3084" name="Rectangle 12"/>
          <p:cNvSpPr>
            <a:spLocks noChangeArrowheads="1"/>
          </p:cNvSpPr>
          <p:nvPr userDrawn="1"/>
        </p:nvSpPr>
        <p:spPr bwMode="auto">
          <a:xfrm>
            <a:off x="5730875" y="4011613"/>
            <a:ext cx="2895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3200" dirty="0">
              <a:solidFill>
                <a:srgbClr val="00ACF7"/>
              </a:solidFill>
            </a:endParaRPr>
          </a:p>
        </p:txBody>
      </p:sp>
      <p:pic>
        <p:nvPicPr>
          <p:cNvPr id="2" name="Picture 1" descr="STAN9804_06_mrktg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82283" cy="68671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BE004C"/>
              </a:buClr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buClr>
                <a:srgbClr val="BE004C"/>
              </a:buClr>
              <a:defRPr/>
            </a:lvl2pPr>
            <a:lvl3pPr>
              <a:lnSpc>
                <a:spcPct val="100000"/>
              </a:lnSpc>
              <a:buClr>
                <a:srgbClr val="BE004C"/>
              </a:buClr>
              <a:defRPr/>
            </a:lvl3pPr>
            <a:lvl4pPr>
              <a:lnSpc>
                <a:spcPct val="100000"/>
              </a:lnSpc>
              <a:buClr>
                <a:srgbClr val="BE004C"/>
              </a:buClr>
              <a:defRPr/>
            </a:lvl4pPr>
            <a:lvl5pPr>
              <a:lnSpc>
                <a:spcPct val="100000"/>
              </a:lnSpc>
              <a:buClr>
                <a:srgbClr val="BE004C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27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554094"/>
            <a:ext cx="8537575" cy="4770505"/>
          </a:xfrm>
        </p:spPr>
        <p:txBody>
          <a:bodyPr/>
          <a:lstStyle>
            <a:lvl1pPr>
              <a:buClr>
                <a:srgbClr val="BE004C"/>
              </a:buClr>
              <a:defRPr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/>
            </a:lvl3pPr>
            <a:lvl4pPr>
              <a:buClr>
                <a:srgbClr val="BE004C"/>
              </a:buClr>
              <a:defRPr/>
            </a:lvl4pPr>
            <a:lvl5pPr>
              <a:buClr>
                <a:srgbClr val="BE004C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35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068388"/>
            <a:ext cx="4192588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68388"/>
            <a:ext cx="4192587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8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545214"/>
            <a:ext cx="4192588" cy="4779385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45336"/>
            <a:ext cx="4192587" cy="47823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42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303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90488"/>
            <a:ext cx="8861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1625" y="1068388"/>
            <a:ext cx="8537575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2"/>
          <p:cNvSpPr>
            <a:spLocks/>
          </p:cNvSpPr>
          <p:nvPr userDrawn="1"/>
        </p:nvSpPr>
        <p:spPr bwMode="auto">
          <a:xfrm>
            <a:off x="0" y="0"/>
            <a:ext cx="9153144" cy="152400"/>
          </a:xfrm>
          <a:prstGeom prst="rect">
            <a:avLst/>
          </a:prstGeom>
          <a:solidFill>
            <a:srgbClr val="A188B3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endParaRPr lang="en-US" sz="3200" dirty="0"/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gray">
          <a:xfrm>
            <a:off x="87313" y="6611112"/>
            <a:ext cx="539908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r>
              <a:rPr lang="en-GB" sz="900" dirty="0">
                <a:cs typeface="Arial" charset="0"/>
              </a:rPr>
              <a:t>© 2017 Pearson Education,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4" r:id="rId5"/>
    <p:sldLayoutId id="2147483655" r:id="rId6"/>
  </p:sldLayoutIdLst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BE004C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5711842" y="4011613"/>
            <a:ext cx="3432158" cy="17081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tx1"/>
                </a:solidFill>
              </a:rPr>
              <a:t>The Gastrointestinal System</a:t>
            </a:r>
          </a:p>
        </p:txBody>
      </p:sp>
      <p:sp>
        <p:nvSpPr>
          <p:cNvPr id="2052" name="Rectangle 11"/>
          <p:cNvSpPr>
            <a:spLocks noChangeArrowheads="1"/>
          </p:cNvSpPr>
          <p:nvPr/>
        </p:nvSpPr>
        <p:spPr bwMode="auto">
          <a:xfrm>
            <a:off x="7334658" y="2212848"/>
            <a:ext cx="1524000" cy="88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6000" b="1" i="1" dirty="0">
                <a:solidFill>
                  <a:srgbClr val="BE004C"/>
                </a:solidFill>
                <a:cs typeface="Arial" charset="0"/>
              </a:rPr>
              <a:t>20a</a:t>
            </a:r>
            <a:endParaRPr lang="en-US" sz="6000" i="1" dirty="0">
              <a:solidFill>
                <a:srgbClr val="BE004C"/>
              </a:solidFill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Outline</a:t>
            </a:r>
          </a:p>
        </p:txBody>
      </p:sp>
      <p:sp>
        <p:nvSpPr>
          <p:cNvPr id="7170" name="Rectangle 1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20.1 	Overview of Gastrointestinal System 	Processes</a:t>
            </a:r>
          </a:p>
          <a:p>
            <a:pPr marL="0" indent="0">
              <a:buNone/>
            </a:pPr>
            <a:r>
              <a:rPr lang="en-US" dirty="0"/>
              <a:t>20.2 	Functional Anatomy of the Gastrointestinal 	System</a:t>
            </a:r>
          </a:p>
          <a:p>
            <a:pPr marL="0" indent="0">
              <a:buNone/>
            </a:pPr>
            <a:r>
              <a:rPr lang="en-US" dirty="0"/>
              <a:t>20.3 	Digestion and Absorption of Nutrients and 	Water </a:t>
            </a:r>
          </a:p>
          <a:p>
            <a:pPr marL="0" indent="0">
              <a:buNone/>
            </a:pPr>
            <a:r>
              <a:rPr lang="en-US" dirty="0"/>
              <a:t>20.4 	General Principles of Gastrointestinal 	Regulation</a:t>
            </a:r>
          </a:p>
          <a:p>
            <a:pPr marL="0" indent="0">
              <a:buNone/>
            </a:pPr>
            <a:r>
              <a:rPr lang="en-US" dirty="0"/>
              <a:t>20.5 	Gastrointestinal Secretion and Its Regulation</a:t>
            </a:r>
          </a:p>
          <a:p>
            <a:pPr marL="0" indent="0">
              <a:buNone/>
            </a:pPr>
            <a:r>
              <a:rPr lang="en-US" dirty="0"/>
              <a:t>20.6 	Gastrointestinal Motility and Its Regulation</a:t>
            </a:r>
          </a:p>
        </p:txBody>
      </p:sp>
    </p:spTree>
    <p:extLst>
      <p:ext uri="{BB962C8B-B14F-4D97-AF65-F5344CB8AC3E}">
        <p14:creationId xmlns:p14="http://schemas.microsoft.com/office/powerpoint/2010/main" val="239950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20.1 Overview of Gastrointestinal System Processes</a:t>
            </a:r>
          </a:p>
        </p:txBody>
      </p:sp>
      <p:sp>
        <p:nvSpPr>
          <p:cNvPr id="9218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Consumed nutrients are too large to enter directly into the bloodstream</a:t>
            </a:r>
          </a:p>
          <a:p>
            <a:r>
              <a:rPr lang="en-US" dirty="0"/>
              <a:t>Nutrients undergo digestion before absorption</a:t>
            </a:r>
          </a:p>
          <a:p>
            <a:r>
              <a:rPr lang="en-US" dirty="0"/>
              <a:t>Motility and secretion aid digestion and absorption</a:t>
            </a:r>
          </a:p>
        </p:txBody>
      </p:sp>
    </p:spTree>
    <p:extLst>
      <p:ext uri="{BB962C8B-B14F-4D97-AF65-F5344CB8AC3E}">
        <p14:creationId xmlns:p14="http://schemas.microsoft.com/office/powerpoint/2010/main" val="227601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8" name="Rectangle 4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chemeClr val="tx1"/>
                </a:solidFill>
              </a:rPr>
              <a:t>Figure 20.1  Overview of the four basic digestive processes: digestion, absorption, secretion, and motility.</a:t>
            </a:r>
          </a:p>
        </p:txBody>
      </p:sp>
      <p:pic>
        <p:nvPicPr>
          <p:cNvPr id="39" name="Picture 38" descr="figure_20_0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8"/>
          <a:stretch/>
        </p:blipFill>
        <p:spPr>
          <a:xfrm>
            <a:off x="2246584" y="424830"/>
            <a:ext cx="4654296" cy="615886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891909" y="416178"/>
            <a:ext cx="813043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40" b="1" dirty="0">
                <a:solidFill>
                  <a:srgbClr val="000000"/>
                </a:solidFill>
              </a:rPr>
              <a:t>Food and water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9634" y="771778"/>
            <a:ext cx="430766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Mouth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9634" y="1032128"/>
            <a:ext cx="633507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Esophagus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9634" y="1505203"/>
            <a:ext cx="531274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Stomach</a:t>
            </a: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3340100" y="878220"/>
            <a:ext cx="46990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5" name="Straight Connector 44"/>
          <p:cNvCxnSpPr/>
          <p:nvPr/>
        </p:nvCxnSpPr>
        <p:spPr bwMode="auto">
          <a:xfrm>
            <a:off x="3340100" y="1135395"/>
            <a:ext cx="46990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3552825" y="1611645"/>
            <a:ext cx="2476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V="1">
            <a:off x="3981450" y="2411745"/>
            <a:ext cx="76200" cy="174625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3359150" y="4240545"/>
            <a:ext cx="222250" cy="1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9" name="Straight Connector 48"/>
          <p:cNvCxnSpPr/>
          <p:nvPr/>
        </p:nvCxnSpPr>
        <p:spPr bwMode="auto">
          <a:xfrm>
            <a:off x="3565525" y="5370846"/>
            <a:ext cx="2476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3514725" y="5783596"/>
            <a:ext cx="29527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>
            <a:off x="3375025" y="6047121"/>
            <a:ext cx="4381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3844409" y="2171953"/>
            <a:ext cx="607859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Accessory</a:t>
            </a:r>
          </a:p>
          <a:p>
            <a:pPr algn="l"/>
            <a:r>
              <a:rPr lang="en-US" sz="640" b="1" dirty="0">
                <a:solidFill>
                  <a:srgbClr val="000000"/>
                </a:solidFill>
              </a:rPr>
              <a:t>glands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01359" y="2902203"/>
            <a:ext cx="479618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Motility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3059" y="2905378"/>
            <a:ext cx="558685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Secretion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8909" y="3934078"/>
            <a:ext cx="558685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Digestion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22259" y="3934078"/>
            <a:ext cx="622324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Absorption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1034" y="4137278"/>
            <a:ext cx="530915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Small</a:t>
            </a:r>
          </a:p>
          <a:p>
            <a:pPr algn="l"/>
            <a:r>
              <a:rPr lang="en-US" sz="640" b="1" dirty="0">
                <a:solidFill>
                  <a:srgbClr val="000000"/>
                </a:solidFill>
              </a:rPr>
              <a:t>intestine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39634" y="5264403"/>
            <a:ext cx="417141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Colon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2809" y="5680328"/>
            <a:ext cx="428322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Feces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39634" y="5940678"/>
            <a:ext cx="556563" cy="28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Rectum</a:t>
            </a:r>
          </a:p>
          <a:p>
            <a:pPr algn="l"/>
            <a:r>
              <a:rPr lang="en-US" sz="640" b="1" dirty="0">
                <a:solidFill>
                  <a:srgbClr val="000000"/>
                </a:solidFill>
              </a:rPr>
              <a:t>and anus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99834" y="6245478"/>
            <a:ext cx="1005403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Unabsorbed material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79209" y="6385178"/>
            <a:ext cx="838691" cy="204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30" b="1" dirty="0">
                <a:solidFill>
                  <a:srgbClr val="000000"/>
                </a:solidFill>
              </a:rPr>
              <a:t>Digestive tract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73209" y="6051803"/>
            <a:ext cx="389850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Liver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9984" y="4165853"/>
            <a:ext cx="394498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Heart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73184" y="2289428"/>
            <a:ext cx="389850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Cells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04934" y="727328"/>
            <a:ext cx="825867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= Food particles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8109" y="898778"/>
            <a:ext cx="1236236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= Large nutrient molecules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8109" y="1073403"/>
            <a:ext cx="1313180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= Smaller nutrient molecules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11284" y="1248028"/>
            <a:ext cx="1428596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= Processed nutrient molecules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8109" y="1422653"/>
            <a:ext cx="620683" cy="19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40" b="1" dirty="0">
                <a:solidFill>
                  <a:srgbClr val="000000"/>
                </a:solidFill>
              </a:rPr>
              <a:t>= Enzymes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8859" y="6385178"/>
            <a:ext cx="1209768" cy="204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30" b="1" dirty="0">
                <a:solidFill>
                  <a:srgbClr val="000000"/>
                </a:solidFill>
              </a:rPr>
              <a:t>Cardiovascular system</a:t>
            </a:r>
          </a:p>
        </p:txBody>
      </p:sp>
    </p:spTree>
    <p:extLst>
      <p:ext uri="{BB962C8B-B14F-4D97-AF65-F5344CB8AC3E}">
        <p14:creationId xmlns:p14="http://schemas.microsoft.com/office/powerpoint/2010/main" val="3991760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20.2	Functional Anatomy of the Gastrointestinal System</a:t>
            </a:r>
          </a:p>
        </p:txBody>
      </p:sp>
      <p:sp>
        <p:nvSpPr>
          <p:cNvPr id="13314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Divisions of the gastrointestinal system</a:t>
            </a:r>
          </a:p>
          <a:p>
            <a:pPr lvl="1"/>
            <a:r>
              <a:rPr lang="en-US" dirty="0"/>
              <a:t>Gastrointestinal (GI) tract</a:t>
            </a:r>
          </a:p>
          <a:p>
            <a:pPr lvl="2"/>
            <a:r>
              <a:rPr lang="en-US" dirty="0"/>
              <a:t>Hollow tube, 15 feet long</a:t>
            </a:r>
          </a:p>
          <a:p>
            <a:pPr lvl="2"/>
            <a:r>
              <a:rPr lang="en-US" dirty="0"/>
              <a:t>Mouth </a:t>
            </a:r>
            <a:r>
              <a:rPr lang="en-US" dirty="0">
                <a:sym typeface="Symbol" charset="0"/>
              </a:rPr>
              <a:t>→ </a:t>
            </a:r>
            <a:r>
              <a:rPr lang="en-US" dirty="0"/>
              <a:t>pharynx </a:t>
            </a:r>
            <a:r>
              <a:rPr lang="en-US" dirty="0">
                <a:sym typeface="Symbol" charset="0"/>
              </a:rPr>
              <a:t>→</a:t>
            </a:r>
            <a:r>
              <a:rPr lang="en-US" dirty="0"/>
              <a:t> esophagus </a:t>
            </a:r>
            <a:r>
              <a:rPr lang="en-US" dirty="0">
                <a:sym typeface="Symbol" charset="0"/>
              </a:rPr>
              <a:t>→</a:t>
            </a:r>
            <a:r>
              <a:rPr lang="en-US" dirty="0"/>
              <a:t> stomach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</a:t>
            </a:r>
            <a:r>
              <a:rPr lang="en-US" dirty="0"/>
              <a:t>small intestine </a:t>
            </a:r>
            <a:r>
              <a:rPr lang="en-US" dirty="0">
                <a:sym typeface="Symbol" charset="0"/>
              </a:rPr>
              <a:t>→</a:t>
            </a:r>
            <a:r>
              <a:rPr lang="en-US" dirty="0"/>
              <a:t> colon </a:t>
            </a:r>
            <a:r>
              <a:rPr lang="en-US" dirty="0">
                <a:sym typeface="Symbol" charset="0"/>
              </a:rPr>
              <a:t>→</a:t>
            </a:r>
            <a:r>
              <a:rPr lang="en-US" dirty="0"/>
              <a:t> rectum </a:t>
            </a:r>
            <a:r>
              <a:rPr lang="en-US" dirty="0">
                <a:sym typeface="Symbol" charset="0"/>
              </a:rPr>
              <a:t>→</a:t>
            </a:r>
            <a:r>
              <a:rPr lang="en-US" dirty="0"/>
              <a:t> anus</a:t>
            </a:r>
          </a:p>
          <a:p>
            <a:pPr lvl="1"/>
            <a:r>
              <a:rPr lang="en-US" dirty="0"/>
              <a:t>Accessory glands</a:t>
            </a:r>
          </a:p>
          <a:p>
            <a:pPr lvl="2"/>
            <a:r>
              <a:rPr lang="en-US" dirty="0"/>
              <a:t>Several glands outside the GI tract secrete fluids and enzymes into the lumen of the GI tract</a:t>
            </a:r>
          </a:p>
        </p:txBody>
      </p:sp>
    </p:spTree>
    <p:extLst>
      <p:ext uri="{BB962C8B-B14F-4D97-AF65-F5344CB8AC3E}">
        <p14:creationId xmlns:p14="http://schemas.microsoft.com/office/powerpoint/2010/main" val="419621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7" name="Rectangle 49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  Major structures of the gastrointestinal system.</a:t>
            </a:r>
          </a:p>
        </p:txBody>
      </p:sp>
      <p:pic>
        <p:nvPicPr>
          <p:cNvPr id="42" name="Picture 41" descr="figure_20_02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1"/>
          <a:stretch/>
        </p:blipFill>
        <p:spPr>
          <a:xfrm>
            <a:off x="2423160" y="418167"/>
            <a:ext cx="4297680" cy="615949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387810" y="1373841"/>
            <a:ext cx="461529" cy="2031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Mouth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9353" y="1335741"/>
            <a:ext cx="852694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Salivary glands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87861" y="1818341"/>
            <a:ext cx="543977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Pharynx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85652" y="2383491"/>
            <a:ext cx="675395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Esophagus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54982" y="2173941"/>
            <a:ext cx="533885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Trachea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3282" y="2529541"/>
            <a:ext cx="407134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Lung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8632" y="3056591"/>
            <a:ext cx="660235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Diaphragm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1031" y="3666191"/>
            <a:ext cx="569387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Stomach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9882" y="3491566"/>
            <a:ext cx="407134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Liver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7186" y="3859866"/>
            <a:ext cx="685576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Gallbladder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8007" y="4075766"/>
            <a:ext cx="595035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Pancreas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92268" y="4447241"/>
            <a:ext cx="827263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Small intestine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87766" y="4710766"/>
            <a:ext cx="442567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Colon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87449" y="4990166"/>
            <a:ext cx="640051" cy="310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10" b="1" dirty="0">
                <a:solidFill>
                  <a:srgbClr val="000000"/>
                </a:solidFill>
              </a:rPr>
              <a:t>Vermiform</a:t>
            </a:r>
          </a:p>
          <a:p>
            <a:pPr algn="l"/>
            <a:r>
              <a:rPr lang="en-US" sz="710" b="1" dirty="0">
                <a:solidFill>
                  <a:srgbClr val="000000"/>
                </a:solidFill>
              </a:rPr>
              <a:t>appendix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87854" y="5491816"/>
            <a:ext cx="518591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Rectum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91775" y="5758516"/>
            <a:ext cx="415498" cy="201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10" b="1" dirty="0">
                <a:solidFill>
                  <a:srgbClr val="000000"/>
                </a:solidFill>
              </a:rPr>
              <a:t>Anus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5789" y="872191"/>
            <a:ext cx="1223412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10" dirty="0">
                <a:solidFill>
                  <a:srgbClr val="000000"/>
                </a:solidFill>
                <a:latin typeface="Arial Black"/>
                <a:cs typeface="Arial Black"/>
              </a:rPr>
              <a:t>Organs of GI tract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9643" y="865841"/>
            <a:ext cx="144142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10" dirty="0">
                <a:solidFill>
                  <a:srgbClr val="000000"/>
                </a:solidFill>
                <a:latin typeface="Arial Black"/>
                <a:cs typeface="Arial Black"/>
              </a:rPr>
              <a:t>Accessory glands and</a:t>
            </a:r>
          </a:p>
          <a:p>
            <a:pPr algn="l"/>
            <a:r>
              <a:rPr lang="en-US" sz="810" dirty="0">
                <a:solidFill>
                  <a:srgbClr val="000000"/>
                </a:solidFill>
                <a:latin typeface="Arial Black"/>
                <a:cs typeface="Arial Black"/>
              </a:rPr>
              <a:t>associated structures</a:t>
            </a:r>
          </a:p>
        </p:txBody>
      </p:sp>
      <p:cxnSp>
        <p:nvCxnSpPr>
          <p:cNvPr id="61" name="Straight Connector 60"/>
          <p:cNvCxnSpPr/>
          <p:nvPr/>
        </p:nvCxnSpPr>
        <p:spPr bwMode="auto">
          <a:xfrm flipH="1">
            <a:off x="2774950" y="1488140"/>
            <a:ext cx="12509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2" name="Straight Connector 61"/>
          <p:cNvCxnSpPr/>
          <p:nvPr/>
        </p:nvCxnSpPr>
        <p:spPr bwMode="auto">
          <a:xfrm flipH="1">
            <a:off x="2863850" y="1611965"/>
            <a:ext cx="1549400" cy="31750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Straight Connector 62"/>
          <p:cNvCxnSpPr/>
          <p:nvPr/>
        </p:nvCxnSpPr>
        <p:spPr bwMode="auto">
          <a:xfrm flipH="1">
            <a:off x="4454525" y="1446865"/>
            <a:ext cx="147637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Straight Connector 63"/>
          <p:cNvCxnSpPr/>
          <p:nvPr/>
        </p:nvCxnSpPr>
        <p:spPr bwMode="auto">
          <a:xfrm flipH="1">
            <a:off x="4098925" y="1446865"/>
            <a:ext cx="1831976" cy="27940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4257675" y="1443690"/>
            <a:ext cx="1673226" cy="34290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 flipH="1">
            <a:off x="4184650" y="2285065"/>
            <a:ext cx="1968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 flipH="1">
            <a:off x="4956175" y="2640665"/>
            <a:ext cx="24447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 flipV="1">
            <a:off x="2974975" y="2500965"/>
            <a:ext cx="1473200" cy="46355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9" name="Straight Connector 68"/>
          <p:cNvCxnSpPr/>
          <p:nvPr/>
        </p:nvCxnSpPr>
        <p:spPr bwMode="auto">
          <a:xfrm flipV="1">
            <a:off x="4013200" y="3218515"/>
            <a:ext cx="1" cy="16510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0" name="Straight Connector 69"/>
          <p:cNvCxnSpPr/>
          <p:nvPr/>
        </p:nvCxnSpPr>
        <p:spPr bwMode="auto">
          <a:xfrm flipH="1">
            <a:off x="4289425" y="3605865"/>
            <a:ext cx="1641476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 flipH="1">
            <a:off x="2879725" y="3783665"/>
            <a:ext cx="194310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4079875" y="3964640"/>
            <a:ext cx="185102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 flipH="1">
            <a:off x="4416425" y="4186890"/>
            <a:ext cx="1514476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 flipH="1">
            <a:off x="3149600" y="4567890"/>
            <a:ext cx="139700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2774950" y="4825065"/>
            <a:ext cx="95885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2946400" y="5110815"/>
            <a:ext cx="1057275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Straight Connector 76"/>
          <p:cNvCxnSpPr/>
          <p:nvPr/>
        </p:nvCxnSpPr>
        <p:spPr bwMode="auto">
          <a:xfrm flipH="1">
            <a:off x="2822576" y="5609290"/>
            <a:ext cx="1520824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8" name="Straight Connector 77"/>
          <p:cNvCxnSpPr/>
          <p:nvPr/>
        </p:nvCxnSpPr>
        <p:spPr bwMode="auto">
          <a:xfrm flipH="1">
            <a:off x="2736851" y="5872815"/>
            <a:ext cx="1666874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3681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1741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 of GI tract</a:t>
            </a:r>
          </a:p>
          <a:p>
            <a:pPr lvl="1"/>
            <a:r>
              <a:rPr lang="en-US" dirty="0"/>
              <a:t>Mucosa</a:t>
            </a:r>
          </a:p>
          <a:p>
            <a:pPr lvl="2"/>
            <a:r>
              <a:rPr lang="en-US" dirty="0"/>
              <a:t>Lining of the lumen</a:t>
            </a:r>
          </a:p>
          <a:p>
            <a:pPr lvl="1"/>
            <a:r>
              <a:rPr lang="en-US" dirty="0" err="1"/>
              <a:t>Submucosa</a:t>
            </a:r>
            <a:endParaRPr lang="en-US" dirty="0"/>
          </a:p>
          <a:p>
            <a:pPr lvl="2"/>
            <a:r>
              <a:rPr lang="en-US" dirty="0"/>
              <a:t>Connective tissue</a:t>
            </a:r>
          </a:p>
          <a:p>
            <a:pPr lvl="1"/>
            <a:r>
              <a:rPr lang="en-US" dirty="0" err="1"/>
              <a:t>Muscularis</a:t>
            </a:r>
            <a:r>
              <a:rPr lang="en-US" dirty="0"/>
              <a:t> externa</a:t>
            </a:r>
          </a:p>
          <a:p>
            <a:pPr lvl="2"/>
            <a:r>
              <a:rPr lang="en-US" dirty="0"/>
              <a:t>Smooth muscle</a:t>
            </a:r>
          </a:p>
          <a:p>
            <a:pPr lvl="1"/>
            <a:r>
              <a:rPr lang="en-US" dirty="0"/>
              <a:t>Serosa</a:t>
            </a:r>
          </a:p>
          <a:p>
            <a:pPr lvl="2"/>
            <a:r>
              <a:rPr lang="en-US" dirty="0"/>
              <a:t>Connective tissue</a:t>
            </a:r>
          </a:p>
        </p:txBody>
      </p:sp>
    </p:spTree>
    <p:extLst>
      <p:ext uri="{BB962C8B-B14F-4D97-AF65-F5344CB8AC3E}">
        <p14:creationId xmlns:p14="http://schemas.microsoft.com/office/powerpoint/2010/main" val="2320347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1945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Mucosa: mucous membrane</a:t>
            </a:r>
          </a:p>
          <a:p>
            <a:pPr lvl="1"/>
            <a:r>
              <a:rPr lang="en-US" dirty="0"/>
              <a:t>Separates GI lumen from internal environment</a:t>
            </a:r>
          </a:p>
          <a:p>
            <a:pPr lvl="1"/>
            <a:r>
              <a:rPr lang="en-US" dirty="0"/>
              <a:t>Enterocytes: epithelial cell types</a:t>
            </a:r>
          </a:p>
          <a:p>
            <a:pPr lvl="2"/>
            <a:r>
              <a:rPr lang="en-US" dirty="0"/>
              <a:t>Absorptive cells</a:t>
            </a:r>
          </a:p>
          <a:p>
            <a:pPr lvl="2"/>
            <a:r>
              <a:rPr lang="en-US" dirty="0"/>
              <a:t>Exocrine cells</a:t>
            </a:r>
          </a:p>
          <a:p>
            <a:pPr lvl="2"/>
            <a:r>
              <a:rPr lang="en-US" dirty="0"/>
              <a:t>Endocrine cells</a:t>
            </a:r>
          </a:p>
          <a:p>
            <a:pPr lvl="1"/>
            <a:r>
              <a:rPr lang="en-US" dirty="0"/>
              <a:t>Three layers</a:t>
            </a:r>
          </a:p>
          <a:p>
            <a:pPr lvl="2"/>
            <a:r>
              <a:rPr lang="en-US" dirty="0"/>
              <a:t>Epithelial lining</a:t>
            </a:r>
          </a:p>
          <a:p>
            <a:pPr lvl="2"/>
            <a:r>
              <a:rPr lang="en-US" dirty="0"/>
              <a:t>Lamina </a:t>
            </a:r>
            <a:r>
              <a:rPr lang="en-US" dirty="0" err="1"/>
              <a:t>propria</a:t>
            </a:r>
            <a:r>
              <a:rPr lang="en-US" dirty="0"/>
              <a:t>: connective tissue</a:t>
            </a:r>
          </a:p>
          <a:p>
            <a:pPr lvl="2"/>
            <a:r>
              <a:rPr lang="en-US" dirty="0" err="1"/>
              <a:t>Muscularis</a:t>
            </a:r>
            <a:r>
              <a:rPr lang="en-US" dirty="0"/>
              <a:t> mucosae: thin smooth muscle</a:t>
            </a:r>
          </a:p>
        </p:txBody>
      </p:sp>
    </p:spTree>
    <p:extLst>
      <p:ext uri="{BB962C8B-B14F-4D97-AF65-F5344CB8AC3E}">
        <p14:creationId xmlns:p14="http://schemas.microsoft.com/office/powerpoint/2010/main" val="211634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9" name="Rectangle 54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461665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20.3  Generalized structure of the gastrointestinal wall, depicting the four major layers and the tissues within them.</a:t>
            </a:r>
          </a:p>
        </p:txBody>
      </p:sp>
      <p:pic>
        <p:nvPicPr>
          <p:cNvPr id="50" name="Picture 49" descr="figure_20_03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8"/>
          <a:stretch/>
        </p:blipFill>
        <p:spPr>
          <a:xfrm>
            <a:off x="271272" y="1268617"/>
            <a:ext cx="8601456" cy="432076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296664" y="1445683"/>
            <a:ext cx="780779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Duct of</a:t>
            </a:r>
          </a:p>
          <a:p>
            <a:pPr algn="l"/>
            <a:r>
              <a:rPr lang="en-US" sz="950" b="1" dirty="0">
                <a:solidFill>
                  <a:srgbClr val="000000"/>
                </a:solidFill>
              </a:rPr>
              <a:t>accessory</a:t>
            </a:r>
          </a:p>
          <a:p>
            <a:pPr algn="l"/>
            <a:r>
              <a:rPr lang="en-US" sz="950" b="1" dirty="0">
                <a:solidFill>
                  <a:srgbClr val="000000"/>
                </a:solidFill>
              </a:rPr>
              <a:t>gland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5731" y="1445683"/>
            <a:ext cx="882085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Enterocytes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3000" y="1445684"/>
            <a:ext cx="86433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Gland in</a:t>
            </a:r>
          </a:p>
          <a:p>
            <a:pPr algn="l"/>
            <a:r>
              <a:rPr lang="en-US" sz="950" b="1" dirty="0">
                <a:solidFill>
                  <a:srgbClr val="000000"/>
                </a:solidFill>
              </a:rPr>
              <a:t>submucosa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563" y="2427813"/>
            <a:ext cx="1005403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Blood vessels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1297" y="3067050"/>
            <a:ext cx="58399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Lumen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566" y="3337982"/>
            <a:ext cx="1018227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Lymph nodule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607" y="4696886"/>
            <a:ext cx="787395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Mesentery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3002" y="3067051"/>
            <a:ext cx="129492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Mucous membrane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68769" y="3295651"/>
            <a:ext cx="106470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Lamina propria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071" y="3520019"/>
            <a:ext cx="1383139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Muscularis mucosae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4539" y="4273551"/>
            <a:ext cx="1098794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Circular muscle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6073" y="4480985"/>
            <a:ext cx="1383139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40" b="1" dirty="0">
                <a:solidFill>
                  <a:srgbClr val="000000"/>
                </a:solidFill>
              </a:rPr>
              <a:t>Longitudinal muscle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2008" y="5031317"/>
            <a:ext cx="132882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Submucosal plexus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6240" y="5348819"/>
            <a:ext cx="1173212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Myenteric plexus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8205" y="5179487"/>
            <a:ext cx="11079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>
                <a:solidFill>
                  <a:srgbClr val="000000"/>
                </a:solidFill>
              </a:rPr>
              <a:t>Enteric nervous </a:t>
            </a:r>
          </a:p>
          <a:p>
            <a:pPr algn="l"/>
            <a:r>
              <a:rPr lang="en-US" sz="950" b="1" dirty="0">
                <a:solidFill>
                  <a:srgbClr val="000000"/>
                </a:solidFill>
              </a:rPr>
              <a:t>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85336" y="3299888"/>
            <a:ext cx="73701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dirty="0">
                <a:solidFill>
                  <a:srgbClr val="000000"/>
                </a:solidFill>
                <a:latin typeface="Arial Black"/>
                <a:cs typeface="Arial Black"/>
              </a:rPr>
              <a:t>Mucosa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9941" y="3964521"/>
            <a:ext cx="101822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dirty="0">
                <a:solidFill>
                  <a:srgbClr val="000000"/>
                </a:solidFill>
                <a:latin typeface="Arial Black"/>
                <a:cs typeface="Arial Black"/>
              </a:rPr>
              <a:t>Submucosa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9944" y="4353991"/>
            <a:ext cx="962086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dirty="0">
                <a:solidFill>
                  <a:srgbClr val="000000"/>
                </a:solidFill>
                <a:latin typeface="Arial Black"/>
                <a:cs typeface="Arial Black"/>
              </a:rPr>
              <a:t>Muscularis</a:t>
            </a:r>
          </a:p>
          <a:p>
            <a:pPr algn="l"/>
            <a:r>
              <a:rPr lang="en-US" sz="1020" dirty="0">
                <a:solidFill>
                  <a:srgbClr val="000000"/>
                </a:solidFill>
                <a:latin typeface="Arial Black"/>
                <a:cs typeface="Arial Black"/>
              </a:rPr>
              <a:t>externa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76875" y="4764623"/>
            <a:ext cx="68480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dirty="0">
                <a:solidFill>
                  <a:srgbClr val="000000"/>
                </a:solidFill>
                <a:latin typeface="Arial Black"/>
                <a:cs typeface="Arial Black"/>
              </a:rPr>
              <a:t>Serosa</a:t>
            </a:r>
          </a:p>
        </p:txBody>
      </p:sp>
      <p:cxnSp>
        <p:nvCxnSpPr>
          <p:cNvPr id="70" name="Straight Connector 69"/>
          <p:cNvCxnSpPr/>
          <p:nvPr/>
        </p:nvCxnSpPr>
        <p:spPr bwMode="auto">
          <a:xfrm flipH="1">
            <a:off x="1833034" y="1574799"/>
            <a:ext cx="103716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 flipH="1">
            <a:off x="1181101" y="2561165"/>
            <a:ext cx="69426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 flipV="1">
            <a:off x="1181100" y="2565401"/>
            <a:ext cx="575733" cy="50799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 flipH="1" flipV="1">
            <a:off x="4000500" y="1650999"/>
            <a:ext cx="8467" cy="1181101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 flipH="1" flipV="1">
            <a:off x="4004734" y="1651001"/>
            <a:ext cx="317499" cy="1109132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4686300" y="1587499"/>
            <a:ext cx="783167" cy="838201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1198034" y="3475565"/>
            <a:ext cx="65616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Straight Connector 76"/>
          <p:cNvCxnSpPr/>
          <p:nvPr/>
        </p:nvCxnSpPr>
        <p:spPr bwMode="auto">
          <a:xfrm flipH="1">
            <a:off x="1020234" y="4834465"/>
            <a:ext cx="83396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8" name="Straight Connector 77"/>
          <p:cNvCxnSpPr/>
          <p:nvPr/>
        </p:nvCxnSpPr>
        <p:spPr bwMode="auto">
          <a:xfrm flipH="1" flipV="1">
            <a:off x="5770033" y="4072467"/>
            <a:ext cx="584200" cy="107949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Straight Connector 78"/>
          <p:cNvCxnSpPr/>
          <p:nvPr/>
        </p:nvCxnSpPr>
        <p:spPr bwMode="auto">
          <a:xfrm flipH="1" flipV="1">
            <a:off x="5723467" y="4292600"/>
            <a:ext cx="630766" cy="1189565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Straight Connector 79"/>
          <p:cNvCxnSpPr/>
          <p:nvPr/>
        </p:nvCxnSpPr>
        <p:spPr bwMode="auto">
          <a:xfrm flipV="1">
            <a:off x="6409267" y="3653367"/>
            <a:ext cx="313266" cy="2540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Straight Connector 80"/>
          <p:cNvCxnSpPr/>
          <p:nvPr/>
        </p:nvCxnSpPr>
        <p:spPr bwMode="auto">
          <a:xfrm flipV="1">
            <a:off x="6244167" y="3420534"/>
            <a:ext cx="482599" cy="397933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2" name="Straight Connector 81"/>
          <p:cNvCxnSpPr/>
          <p:nvPr/>
        </p:nvCxnSpPr>
        <p:spPr bwMode="auto">
          <a:xfrm flipV="1">
            <a:off x="6117167" y="3204635"/>
            <a:ext cx="618065" cy="486832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3" name="Straight Connector 82"/>
          <p:cNvCxnSpPr/>
          <p:nvPr/>
        </p:nvCxnSpPr>
        <p:spPr bwMode="auto">
          <a:xfrm>
            <a:off x="6557433" y="4394200"/>
            <a:ext cx="169333" cy="1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4" name="Straight Connector 83"/>
          <p:cNvCxnSpPr/>
          <p:nvPr/>
        </p:nvCxnSpPr>
        <p:spPr bwMode="auto">
          <a:xfrm>
            <a:off x="6455833" y="4597401"/>
            <a:ext cx="2667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5" name="Right Bracket 84"/>
          <p:cNvSpPr/>
          <p:nvPr/>
        </p:nvSpPr>
        <p:spPr bwMode="auto">
          <a:xfrm>
            <a:off x="7512050" y="5073650"/>
            <a:ext cx="88899" cy="466725"/>
          </a:xfrm>
          <a:prstGeom prst="righ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solidFill>
                  <a:schemeClr val="tx1"/>
                </a:solidFill>
                <a:prstDash val="sysDash"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86" name="Straight Connector 85"/>
          <p:cNvCxnSpPr/>
          <p:nvPr/>
        </p:nvCxnSpPr>
        <p:spPr bwMode="auto">
          <a:xfrm flipV="1">
            <a:off x="6413500" y="3983568"/>
            <a:ext cx="1337733" cy="1057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7" name="Straight Connector 86"/>
          <p:cNvCxnSpPr/>
          <p:nvPr/>
        </p:nvCxnSpPr>
        <p:spPr bwMode="auto">
          <a:xfrm>
            <a:off x="6562725" y="4243918"/>
            <a:ext cx="1245658" cy="1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8" name="Right Bracket 87"/>
          <p:cNvSpPr/>
          <p:nvPr/>
        </p:nvSpPr>
        <p:spPr bwMode="auto">
          <a:xfrm>
            <a:off x="7829550" y="4314826"/>
            <a:ext cx="88899" cy="374650"/>
          </a:xfrm>
          <a:prstGeom prst="righ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solidFill>
                  <a:schemeClr val="tx1"/>
                </a:solidFill>
                <a:prstDash val="sysDash"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9" name="Right Bracket 88"/>
          <p:cNvSpPr/>
          <p:nvPr/>
        </p:nvSpPr>
        <p:spPr bwMode="auto">
          <a:xfrm>
            <a:off x="7823200" y="3978276"/>
            <a:ext cx="88899" cy="263524"/>
          </a:xfrm>
          <a:prstGeom prst="righ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solidFill>
                  <a:schemeClr val="tx1"/>
                </a:solidFill>
                <a:prstDash val="sysDash"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90" name="Straight Connector 89"/>
          <p:cNvCxnSpPr>
            <a:stCxn id="85" idx="2"/>
          </p:cNvCxnSpPr>
          <p:nvPr/>
        </p:nvCxnSpPr>
        <p:spPr bwMode="auto">
          <a:xfrm>
            <a:off x="7600949" y="5307013"/>
            <a:ext cx="99484" cy="158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1" name="Straight Connector 90"/>
          <p:cNvCxnSpPr/>
          <p:nvPr/>
        </p:nvCxnSpPr>
        <p:spPr bwMode="auto">
          <a:xfrm>
            <a:off x="7915274" y="4497388"/>
            <a:ext cx="99484" cy="158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2" name="Straight Connector 91"/>
          <p:cNvCxnSpPr/>
          <p:nvPr/>
        </p:nvCxnSpPr>
        <p:spPr bwMode="auto">
          <a:xfrm>
            <a:off x="7912099" y="4097338"/>
            <a:ext cx="99484" cy="158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3" name="Right Bracket 92"/>
          <p:cNvSpPr/>
          <p:nvPr/>
        </p:nvSpPr>
        <p:spPr bwMode="auto">
          <a:xfrm>
            <a:off x="7861300" y="3140076"/>
            <a:ext cx="88899" cy="593724"/>
          </a:xfrm>
          <a:prstGeom prst="righ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solidFill>
                  <a:schemeClr val="tx1"/>
                </a:solidFill>
                <a:prstDash val="sysDash"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94" name="Straight Connector 93"/>
          <p:cNvCxnSpPr/>
          <p:nvPr/>
        </p:nvCxnSpPr>
        <p:spPr bwMode="auto">
          <a:xfrm>
            <a:off x="7950199" y="3436938"/>
            <a:ext cx="99484" cy="158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5" name="Straight Connector 94"/>
          <p:cNvCxnSpPr/>
          <p:nvPr/>
        </p:nvCxnSpPr>
        <p:spPr bwMode="auto">
          <a:xfrm>
            <a:off x="6460067" y="4665133"/>
            <a:ext cx="266700" cy="2328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6" name="Straight Connector 95"/>
          <p:cNvCxnSpPr/>
          <p:nvPr/>
        </p:nvCxnSpPr>
        <p:spPr bwMode="auto">
          <a:xfrm>
            <a:off x="6722534" y="4897967"/>
            <a:ext cx="12827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8477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2355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Mucosa: lamina </a:t>
            </a:r>
            <a:r>
              <a:rPr lang="en-US" dirty="0" err="1"/>
              <a:t>propria</a:t>
            </a:r>
            <a:endParaRPr lang="en-US" dirty="0"/>
          </a:p>
          <a:p>
            <a:pPr lvl="1"/>
            <a:r>
              <a:rPr lang="en-US" dirty="0"/>
              <a:t>Connective tissue</a:t>
            </a:r>
          </a:p>
          <a:p>
            <a:pPr lvl="1"/>
            <a:r>
              <a:rPr lang="en-US" dirty="0"/>
              <a:t>Small blood vessels and lymphatic vessels</a:t>
            </a:r>
          </a:p>
          <a:p>
            <a:pPr lvl="1"/>
            <a:r>
              <a:rPr lang="en-US" dirty="0"/>
              <a:t>Nerves</a:t>
            </a:r>
          </a:p>
          <a:p>
            <a:pPr lvl="1"/>
            <a:r>
              <a:rPr lang="en-US" dirty="0"/>
              <a:t>Lymphoid tissue </a:t>
            </a:r>
          </a:p>
          <a:p>
            <a:pPr lvl="2"/>
            <a:r>
              <a:rPr lang="en-US" dirty="0"/>
              <a:t>Lymph nodules </a:t>
            </a:r>
          </a:p>
          <a:p>
            <a:pPr lvl="2"/>
            <a:r>
              <a:rPr lang="en-US" dirty="0" err="1"/>
              <a:t>Peyer</a:t>
            </a:r>
            <a:r>
              <a:rPr lang="fr-FR" dirty="0"/>
              <a:t>'</a:t>
            </a:r>
            <a:r>
              <a:rPr lang="en-US" dirty="0"/>
              <a:t>s patches</a:t>
            </a:r>
          </a:p>
        </p:txBody>
      </p:sp>
    </p:spTree>
    <p:extLst>
      <p:ext uri="{BB962C8B-B14F-4D97-AF65-F5344CB8AC3E}">
        <p14:creationId xmlns:p14="http://schemas.microsoft.com/office/powerpoint/2010/main" val="412307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256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Mucosa: </a:t>
            </a:r>
            <a:r>
              <a:rPr lang="en-US" dirty="0" err="1"/>
              <a:t>muscularis</a:t>
            </a:r>
            <a:r>
              <a:rPr lang="en-US" dirty="0"/>
              <a:t> mucosae</a:t>
            </a:r>
          </a:p>
          <a:p>
            <a:pPr lvl="1"/>
            <a:r>
              <a:rPr lang="en-US" dirty="0"/>
              <a:t>Thin layer of smooth muscle</a:t>
            </a:r>
          </a:p>
          <a:p>
            <a:pPr lvl="1"/>
            <a:r>
              <a:rPr lang="en-US" dirty="0"/>
              <a:t>Longitudinal fibers</a:t>
            </a:r>
          </a:p>
          <a:p>
            <a:pPr lvl="1"/>
            <a:r>
              <a:rPr lang="en-US" dirty="0"/>
              <a:t>Circular fibers</a:t>
            </a:r>
          </a:p>
          <a:p>
            <a:pPr lvl="1"/>
            <a:r>
              <a:rPr lang="en-US" dirty="0"/>
              <a:t>Functions in mixing </a:t>
            </a:r>
            <a:r>
              <a:rPr lang="en-US" dirty="0" err="1"/>
              <a:t>lumenal</a:t>
            </a:r>
            <a:r>
              <a:rPr lang="en-US" dirty="0"/>
              <a:t> contents</a:t>
            </a:r>
          </a:p>
        </p:txBody>
      </p:sp>
    </p:spTree>
    <p:extLst>
      <p:ext uri="{BB962C8B-B14F-4D97-AF65-F5344CB8AC3E}">
        <p14:creationId xmlns:p14="http://schemas.microsoft.com/office/powerpoint/2010/main" val="400013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27650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Submucosa</a:t>
            </a:r>
            <a:endParaRPr lang="en-US" dirty="0"/>
          </a:p>
          <a:p>
            <a:pPr lvl="1"/>
            <a:r>
              <a:rPr lang="en-US" dirty="0"/>
              <a:t>Thick layer of connective tissue</a:t>
            </a:r>
          </a:p>
          <a:p>
            <a:pPr lvl="2"/>
            <a:r>
              <a:rPr lang="en-US" dirty="0" err="1"/>
              <a:t>Distensibility</a:t>
            </a:r>
            <a:endParaRPr lang="en-US" dirty="0"/>
          </a:p>
          <a:p>
            <a:pPr lvl="2"/>
            <a:r>
              <a:rPr lang="en-US" dirty="0"/>
              <a:t>Elasticity</a:t>
            </a:r>
          </a:p>
          <a:p>
            <a:pPr lvl="1"/>
            <a:r>
              <a:rPr lang="en-US" dirty="0"/>
              <a:t>Large blood vessels and lymphatic vessels</a:t>
            </a:r>
          </a:p>
          <a:p>
            <a:pPr lvl="1"/>
            <a:r>
              <a:rPr lang="en-US" dirty="0" err="1"/>
              <a:t>Submucosal</a:t>
            </a:r>
            <a:r>
              <a:rPr lang="en-US" dirty="0"/>
              <a:t> plexus (</a:t>
            </a:r>
            <a:r>
              <a:rPr lang="en-US" dirty="0" err="1"/>
              <a:t>Meissner</a:t>
            </a:r>
            <a:r>
              <a:rPr lang="fr-FR" dirty="0"/>
              <a:t>'</a:t>
            </a:r>
            <a:r>
              <a:rPr lang="en-US" dirty="0"/>
              <a:t>s plexus) </a:t>
            </a:r>
          </a:p>
          <a:p>
            <a:pPr lvl="2"/>
            <a:r>
              <a:rPr lang="en-US" dirty="0"/>
              <a:t>Part of enteric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226111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2969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Muscularis</a:t>
            </a:r>
            <a:r>
              <a:rPr lang="en-US" dirty="0"/>
              <a:t> externa</a:t>
            </a:r>
          </a:p>
          <a:p>
            <a:pPr lvl="1"/>
            <a:r>
              <a:rPr lang="en-US" dirty="0"/>
              <a:t>Two layers of smooth muscle</a:t>
            </a:r>
          </a:p>
          <a:p>
            <a:pPr lvl="2"/>
            <a:r>
              <a:rPr lang="en-US" dirty="0"/>
              <a:t>Inner circular layer: changes diameter</a:t>
            </a:r>
          </a:p>
          <a:p>
            <a:pPr lvl="2"/>
            <a:r>
              <a:rPr lang="en-US" dirty="0"/>
              <a:t>Outer longitudinal layer: changes length</a:t>
            </a:r>
          </a:p>
          <a:p>
            <a:pPr lvl="1"/>
            <a:r>
              <a:rPr lang="en-US" dirty="0" err="1"/>
              <a:t>Myenteric</a:t>
            </a:r>
            <a:r>
              <a:rPr lang="en-US" dirty="0"/>
              <a:t> plexus (</a:t>
            </a:r>
            <a:r>
              <a:rPr lang="en-US" dirty="0" err="1"/>
              <a:t>Auerbach</a:t>
            </a:r>
            <a:r>
              <a:rPr lang="fr-FR" dirty="0"/>
              <a:t>'</a:t>
            </a:r>
            <a:r>
              <a:rPr lang="en-US" dirty="0"/>
              <a:t>s plexus)</a:t>
            </a:r>
          </a:p>
          <a:p>
            <a:pPr lvl="2"/>
            <a:r>
              <a:rPr lang="en-US" dirty="0"/>
              <a:t>Second part of enteric nervous system</a:t>
            </a:r>
          </a:p>
        </p:txBody>
      </p:sp>
    </p:spTree>
    <p:extLst>
      <p:ext uri="{BB962C8B-B14F-4D97-AF65-F5344CB8AC3E}">
        <p14:creationId xmlns:p14="http://schemas.microsoft.com/office/powerpoint/2010/main" val="299276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3174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Serosa</a:t>
            </a:r>
          </a:p>
          <a:p>
            <a:pPr lvl="1"/>
            <a:r>
              <a:rPr lang="en-US" dirty="0"/>
              <a:t>Inner layer: connective tissue</a:t>
            </a:r>
          </a:p>
          <a:p>
            <a:pPr lvl="1"/>
            <a:r>
              <a:rPr lang="en-US" dirty="0"/>
              <a:t>Outer layer: epithelial tissue (mesothelium)</a:t>
            </a:r>
          </a:p>
          <a:p>
            <a:pPr lvl="2"/>
            <a:r>
              <a:rPr lang="en-US" dirty="0"/>
              <a:t>Mesothelium is continuous with mesenteries, which are continuous with peritoneum</a:t>
            </a:r>
          </a:p>
        </p:txBody>
      </p:sp>
    </p:spTree>
    <p:extLst>
      <p:ext uri="{BB962C8B-B14F-4D97-AF65-F5344CB8AC3E}">
        <p14:creationId xmlns:p14="http://schemas.microsoft.com/office/powerpoint/2010/main" val="1239655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20.4  Mesenteries.</a:t>
            </a:r>
          </a:p>
        </p:txBody>
      </p:sp>
      <p:pic>
        <p:nvPicPr>
          <p:cNvPr id="7" name="Picture 6" descr="figure_20_04_unlabel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713" y="444399"/>
            <a:ext cx="6424574" cy="596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3584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anatomy of gastrointestinal tract organs</a:t>
            </a:r>
          </a:p>
          <a:p>
            <a:pPr lvl="1"/>
            <a:r>
              <a:rPr lang="en-US" dirty="0"/>
              <a:t>Mouth, pharynx, and esophagus</a:t>
            </a:r>
          </a:p>
          <a:p>
            <a:pPr lvl="1"/>
            <a:r>
              <a:rPr lang="en-US" dirty="0"/>
              <a:t>Stomach</a:t>
            </a:r>
          </a:p>
          <a:p>
            <a:pPr lvl="1"/>
            <a:r>
              <a:rPr lang="en-US" dirty="0"/>
              <a:t>Small intestine</a:t>
            </a:r>
          </a:p>
          <a:p>
            <a:pPr lvl="1"/>
            <a:r>
              <a:rPr lang="en-US" dirty="0"/>
              <a:t>Colon</a:t>
            </a:r>
          </a:p>
          <a:p>
            <a:pPr lvl="1"/>
            <a:r>
              <a:rPr lang="en-US" dirty="0"/>
              <a:t>Rectum and anus</a:t>
            </a:r>
          </a:p>
        </p:txBody>
      </p:sp>
    </p:spTree>
    <p:extLst>
      <p:ext uri="{BB962C8B-B14F-4D97-AF65-F5344CB8AC3E}">
        <p14:creationId xmlns:p14="http://schemas.microsoft.com/office/powerpoint/2010/main" val="463139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2" name="Rectangle 51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20.5  Anatomy of the mouth, pharynx, esophagus, and stomach.</a:t>
            </a:r>
          </a:p>
        </p:txBody>
      </p:sp>
      <p:pic>
        <p:nvPicPr>
          <p:cNvPr id="49" name="Picture 48" descr="figure_20_05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16"/>
          <a:stretch/>
        </p:blipFill>
        <p:spPr>
          <a:xfrm>
            <a:off x="480060" y="395305"/>
            <a:ext cx="8183880" cy="612646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76260" y="1435003"/>
            <a:ext cx="530745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Arial"/>
                <a:cs typeface="Arial"/>
              </a:rPr>
              <a:t>Mouth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8460" y="1680536"/>
            <a:ext cx="492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Teeth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4819" y="1934536"/>
            <a:ext cx="6013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Tongue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29628" y="1794836"/>
            <a:ext cx="7104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Epiglottis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32034" y="160857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Pharynx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0021" y="2125036"/>
            <a:ext cx="81968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Upper</a:t>
            </a:r>
          </a:p>
          <a:p>
            <a:pPr algn="l"/>
            <a:r>
              <a:rPr lang="en-US" sz="900" b="1" dirty="0"/>
              <a:t>esophageal</a:t>
            </a:r>
          </a:p>
          <a:p>
            <a:pPr algn="l"/>
            <a:r>
              <a:rPr lang="en-US" sz="900" b="1" dirty="0"/>
              <a:t>sphincter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28037" y="3284971"/>
            <a:ext cx="8067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Esophagus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27124" y="1447702"/>
            <a:ext cx="8196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Gastric pits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70752" y="3966544"/>
            <a:ext cx="74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Fundus of</a:t>
            </a:r>
          </a:p>
          <a:p>
            <a:pPr algn="l"/>
            <a:r>
              <a:rPr lang="en-US" sz="900" b="1" dirty="0"/>
              <a:t>stomach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25407" y="4279809"/>
            <a:ext cx="582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Gastric</a:t>
            </a:r>
          </a:p>
          <a:p>
            <a:r>
              <a:rPr lang="en-US" sz="900" b="1" dirty="0"/>
              <a:t>glands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4817" y="4749709"/>
            <a:ext cx="1191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Lower esophageal</a:t>
            </a:r>
          </a:p>
          <a:p>
            <a:pPr algn="l"/>
            <a:r>
              <a:rPr lang="en-US" sz="900" b="1" dirty="0"/>
              <a:t>sphincter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3132" y="5223834"/>
            <a:ext cx="1121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Pyloric sphincter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8928" y="5604836"/>
            <a:ext cx="6080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Pylorus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1730" y="5414336"/>
            <a:ext cx="5373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Rugae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6120" y="5816509"/>
            <a:ext cx="65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Body of</a:t>
            </a:r>
          </a:p>
          <a:p>
            <a:pPr algn="l"/>
            <a:r>
              <a:rPr lang="en-US" sz="900" b="1" dirty="0"/>
              <a:t>stomach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95257" y="6218679"/>
            <a:ext cx="735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Antrum of</a:t>
            </a:r>
          </a:p>
          <a:p>
            <a:pPr algn="l"/>
            <a:r>
              <a:rPr lang="en-US" sz="900" b="1" dirty="0"/>
              <a:t>stomach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0131" y="3979248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Chief cells</a:t>
            </a:r>
          </a:p>
          <a:p>
            <a:pPr algn="l"/>
            <a:r>
              <a:rPr lang="en-US" sz="900" b="1" dirty="0"/>
              <a:t>(secrete</a:t>
            </a:r>
          </a:p>
          <a:p>
            <a:pPr algn="l"/>
            <a:r>
              <a:rPr lang="en-US" sz="900" b="1" dirty="0"/>
              <a:t>pepsinogen)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5458" y="4588841"/>
            <a:ext cx="92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Parietal cells</a:t>
            </a:r>
          </a:p>
          <a:p>
            <a:pPr algn="l"/>
            <a:r>
              <a:rPr lang="en-US" sz="900" b="1" dirty="0"/>
              <a:t>(secrete acid)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89491" y="2768522"/>
            <a:ext cx="10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Neck cells</a:t>
            </a:r>
          </a:p>
          <a:p>
            <a:pPr algn="l"/>
            <a:r>
              <a:rPr lang="en-US" sz="900" b="1" dirty="0"/>
              <a:t>(secrete mucus)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89491" y="2438319"/>
            <a:ext cx="6143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/>
              <a:t>Mucosa</a:t>
            </a:r>
          </a:p>
        </p:txBody>
      </p:sp>
      <p:cxnSp>
        <p:nvCxnSpPr>
          <p:cNvPr id="70" name="Straight Connector 69"/>
          <p:cNvCxnSpPr/>
          <p:nvPr/>
        </p:nvCxnSpPr>
        <p:spPr bwMode="auto">
          <a:xfrm flipH="1">
            <a:off x="1000126" y="1817060"/>
            <a:ext cx="644524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 flipH="1" flipV="1">
            <a:off x="1041401" y="1556710"/>
            <a:ext cx="634999" cy="92075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1095376" y="1848810"/>
            <a:ext cx="831849" cy="2159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 flipH="1">
            <a:off x="2390775" y="1731335"/>
            <a:ext cx="9144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 flipH="1">
            <a:off x="2349500" y="1925010"/>
            <a:ext cx="955675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2609850" y="2255210"/>
            <a:ext cx="701677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6" name="Straight Connector 75"/>
          <p:cNvCxnSpPr/>
          <p:nvPr/>
        </p:nvCxnSpPr>
        <p:spPr bwMode="auto">
          <a:xfrm flipH="1">
            <a:off x="2552700" y="3407735"/>
            <a:ext cx="752478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7" name="Straight Connector 76"/>
          <p:cNvCxnSpPr/>
          <p:nvPr/>
        </p:nvCxnSpPr>
        <p:spPr bwMode="auto">
          <a:xfrm flipH="1">
            <a:off x="2238375" y="4880935"/>
            <a:ext cx="42545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8" name="Straight Connector 77"/>
          <p:cNvCxnSpPr/>
          <p:nvPr/>
        </p:nvCxnSpPr>
        <p:spPr bwMode="auto">
          <a:xfrm flipV="1">
            <a:off x="3181350" y="4290385"/>
            <a:ext cx="0" cy="46355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9" name="Straight Connector 78"/>
          <p:cNvCxnSpPr/>
          <p:nvPr/>
        </p:nvCxnSpPr>
        <p:spPr bwMode="auto">
          <a:xfrm flipH="1" flipV="1">
            <a:off x="1721908" y="5443968"/>
            <a:ext cx="187325" cy="2032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0" name="Straight Connector 79"/>
          <p:cNvCxnSpPr/>
          <p:nvPr/>
        </p:nvCxnSpPr>
        <p:spPr bwMode="auto">
          <a:xfrm flipH="1">
            <a:off x="1332442" y="5736069"/>
            <a:ext cx="661458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1" name="Straight Connector 80"/>
          <p:cNvCxnSpPr/>
          <p:nvPr/>
        </p:nvCxnSpPr>
        <p:spPr bwMode="auto">
          <a:xfrm flipH="1">
            <a:off x="2399242" y="5909635"/>
            <a:ext cx="5291" cy="325968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2" name="Straight Connector 81"/>
          <p:cNvCxnSpPr/>
          <p:nvPr/>
        </p:nvCxnSpPr>
        <p:spPr bwMode="auto">
          <a:xfrm flipH="1" flipV="1">
            <a:off x="2937933" y="5685268"/>
            <a:ext cx="660401" cy="249767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3" name="Straight Connector 82"/>
          <p:cNvCxnSpPr/>
          <p:nvPr/>
        </p:nvCxnSpPr>
        <p:spPr bwMode="auto">
          <a:xfrm>
            <a:off x="3187700" y="5321202"/>
            <a:ext cx="537634" cy="220134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4" name="Straight Connector 83"/>
          <p:cNvCxnSpPr/>
          <p:nvPr/>
        </p:nvCxnSpPr>
        <p:spPr bwMode="auto">
          <a:xfrm flipH="1" flipV="1">
            <a:off x="3314700" y="5537102"/>
            <a:ext cx="419099" cy="4234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5" name="Straight Connector 84"/>
          <p:cNvCxnSpPr/>
          <p:nvPr/>
        </p:nvCxnSpPr>
        <p:spPr bwMode="auto">
          <a:xfrm flipH="1">
            <a:off x="4250267" y="4411035"/>
            <a:ext cx="99906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6" name="Straight Connector 85"/>
          <p:cNvCxnSpPr/>
          <p:nvPr/>
        </p:nvCxnSpPr>
        <p:spPr bwMode="auto">
          <a:xfrm flipH="1" flipV="1">
            <a:off x="4246034" y="4411035"/>
            <a:ext cx="630766" cy="2540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7" name="Straight Connector 86"/>
          <p:cNvCxnSpPr/>
          <p:nvPr/>
        </p:nvCxnSpPr>
        <p:spPr bwMode="auto">
          <a:xfrm flipH="1">
            <a:off x="5499100" y="4102002"/>
            <a:ext cx="977899" cy="681566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8" name="Straight Connector 87"/>
          <p:cNvCxnSpPr/>
          <p:nvPr/>
        </p:nvCxnSpPr>
        <p:spPr bwMode="auto">
          <a:xfrm flipH="1">
            <a:off x="5537200" y="4715835"/>
            <a:ext cx="939800" cy="249767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9" name="Straight Connector 88"/>
          <p:cNvCxnSpPr/>
          <p:nvPr/>
        </p:nvCxnSpPr>
        <p:spPr bwMode="auto">
          <a:xfrm flipH="1">
            <a:off x="7212541" y="4715835"/>
            <a:ext cx="27622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0" name="Straight Connector 89"/>
          <p:cNvCxnSpPr/>
          <p:nvPr/>
        </p:nvCxnSpPr>
        <p:spPr bwMode="auto">
          <a:xfrm flipH="1">
            <a:off x="7094008" y="4097768"/>
            <a:ext cx="276226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1" name="Straight Connector 90"/>
          <p:cNvCxnSpPr/>
          <p:nvPr/>
        </p:nvCxnSpPr>
        <p:spPr bwMode="auto">
          <a:xfrm flipH="1">
            <a:off x="6096000" y="2899735"/>
            <a:ext cx="850900" cy="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2" name="Straight Connector 91"/>
          <p:cNvCxnSpPr/>
          <p:nvPr/>
        </p:nvCxnSpPr>
        <p:spPr bwMode="auto">
          <a:xfrm flipH="1" flipV="1">
            <a:off x="5825068" y="1642435"/>
            <a:ext cx="287865" cy="4699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3" name="Straight Connector 92"/>
          <p:cNvCxnSpPr/>
          <p:nvPr/>
        </p:nvCxnSpPr>
        <p:spPr bwMode="auto">
          <a:xfrm flipV="1">
            <a:off x="5541433" y="1638202"/>
            <a:ext cx="292103" cy="469900"/>
          </a:xfrm>
          <a:prstGeom prst="line">
            <a:avLst/>
          </a:prstGeom>
          <a:solidFill>
            <a:schemeClr val="accent1"/>
          </a:solidFill>
          <a:ln w="1143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4" name="Freeform 93"/>
          <p:cNvSpPr/>
          <p:nvPr/>
        </p:nvSpPr>
        <p:spPr>
          <a:xfrm>
            <a:off x="6324600" y="2563185"/>
            <a:ext cx="622300" cy="6350"/>
          </a:xfrm>
          <a:custGeom>
            <a:avLst/>
            <a:gdLst>
              <a:gd name="connsiteX0" fmla="*/ 0 w 622300"/>
              <a:gd name="connsiteY0" fmla="*/ 0 h 6350"/>
              <a:gd name="connsiteX1" fmla="*/ 622300 w 622300"/>
              <a:gd name="connsiteY1" fmla="*/ 635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2300" h="6350">
                <a:moveTo>
                  <a:pt x="0" y="0"/>
                </a:moveTo>
                <a:lnTo>
                  <a:pt x="622300" y="635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21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3993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Mouth</a:t>
            </a:r>
          </a:p>
          <a:p>
            <a:pPr lvl="1"/>
            <a:r>
              <a:rPr lang="en-US" dirty="0"/>
              <a:t>Digestion begins with mastication (chewing)</a:t>
            </a:r>
          </a:p>
          <a:p>
            <a:pPr lvl="1"/>
            <a:r>
              <a:rPr lang="en-US" dirty="0"/>
              <a:t>Secretion: saliva</a:t>
            </a:r>
          </a:p>
          <a:p>
            <a:pPr lvl="2"/>
            <a:r>
              <a:rPr lang="en-US" dirty="0"/>
              <a:t>Lubricant</a:t>
            </a:r>
          </a:p>
          <a:p>
            <a:pPr lvl="2"/>
            <a:r>
              <a:rPr lang="en-US" dirty="0"/>
              <a:t>Salivary amylase: digests starch and glycogen</a:t>
            </a:r>
          </a:p>
          <a:p>
            <a:r>
              <a:rPr lang="en-US" dirty="0"/>
              <a:t>Pharynx</a:t>
            </a:r>
          </a:p>
          <a:p>
            <a:pPr lvl="1"/>
            <a:r>
              <a:rPr lang="en-US" dirty="0"/>
              <a:t>Throat</a:t>
            </a:r>
          </a:p>
          <a:p>
            <a:pPr lvl="1"/>
            <a:r>
              <a:rPr lang="en-US" dirty="0"/>
              <a:t>Common passageway for air and food</a:t>
            </a:r>
          </a:p>
          <a:p>
            <a:pPr lvl="1"/>
            <a:r>
              <a:rPr lang="en-US" dirty="0"/>
              <a:t>Food enters via the esophagus</a:t>
            </a:r>
          </a:p>
        </p:txBody>
      </p:sp>
    </p:spTree>
    <p:extLst>
      <p:ext uri="{BB962C8B-B14F-4D97-AF65-F5344CB8AC3E}">
        <p14:creationId xmlns:p14="http://schemas.microsoft.com/office/powerpoint/2010/main" val="4049438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4198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Esophagus</a:t>
            </a:r>
          </a:p>
          <a:p>
            <a:pPr lvl="1"/>
            <a:r>
              <a:rPr lang="en-US" dirty="0"/>
              <a:t>Muscular tube from pharynx to stomach</a:t>
            </a:r>
          </a:p>
          <a:p>
            <a:pPr lvl="2"/>
            <a:r>
              <a:rPr lang="en-US" dirty="0"/>
              <a:t>Upper one-third: skeletal muscle</a:t>
            </a:r>
          </a:p>
          <a:p>
            <a:pPr lvl="2"/>
            <a:r>
              <a:rPr lang="en-US" dirty="0"/>
              <a:t>Lower two-thirds: smooth muscle</a:t>
            </a:r>
          </a:p>
          <a:p>
            <a:pPr lvl="1"/>
            <a:r>
              <a:rPr lang="en-US" dirty="0"/>
              <a:t>Upper esophageal sphincter </a:t>
            </a:r>
          </a:p>
          <a:p>
            <a:pPr lvl="2"/>
            <a:r>
              <a:rPr lang="en-US" dirty="0"/>
              <a:t>Skeletal muscle</a:t>
            </a:r>
          </a:p>
          <a:p>
            <a:pPr lvl="2"/>
            <a:r>
              <a:rPr lang="en-US" dirty="0"/>
              <a:t>Between pharynx and esophagus</a:t>
            </a:r>
          </a:p>
          <a:p>
            <a:pPr lvl="1"/>
            <a:r>
              <a:rPr lang="en-US" dirty="0"/>
              <a:t>Lower esophageal sphincter </a:t>
            </a:r>
          </a:p>
          <a:p>
            <a:pPr lvl="2"/>
            <a:r>
              <a:rPr lang="en-US" dirty="0"/>
              <a:t>Smooth muscle</a:t>
            </a:r>
          </a:p>
          <a:p>
            <a:pPr lvl="2"/>
            <a:r>
              <a:rPr lang="en-US" dirty="0"/>
              <a:t>Between esophagus and stomach</a:t>
            </a:r>
          </a:p>
        </p:txBody>
      </p:sp>
    </p:spTree>
    <p:extLst>
      <p:ext uri="{BB962C8B-B14F-4D97-AF65-F5344CB8AC3E}">
        <p14:creationId xmlns:p14="http://schemas.microsoft.com/office/powerpoint/2010/main" val="299515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4403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Stomach</a:t>
            </a:r>
          </a:p>
          <a:p>
            <a:pPr lvl="1"/>
            <a:r>
              <a:rPr lang="en-US" dirty="0"/>
              <a:t>Stores food after it is swallowed</a:t>
            </a:r>
          </a:p>
          <a:p>
            <a:pPr lvl="2"/>
            <a:r>
              <a:rPr lang="en-US" dirty="0"/>
              <a:t>Empty volume: 50 mL</a:t>
            </a:r>
          </a:p>
          <a:p>
            <a:pPr lvl="2"/>
            <a:r>
              <a:rPr lang="en-US" dirty="0"/>
              <a:t>Full volume: 1000 mL</a:t>
            </a:r>
          </a:p>
          <a:p>
            <a:pPr lvl="1"/>
            <a:r>
              <a:rPr lang="en-US" dirty="0"/>
              <a:t>Secretes gastric juice</a:t>
            </a:r>
          </a:p>
          <a:p>
            <a:pPr lvl="1"/>
            <a:r>
              <a:rPr lang="en-US" dirty="0"/>
              <a:t>Releases food into intestine slowly</a:t>
            </a:r>
          </a:p>
        </p:txBody>
      </p:sp>
    </p:spTree>
    <p:extLst>
      <p:ext uri="{BB962C8B-B14F-4D97-AF65-F5344CB8AC3E}">
        <p14:creationId xmlns:p14="http://schemas.microsoft.com/office/powerpoint/2010/main" val="2877923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4608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Stomach</a:t>
            </a:r>
          </a:p>
          <a:p>
            <a:pPr lvl="1"/>
            <a:r>
              <a:rPr lang="en-US" dirty="0"/>
              <a:t>Fundus</a:t>
            </a:r>
          </a:p>
          <a:p>
            <a:pPr lvl="1"/>
            <a:r>
              <a:rPr lang="en-US" dirty="0"/>
              <a:t>Body</a:t>
            </a:r>
          </a:p>
          <a:p>
            <a:pPr lvl="1"/>
            <a:r>
              <a:rPr lang="en-US" dirty="0" err="1"/>
              <a:t>Antrum</a:t>
            </a:r>
            <a:endParaRPr lang="en-US" dirty="0"/>
          </a:p>
          <a:p>
            <a:pPr lvl="1"/>
            <a:r>
              <a:rPr lang="en-US" dirty="0"/>
              <a:t>Contractions</a:t>
            </a:r>
          </a:p>
          <a:p>
            <a:pPr lvl="2"/>
            <a:r>
              <a:rPr lang="en-US" dirty="0"/>
              <a:t>Mix </a:t>
            </a:r>
            <a:r>
              <a:rPr lang="en-US" dirty="0" err="1"/>
              <a:t>chyme</a:t>
            </a:r>
            <a:r>
              <a:rPr lang="en-US" dirty="0"/>
              <a:t>, which is passed through pylorus</a:t>
            </a:r>
          </a:p>
          <a:p>
            <a:pPr lvl="2"/>
            <a:r>
              <a:rPr lang="en-US" dirty="0"/>
              <a:t>Gastric emptying</a:t>
            </a:r>
          </a:p>
          <a:p>
            <a:pPr lvl="1"/>
            <a:r>
              <a:rPr lang="en-US" dirty="0"/>
              <a:t>Stomach folds</a:t>
            </a:r>
          </a:p>
          <a:p>
            <a:pPr lvl="2"/>
            <a:r>
              <a:rPr lang="en-US" dirty="0"/>
              <a:t>Stomach expands to accommodate food </a:t>
            </a:r>
            <a:br>
              <a:rPr lang="en-US" dirty="0"/>
            </a:br>
            <a:r>
              <a:rPr lang="en-US" dirty="0"/>
              <a:t>as swallowed</a:t>
            </a:r>
          </a:p>
          <a:p>
            <a:pPr lvl="2"/>
            <a:r>
              <a:rPr lang="en-US" dirty="0" err="1"/>
              <a:t>Rugae</a:t>
            </a:r>
            <a:r>
              <a:rPr lang="en-US" dirty="0"/>
              <a:t>: folds that flatten on expansion</a:t>
            </a:r>
          </a:p>
        </p:txBody>
      </p:sp>
    </p:spTree>
    <p:extLst>
      <p:ext uri="{BB962C8B-B14F-4D97-AF65-F5344CB8AC3E}">
        <p14:creationId xmlns:p14="http://schemas.microsoft.com/office/powerpoint/2010/main" val="671016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48130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Gastric pits</a:t>
            </a:r>
          </a:p>
          <a:p>
            <a:pPr lvl="1"/>
            <a:r>
              <a:rPr lang="en-US" dirty="0"/>
              <a:t>Located in stomach lining; lead to gastric glands</a:t>
            </a:r>
          </a:p>
          <a:p>
            <a:pPr lvl="1"/>
            <a:r>
              <a:rPr lang="en-US" dirty="0"/>
              <a:t>Secretory products</a:t>
            </a:r>
          </a:p>
          <a:p>
            <a:pPr lvl="2"/>
            <a:r>
              <a:rPr lang="en-US" dirty="0"/>
              <a:t>Pepsinogen: secreted by chief cells </a:t>
            </a:r>
          </a:p>
          <a:p>
            <a:pPr lvl="3"/>
            <a:r>
              <a:rPr lang="en-US" dirty="0"/>
              <a:t>Precursor for pepsin, enzyme that digests proteins</a:t>
            </a:r>
          </a:p>
          <a:p>
            <a:pPr lvl="2"/>
            <a:r>
              <a:rPr lang="en-US" dirty="0"/>
              <a:t>Hydrogen ions: secreted by parietal cells </a:t>
            </a:r>
          </a:p>
          <a:p>
            <a:pPr lvl="3"/>
            <a:r>
              <a:rPr lang="en-US" dirty="0"/>
              <a:t>Maintain acidic environment of stomach</a:t>
            </a:r>
          </a:p>
          <a:p>
            <a:pPr lvl="2"/>
            <a:r>
              <a:rPr lang="en-US" dirty="0"/>
              <a:t>Intrinsic factor: secreted by parietal cells </a:t>
            </a:r>
          </a:p>
          <a:p>
            <a:pPr lvl="3"/>
            <a:r>
              <a:rPr lang="en-US" dirty="0"/>
              <a:t>Necessary for absorption of vitamin B</a:t>
            </a:r>
            <a:r>
              <a:rPr lang="en-US" baseline="-25000" dirty="0"/>
              <a:t>12</a:t>
            </a:r>
          </a:p>
          <a:p>
            <a:pPr lvl="2"/>
            <a:r>
              <a:rPr lang="en-US" dirty="0"/>
              <a:t>Gastrin: secreted from G cells (hormone)</a:t>
            </a:r>
          </a:p>
          <a:p>
            <a:pPr lvl="2"/>
            <a:r>
              <a:rPr lang="en-US" dirty="0"/>
              <a:t>Mucus: secreted from neck cells</a:t>
            </a:r>
          </a:p>
        </p:txBody>
      </p:sp>
    </p:spTree>
    <p:extLst>
      <p:ext uri="{BB962C8B-B14F-4D97-AF65-F5344CB8AC3E}">
        <p14:creationId xmlns:p14="http://schemas.microsoft.com/office/powerpoint/2010/main" val="1126426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5017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Acidic environment of stomach</a:t>
            </a:r>
          </a:p>
          <a:p>
            <a:pPr lvl="1"/>
            <a:r>
              <a:rPr lang="en-US" dirty="0"/>
              <a:t>pH = 2</a:t>
            </a:r>
          </a:p>
          <a:p>
            <a:pPr lvl="1"/>
            <a:r>
              <a:rPr lang="en-US" dirty="0"/>
              <a:t>Necessary for activating pepsinogen</a:t>
            </a:r>
          </a:p>
          <a:p>
            <a:pPr lvl="1"/>
            <a:r>
              <a:rPr lang="en-US" dirty="0"/>
              <a:t>Denatures proteins</a:t>
            </a:r>
          </a:p>
          <a:p>
            <a:pPr lvl="1"/>
            <a:r>
              <a:rPr lang="en-US" dirty="0"/>
              <a:t>Kills bacteria</a:t>
            </a:r>
          </a:p>
          <a:p>
            <a:pPr lvl="1"/>
            <a:r>
              <a:rPr lang="en-US" dirty="0"/>
              <a:t>Gastric mucosal barrier</a:t>
            </a:r>
          </a:p>
          <a:p>
            <a:pPr lvl="2"/>
            <a:r>
              <a:rPr lang="en-US" dirty="0"/>
              <a:t>Protective layer of mucus and bicarbonate</a:t>
            </a:r>
          </a:p>
          <a:p>
            <a:pPr lvl="2"/>
            <a:r>
              <a:rPr lang="en-US" dirty="0"/>
              <a:t>Secreted from neck cells and goblet cells</a:t>
            </a:r>
          </a:p>
        </p:txBody>
      </p:sp>
    </p:spTree>
    <p:extLst>
      <p:ext uri="{BB962C8B-B14F-4D97-AF65-F5344CB8AC3E}">
        <p14:creationId xmlns:p14="http://schemas.microsoft.com/office/powerpoint/2010/main" val="875163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52226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intestine</a:t>
            </a:r>
          </a:p>
          <a:p>
            <a:pPr lvl="1"/>
            <a:r>
              <a:rPr lang="en-US" dirty="0"/>
              <a:t>Coiled, hollow tube</a:t>
            </a:r>
          </a:p>
          <a:p>
            <a:pPr lvl="2"/>
            <a:r>
              <a:rPr lang="en-US" dirty="0"/>
              <a:t>8–10 feet long</a:t>
            </a:r>
          </a:p>
          <a:p>
            <a:pPr lvl="2"/>
            <a:r>
              <a:rPr lang="en-US" dirty="0"/>
              <a:t>Between stomach and large intestine</a:t>
            </a:r>
          </a:p>
          <a:p>
            <a:pPr lvl="1"/>
            <a:r>
              <a:rPr lang="en-US" dirty="0"/>
              <a:t>Primary site of digestion and absorption</a:t>
            </a:r>
          </a:p>
          <a:p>
            <a:pPr lvl="1"/>
            <a:r>
              <a:rPr lang="en-US" dirty="0"/>
              <a:t>Three divisions</a:t>
            </a:r>
          </a:p>
          <a:p>
            <a:pPr lvl="2"/>
            <a:r>
              <a:rPr lang="en-US" dirty="0"/>
              <a:t>Duodenum </a:t>
            </a:r>
          </a:p>
          <a:p>
            <a:pPr lvl="2"/>
            <a:r>
              <a:rPr lang="en-US" dirty="0"/>
              <a:t>Jejunum </a:t>
            </a:r>
          </a:p>
          <a:p>
            <a:pPr lvl="2"/>
            <a:r>
              <a:rPr lang="en-US" dirty="0"/>
              <a:t>Ileum</a:t>
            </a:r>
          </a:p>
        </p:txBody>
      </p:sp>
    </p:spTree>
    <p:extLst>
      <p:ext uri="{BB962C8B-B14F-4D97-AF65-F5344CB8AC3E}">
        <p14:creationId xmlns:p14="http://schemas.microsoft.com/office/powerpoint/2010/main" val="650716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26" name="Rectangle 6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20.6  Anatomy of the small intestine.</a:t>
            </a:r>
          </a:p>
        </p:txBody>
      </p:sp>
      <p:pic>
        <p:nvPicPr>
          <p:cNvPr id="59" name="Picture 58" descr="figure_20_06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4"/>
          <a:stretch/>
        </p:blipFill>
        <p:spPr>
          <a:xfrm>
            <a:off x="271272" y="1379961"/>
            <a:ext cx="8601456" cy="409807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01127" y="2717804"/>
            <a:ext cx="820814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Duodenum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768" y="3492503"/>
            <a:ext cx="68560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Jejunum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0780" y="4004738"/>
            <a:ext cx="502859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Ileum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3939" y="3983570"/>
            <a:ext cx="638250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Mucosa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8780" y="4402666"/>
            <a:ext cx="877163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Submucosa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1409" y="4859866"/>
            <a:ext cx="82111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Muscularis</a:t>
            </a:r>
          </a:p>
          <a:p>
            <a:pPr algn="l"/>
            <a:r>
              <a:rPr lang="en-US" sz="950" b="1" dirty="0"/>
              <a:t>externa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29813" y="2688168"/>
            <a:ext cx="401316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Villi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36929" y="2688169"/>
            <a:ext cx="84127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Crypt of</a:t>
            </a:r>
          </a:p>
          <a:p>
            <a:pPr algn="l"/>
            <a:r>
              <a:rPr lang="en-US" sz="950" b="1" dirty="0"/>
              <a:t>Lieberkühn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8536" y="1909238"/>
            <a:ext cx="956324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Brush border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221" y="1714506"/>
            <a:ext cx="699164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Stomach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17174" y="5173122"/>
            <a:ext cx="591018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Serosa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33391" y="5236623"/>
            <a:ext cx="875006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Lymph duct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16192" y="5202757"/>
            <a:ext cx="441945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Vein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6192" y="4910657"/>
            <a:ext cx="543739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Artery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7711" y="4618559"/>
            <a:ext cx="68566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Arteriole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16177" y="4428062"/>
            <a:ext cx="584117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Venule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6177" y="4224862"/>
            <a:ext cx="604521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Lacteal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4154" y="3107259"/>
            <a:ext cx="800886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Capillaries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2189" y="2692394"/>
            <a:ext cx="8209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50" b="1" dirty="0"/>
              <a:t>Absorptive</a:t>
            </a:r>
          </a:p>
          <a:p>
            <a:pPr algn="l"/>
            <a:r>
              <a:rPr lang="en-US" sz="950" b="1" dirty="0"/>
              <a:t>cells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7022" y="1468969"/>
            <a:ext cx="712727" cy="238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0" b="1" dirty="0"/>
              <a:t>Microvilli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23114" y="1490136"/>
            <a:ext cx="11468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Apical membrane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15794" y="2006603"/>
            <a:ext cx="14227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Basolateral membrane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5032" y="3635378"/>
            <a:ext cx="8353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>
                <a:latin typeface="Arial Black"/>
                <a:cs typeface="Arial Black"/>
              </a:rPr>
              <a:t>Small</a:t>
            </a:r>
          </a:p>
          <a:p>
            <a:pPr algn="l"/>
            <a:r>
              <a:rPr lang="en-US" sz="1050" dirty="0">
                <a:latin typeface="Arial Black"/>
                <a:cs typeface="Arial Black"/>
              </a:rPr>
              <a:t>intestine</a:t>
            </a:r>
          </a:p>
        </p:txBody>
      </p:sp>
      <p:cxnSp>
        <p:nvCxnSpPr>
          <p:cNvPr id="83" name="Straight Connector 82"/>
          <p:cNvCxnSpPr/>
          <p:nvPr/>
        </p:nvCxnSpPr>
        <p:spPr bwMode="auto">
          <a:xfrm flipH="1">
            <a:off x="1634068" y="2861733"/>
            <a:ext cx="51646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4" name="Straight Connector 83"/>
          <p:cNvCxnSpPr/>
          <p:nvPr/>
        </p:nvCxnSpPr>
        <p:spPr bwMode="auto">
          <a:xfrm flipH="1">
            <a:off x="1511302" y="3632200"/>
            <a:ext cx="182456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5" name="Straight Connector 84"/>
          <p:cNvCxnSpPr/>
          <p:nvPr/>
        </p:nvCxnSpPr>
        <p:spPr bwMode="auto">
          <a:xfrm flipH="1">
            <a:off x="1350437" y="4144433"/>
            <a:ext cx="78739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6" name="Straight Connector 85"/>
          <p:cNvCxnSpPr/>
          <p:nvPr/>
        </p:nvCxnSpPr>
        <p:spPr bwMode="auto">
          <a:xfrm flipH="1">
            <a:off x="4085170" y="4123267"/>
            <a:ext cx="32596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7" name="Straight Connector 86"/>
          <p:cNvCxnSpPr/>
          <p:nvPr/>
        </p:nvCxnSpPr>
        <p:spPr bwMode="auto">
          <a:xfrm flipH="1">
            <a:off x="4318004" y="4538134"/>
            <a:ext cx="9312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88" name="Straight Connector 87"/>
          <p:cNvCxnSpPr/>
          <p:nvPr/>
        </p:nvCxnSpPr>
        <p:spPr bwMode="auto">
          <a:xfrm flipH="1" flipV="1">
            <a:off x="3263902" y="1917699"/>
            <a:ext cx="4231" cy="2878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9" name="Left Bracket 88"/>
          <p:cNvSpPr/>
          <p:nvPr/>
        </p:nvSpPr>
        <p:spPr bwMode="auto">
          <a:xfrm>
            <a:off x="948266" y="2747433"/>
            <a:ext cx="84667" cy="2082800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90" name="Straight Connector 89"/>
          <p:cNvCxnSpPr>
            <a:endCxn id="89" idx="1"/>
          </p:cNvCxnSpPr>
          <p:nvPr/>
        </p:nvCxnSpPr>
        <p:spPr bwMode="auto">
          <a:xfrm>
            <a:off x="753533" y="3784601"/>
            <a:ext cx="194733" cy="423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91" name="Left Bracket 90"/>
          <p:cNvSpPr/>
          <p:nvPr/>
        </p:nvSpPr>
        <p:spPr bwMode="auto">
          <a:xfrm>
            <a:off x="4411132" y="3894666"/>
            <a:ext cx="80435" cy="451909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92" name="Left Bracket 91"/>
          <p:cNvSpPr/>
          <p:nvPr/>
        </p:nvSpPr>
        <p:spPr bwMode="auto">
          <a:xfrm>
            <a:off x="4411132" y="4367742"/>
            <a:ext cx="80435" cy="359834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93" name="Left Bracket 92"/>
          <p:cNvSpPr/>
          <p:nvPr/>
        </p:nvSpPr>
        <p:spPr bwMode="auto">
          <a:xfrm>
            <a:off x="4411132" y="4742391"/>
            <a:ext cx="80435" cy="518583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94" name="Left Bracket 93"/>
          <p:cNvSpPr/>
          <p:nvPr/>
        </p:nvSpPr>
        <p:spPr bwMode="auto">
          <a:xfrm>
            <a:off x="4411132" y="5269442"/>
            <a:ext cx="80435" cy="86784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95" name="Straight Connector 94"/>
          <p:cNvCxnSpPr>
            <a:stCxn id="93" idx="1"/>
          </p:cNvCxnSpPr>
          <p:nvPr/>
        </p:nvCxnSpPr>
        <p:spPr bwMode="auto">
          <a:xfrm flipH="1">
            <a:off x="4264030" y="5001683"/>
            <a:ext cx="147102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6" name="Straight Connector 95"/>
          <p:cNvCxnSpPr>
            <a:stCxn id="94" idx="1"/>
          </p:cNvCxnSpPr>
          <p:nvPr/>
        </p:nvCxnSpPr>
        <p:spPr bwMode="auto">
          <a:xfrm flipH="1">
            <a:off x="4054480" y="5312834"/>
            <a:ext cx="356652" cy="31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7" name="Straight Connector 96"/>
          <p:cNvCxnSpPr/>
          <p:nvPr/>
        </p:nvCxnSpPr>
        <p:spPr bwMode="auto">
          <a:xfrm flipH="1" flipV="1">
            <a:off x="4628096" y="2891367"/>
            <a:ext cx="131229" cy="4233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8" name="Straight Connector 97"/>
          <p:cNvCxnSpPr/>
          <p:nvPr/>
        </p:nvCxnSpPr>
        <p:spPr bwMode="auto">
          <a:xfrm flipV="1">
            <a:off x="4629150" y="2881844"/>
            <a:ext cx="2122" cy="3947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9" name="Straight Connector 98"/>
          <p:cNvCxnSpPr/>
          <p:nvPr/>
        </p:nvCxnSpPr>
        <p:spPr bwMode="auto">
          <a:xfrm flipV="1">
            <a:off x="5470525" y="3021544"/>
            <a:ext cx="2122" cy="110595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0" name="Straight Connector 99"/>
          <p:cNvCxnSpPr/>
          <p:nvPr/>
        </p:nvCxnSpPr>
        <p:spPr bwMode="auto">
          <a:xfrm flipH="1">
            <a:off x="7442205" y="2823634"/>
            <a:ext cx="3270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1" name="Straight Connector 100"/>
          <p:cNvCxnSpPr/>
          <p:nvPr/>
        </p:nvCxnSpPr>
        <p:spPr bwMode="auto">
          <a:xfrm flipH="1" flipV="1">
            <a:off x="7442201" y="2822575"/>
            <a:ext cx="304799" cy="1873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2" name="Straight Connector 101"/>
          <p:cNvCxnSpPr/>
          <p:nvPr/>
        </p:nvCxnSpPr>
        <p:spPr bwMode="auto">
          <a:xfrm flipH="1">
            <a:off x="7458080" y="3242734"/>
            <a:ext cx="47307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3" name="Straight Connector 102"/>
          <p:cNvCxnSpPr/>
          <p:nvPr/>
        </p:nvCxnSpPr>
        <p:spPr bwMode="auto">
          <a:xfrm flipH="1">
            <a:off x="7483475" y="2131484"/>
            <a:ext cx="920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4" name="Straight Connector 103"/>
          <p:cNvCxnSpPr/>
          <p:nvPr/>
        </p:nvCxnSpPr>
        <p:spPr bwMode="auto">
          <a:xfrm flipH="1">
            <a:off x="5813426" y="2052109"/>
            <a:ext cx="30797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5" name="Straight Connector 104"/>
          <p:cNvCxnSpPr/>
          <p:nvPr/>
        </p:nvCxnSpPr>
        <p:spPr bwMode="auto">
          <a:xfrm flipH="1">
            <a:off x="5956301" y="1604434"/>
            <a:ext cx="68262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6" name="Straight Connector 105"/>
          <p:cNvCxnSpPr/>
          <p:nvPr/>
        </p:nvCxnSpPr>
        <p:spPr bwMode="auto">
          <a:xfrm flipH="1">
            <a:off x="7639050" y="1617134"/>
            <a:ext cx="1555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7" name="Straight Connector 106"/>
          <p:cNvCxnSpPr/>
          <p:nvPr/>
        </p:nvCxnSpPr>
        <p:spPr bwMode="auto">
          <a:xfrm flipH="1">
            <a:off x="7975600" y="4363509"/>
            <a:ext cx="31220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8" name="Straight Connector 107"/>
          <p:cNvCxnSpPr/>
          <p:nvPr/>
        </p:nvCxnSpPr>
        <p:spPr bwMode="auto">
          <a:xfrm flipH="1">
            <a:off x="8086725" y="4569884"/>
            <a:ext cx="20108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09" name="Straight Connector 108"/>
          <p:cNvCxnSpPr/>
          <p:nvPr/>
        </p:nvCxnSpPr>
        <p:spPr bwMode="auto">
          <a:xfrm flipH="1">
            <a:off x="7813675" y="4760384"/>
            <a:ext cx="47413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0" name="Straight Connector 109"/>
          <p:cNvCxnSpPr/>
          <p:nvPr/>
        </p:nvCxnSpPr>
        <p:spPr bwMode="auto">
          <a:xfrm flipH="1">
            <a:off x="8181975" y="5049309"/>
            <a:ext cx="10583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1" name="Straight Connector 110"/>
          <p:cNvCxnSpPr/>
          <p:nvPr/>
        </p:nvCxnSpPr>
        <p:spPr bwMode="auto">
          <a:xfrm flipH="1">
            <a:off x="8181975" y="5338234"/>
            <a:ext cx="10583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2" name="Straight Connector 111"/>
          <p:cNvCxnSpPr/>
          <p:nvPr/>
        </p:nvCxnSpPr>
        <p:spPr bwMode="auto">
          <a:xfrm flipH="1">
            <a:off x="6943726" y="5366809"/>
            <a:ext cx="18732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3" name="Left Bracket 112"/>
          <p:cNvSpPr/>
          <p:nvPr/>
        </p:nvSpPr>
        <p:spPr bwMode="auto">
          <a:xfrm rot="19273272">
            <a:off x="6109572" y="1969906"/>
            <a:ext cx="45719" cy="124668"/>
          </a:xfrm>
          <a:prstGeom prst="leftBracke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114" name="Straight Connector 113"/>
          <p:cNvCxnSpPr/>
          <p:nvPr/>
        </p:nvCxnSpPr>
        <p:spPr bwMode="auto">
          <a:xfrm flipH="1" flipV="1">
            <a:off x="5956300" y="1606551"/>
            <a:ext cx="431800" cy="17462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34155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56322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Secretions into duodenum</a:t>
            </a:r>
          </a:p>
          <a:p>
            <a:pPr lvl="1"/>
            <a:r>
              <a:rPr lang="en-US" dirty="0"/>
              <a:t>Pancreatic juice enters duodenum</a:t>
            </a:r>
          </a:p>
          <a:p>
            <a:pPr lvl="2"/>
            <a:r>
              <a:rPr lang="en-US" dirty="0"/>
              <a:t>Digestive enzymes</a:t>
            </a:r>
          </a:p>
          <a:p>
            <a:pPr lvl="2"/>
            <a:r>
              <a:rPr lang="en-US" dirty="0"/>
              <a:t>Bicarbonate: neutralizes acidic </a:t>
            </a:r>
            <a:r>
              <a:rPr lang="en-US" dirty="0" err="1"/>
              <a:t>chyme</a:t>
            </a:r>
            <a:endParaRPr lang="en-US" dirty="0"/>
          </a:p>
          <a:p>
            <a:pPr lvl="1"/>
            <a:r>
              <a:rPr lang="en-US" dirty="0"/>
              <a:t>Bile enters duodenum</a:t>
            </a:r>
          </a:p>
          <a:p>
            <a:pPr lvl="2"/>
            <a:r>
              <a:rPr lang="en-US" dirty="0"/>
              <a:t>Secreted from liver</a:t>
            </a:r>
          </a:p>
          <a:p>
            <a:pPr lvl="2"/>
            <a:r>
              <a:rPr lang="en-US" dirty="0"/>
              <a:t>Can be stored in gallbladder</a:t>
            </a:r>
          </a:p>
          <a:p>
            <a:pPr lvl="2"/>
            <a:r>
              <a:rPr lang="en-US" dirty="0"/>
              <a:t>Contains bile salts that aid in fat digestion</a:t>
            </a:r>
          </a:p>
        </p:txBody>
      </p:sp>
    </p:spTree>
    <p:extLst>
      <p:ext uri="{BB962C8B-B14F-4D97-AF65-F5344CB8AC3E}">
        <p14:creationId xmlns:p14="http://schemas.microsoft.com/office/powerpoint/2010/main" val="1376019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58370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in small intestine</a:t>
            </a:r>
          </a:p>
          <a:p>
            <a:pPr lvl="1"/>
            <a:r>
              <a:rPr lang="en-US" dirty="0"/>
              <a:t>Absorption is completed within first 20% of the intestine length</a:t>
            </a:r>
          </a:p>
          <a:p>
            <a:pPr lvl="1"/>
            <a:r>
              <a:rPr lang="en-US" dirty="0"/>
              <a:t>Anatomically arranged to provide a large surface area for absorption</a:t>
            </a:r>
          </a:p>
        </p:txBody>
      </p:sp>
    </p:spTree>
    <p:extLst>
      <p:ext uri="{BB962C8B-B14F-4D97-AF65-F5344CB8AC3E}">
        <p14:creationId xmlns:p14="http://schemas.microsoft.com/office/powerpoint/2010/main" val="2269651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6041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intestine wall</a:t>
            </a:r>
          </a:p>
          <a:p>
            <a:pPr lvl="1"/>
            <a:r>
              <a:rPr lang="en-US" dirty="0"/>
              <a:t>Villi increase surface area of epithelium</a:t>
            </a:r>
          </a:p>
          <a:p>
            <a:pPr lvl="2"/>
            <a:r>
              <a:rPr lang="en-US" dirty="0"/>
              <a:t>Contain blood vessels and lacteal for absorption of nutrients</a:t>
            </a:r>
          </a:p>
          <a:p>
            <a:pPr lvl="1"/>
            <a:r>
              <a:rPr lang="en-US" dirty="0"/>
              <a:t>Microvilli increase surface area of epithelial cells</a:t>
            </a:r>
          </a:p>
          <a:p>
            <a:pPr lvl="2"/>
            <a:r>
              <a:rPr lang="en-US" dirty="0"/>
              <a:t>Form brush border</a:t>
            </a:r>
          </a:p>
          <a:p>
            <a:r>
              <a:rPr lang="en-US" dirty="0"/>
              <a:t>Crypts of </a:t>
            </a:r>
            <a:r>
              <a:rPr lang="en-US" dirty="0" err="1"/>
              <a:t>Lieberkuhn</a:t>
            </a:r>
            <a:endParaRPr lang="en-US" dirty="0"/>
          </a:p>
          <a:p>
            <a:pPr lvl="1"/>
            <a:r>
              <a:rPr lang="en-US" dirty="0"/>
              <a:t>Epithelial cells in crypts secrete bicarbonate-rich fluid</a:t>
            </a:r>
          </a:p>
          <a:p>
            <a:pPr lvl="2"/>
            <a:r>
              <a:rPr lang="en-US" dirty="0"/>
              <a:t>Secreted in proximal small intestine</a:t>
            </a:r>
          </a:p>
          <a:p>
            <a:pPr lvl="2"/>
            <a:r>
              <a:rPr lang="en-US" dirty="0"/>
              <a:t>Absorbed in distal small intestine</a:t>
            </a:r>
          </a:p>
        </p:txBody>
      </p:sp>
    </p:spTree>
    <p:extLst>
      <p:ext uri="{BB962C8B-B14F-4D97-AF65-F5344CB8AC3E}">
        <p14:creationId xmlns:p14="http://schemas.microsoft.com/office/powerpoint/2010/main" val="2857770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4"/>
          <p:cNvSpPr txBox="1">
            <a:spLocks noChangeArrowheads="1"/>
          </p:cNvSpPr>
          <p:nvPr/>
        </p:nvSpPr>
        <p:spPr bwMode="auto">
          <a:xfrm>
            <a:off x="457200" y="34290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b="1"/>
          </a:p>
        </p:txBody>
      </p:sp>
      <p:sp>
        <p:nvSpPr>
          <p:cNvPr id="624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6246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of liver in absorption</a:t>
            </a:r>
          </a:p>
          <a:p>
            <a:pPr lvl="1"/>
            <a:r>
              <a:rPr lang="en-US" dirty="0"/>
              <a:t>Absorbed nutrients travel in the blood to the liver before entering the general circulation</a:t>
            </a:r>
          </a:p>
          <a:p>
            <a:pPr lvl="1"/>
            <a:r>
              <a:rPr lang="en-US" dirty="0"/>
              <a:t>Liver functions to detoxify substances and processes certain nutrients</a:t>
            </a:r>
          </a:p>
        </p:txBody>
      </p:sp>
    </p:spTree>
    <p:extLst>
      <p:ext uri="{BB962C8B-B14F-4D97-AF65-F5344CB8AC3E}">
        <p14:creationId xmlns:p14="http://schemas.microsoft.com/office/powerpoint/2010/main" val="195601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64514" name="Rectangle 2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Hepatic portal system</a:t>
            </a:r>
          </a:p>
          <a:p>
            <a:pPr lvl="1"/>
            <a:r>
              <a:rPr lang="en-US" dirty="0"/>
              <a:t>Vasculature that delivers absorbed nutrients to the liver before nutrients enter the general circulation</a:t>
            </a:r>
          </a:p>
          <a:p>
            <a:pPr lvl="1"/>
            <a:r>
              <a:rPr lang="en-US" dirty="0"/>
              <a:t>Nutrients are absorbed from the small intestine into the mesenteric veins</a:t>
            </a:r>
          </a:p>
          <a:p>
            <a:pPr lvl="1"/>
            <a:r>
              <a:rPr lang="en-US" dirty="0"/>
              <a:t>Nutrients travel from the mesenteric veins to the liver via the hepatic portal vein</a:t>
            </a:r>
          </a:p>
          <a:p>
            <a:pPr lvl="1"/>
            <a:r>
              <a:rPr lang="en-US" dirty="0"/>
              <a:t>Nutrients travel from the liver to the heart (general circulation) via the hepatic vein</a:t>
            </a:r>
          </a:p>
          <a:p>
            <a:pPr lvl="1"/>
            <a:r>
              <a:rPr lang="en-US" dirty="0"/>
              <a:t>Hepatic artery provides the liver with fresh blood to supply oxygen</a:t>
            </a:r>
          </a:p>
        </p:txBody>
      </p:sp>
    </p:spTree>
    <p:extLst>
      <p:ext uri="{BB962C8B-B14F-4D97-AF65-F5344CB8AC3E}">
        <p14:creationId xmlns:p14="http://schemas.microsoft.com/office/powerpoint/2010/main" val="27160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0" name="Rectangle 6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20.7  Circulatory route of materials absorbed in the small intestine and colon.</a:t>
            </a:r>
          </a:p>
        </p:txBody>
      </p:sp>
      <p:pic>
        <p:nvPicPr>
          <p:cNvPr id="25" name="Picture 24" descr="figure_20_07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1"/>
          <a:stretch/>
        </p:blipFill>
        <p:spPr>
          <a:xfrm>
            <a:off x="2359152" y="463957"/>
            <a:ext cx="4425696" cy="612698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964217" y="441350"/>
            <a:ext cx="100628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To vena cava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6483" y="1025550"/>
            <a:ext cx="955252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Hepatic vein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3355" y="2219350"/>
            <a:ext cx="49730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8070" y="2028850"/>
            <a:ext cx="867878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From aorta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4797" y="2479700"/>
            <a:ext cx="105712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Hepatic artery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6986" y="3019450"/>
            <a:ext cx="135494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Hepatic portal vein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0807" y="3711600"/>
            <a:ext cx="1594905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b="1" dirty="0"/>
              <a:t>Nutrients, electrolytes,</a:t>
            </a:r>
          </a:p>
          <a:p>
            <a:pPr algn="l"/>
            <a:r>
              <a:rPr lang="en-US" sz="1020" b="1" dirty="0"/>
              <a:t>and water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181" y="3711600"/>
            <a:ext cx="926255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b="1" dirty="0"/>
              <a:t>Electrolytes</a:t>
            </a:r>
          </a:p>
          <a:p>
            <a:pPr algn="l"/>
            <a:r>
              <a:rPr lang="en-US" sz="1020" b="1" dirty="0"/>
              <a:t>and water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2674" y="4511700"/>
            <a:ext cx="868070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b="1" dirty="0"/>
              <a:t>Mesenteric</a:t>
            </a:r>
          </a:p>
          <a:p>
            <a:pPr algn="l"/>
            <a:r>
              <a:rPr lang="en-US" sz="1020" b="1" dirty="0"/>
              <a:t>veins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8272" y="5648350"/>
            <a:ext cx="55517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Colon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403" y="6194450"/>
            <a:ext cx="722511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20" b="1" dirty="0"/>
              <a:t>Small</a:t>
            </a:r>
          </a:p>
          <a:p>
            <a:pPr algn="l"/>
            <a:r>
              <a:rPr lang="en-US" sz="1020" b="1" dirty="0"/>
              <a:t>intestine</a:t>
            </a:r>
          </a:p>
        </p:txBody>
      </p:sp>
      <p:cxnSp>
        <p:nvCxnSpPr>
          <p:cNvPr id="37" name="Straight Connector 36"/>
          <p:cNvCxnSpPr/>
          <p:nvPr/>
        </p:nvCxnSpPr>
        <p:spPr bwMode="auto">
          <a:xfrm flipH="1">
            <a:off x="2733675" y="2359050"/>
            <a:ext cx="203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/>
          <p:nvPr/>
        </p:nvCxnSpPr>
        <p:spPr bwMode="auto">
          <a:xfrm flipH="1">
            <a:off x="4346575" y="3165500"/>
            <a:ext cx="6953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/>
          <p:nvPr/>
        </p:nvCxnSpPr>
        <p:spPr bwMode="auto">
          <a:xfrm flipV="1">
            <a:off x="4565650" y="4289450"/>
            <a:ext cx="266700" cy="2952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/>
          <p:nvPr/>
        </p:nvCxnSpPr>
        <p:spPr bwMode="auto">
          <a:xfrm flipH="1" flipV="1">
            <a:off x="4337050" y="4340250"/>
            <a:ext cx="228601" cy="2508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1" name="Straight Connector 40"/>
          <p:cNvCxnSpPr/>
          <p:nvPr/>
        </p:nvCxnSpPr>
        <p:spPr bwMode="auto">
          <a:xfrm>
            <a:off x="5698067" y="6194450"/>
            <a:ext cx="124884" cy="1354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 flipH="1">
            <a:off x="5738283" y="2257450"/>
            <a:ext cx="6350" cy="2667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" name="Straight Connector 42"/>
          <p:cNvCxnSpPr/>
          <p:nvPr/>
        </p:nvCxnSpPr>
        <p:spPr bwMode="auto">
          <a:xfrm flipH="1">
            <a:off x="3488267" y="1169484"/>
            <a:ext cx="22754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V="1">
            <a:off x="2733675" y="5784876"/>
            <a:ext cx="1212851" cy="317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81963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6861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Large intestine</a:t>
            </a:r>
          </a:p>
          <a:p>
            <a:pPr lvl="1"/>
            <a:r>
              <a:rPr lang="en-US"/>
              <a:t>Large intestine consists of cecum, colon, and rectum</a:t>
            </a:r>
          </a:p>
          <a:p>
            <a:pPr lvl="1"/>
            <a:r>
              <a:rPr lang="en-US"/>
              <a:t>Ileocecal sphincter is between ileum and colon</a:t>
            </a:r>
          </a:p>
          <a:p>
            <a:pPr lvl="1"/>
            <a:r>
              <a:rPr lang="en-US"/>
              <a:t>Teniae coli are bands of longitudinal smooth muscle</a:t>
            </a:r>
          </a:p>
          <a:p>
            <a:r>
              <a:rPr lang="en-US"/>
              <a:t>Colon</a:t>
            </a:r>
          </a:p>
          <a:p>
            <a:pPr lvl="1"/>
            <a:r>
              <a:rPr lang="en-US"/>
              <a:t>Hollow tube from small intestine to rectum</a:t>
            </a:r>
          </a:p>
          <a:p>
            <a:pPr lvl="1"/>
            <a:r>
              <a:rPr lang="en-US"/>
              <a:t>Functions </a:t>
            </a:r>
          </a:p>
          <a:p>
            <a:pPr lvl="2"/>
            <a:r>
              <a:rPr lang="en-US"/>
              <a:t>Concentration of wastes into feces</a:t>
            </a:r>
          </a:p>
          <a:p>
            <a:pPr lvl="2"/>
            <a:r>
              <a:rPr lang="en-US"/>
              <a:t>Absorption of most water</a:t>
            </a:r>
          </a:p>
          <a:p>
            <a:pPr lvl="2"/>
            <a:r>
              <a:rPr lang="en-US"/>
              <a:t>Storage of feces until defecation</a:t>
            </a:r>
          </a:p>
        </p:txBody>
      </p:sp>
    </p:spTree>
    <p:extLst>
      <p:ext uri="{BB962C8B-B14F-4D97-AF65-F5344CB8AC3E}">
        <p14:creationId xmlns:p14="http://schemas.microsoft.com/office/powerpoint/2010/main" val="87130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7065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sections of the colon</a:t>
            </a:r>
          </a:p>
          <a:p>
            <a:pPr lvl="1"/>
            <a:r>
              <a:rPr lang="en-US" dirty="0"/>
              <a:t>Ascending colon</a:t>
            </a:r>
          </a:p>
          <a:p>
            <a:pPr lvl="1"/>
            <a:r>
              <a:rPr lang="en-US" dirty="0"/>
              <a:t>Transverse colon</a:t>
            </a:r>
          </a:p>
          <a:p>
            <a:pPr lvl="1"/>
            <a:r>
              <a:rPr lang="en-US" dirty="0"/>
              <a:t>Descending colon</a:t>
            </a:r>
          </a:p>
          <a:p>
            <a:pPr lvl="1"/>
            <a:r>
              <a:rPr lang="en-US" dirty="0"/>
              <a:t>Sigmoid colon</a:t>
            </a:r>
          </a:p>
        </p:txBody>
      </p:sp>
    </p:spTree>
    <p:extLst>
      <p:ext uri="{BB962C8B-B14F-4D97-AF65-F5344CB8AC3E}">
        <p14:creationId xmlns:p14="http://schemas.microsoft.com/office/powerpoint/2010/main" val="1381119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36" name="Rectangle 4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20.8  Major anatomical features of the colon.</a:t>
            </a:r>
          </a:p>
        </p:txBody>
      </p:sp>
      <p:pic>
        <p:nvPicPr>
          <p:cNvPr id="37" name="Picture 36" descr="figure_20_08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8"/>
          <a:stretch/>
        </p:blipFill>
        <p:spPr>
          <a:xfrm>
            <a:off x="2144268" y="425783"/>
            <a:ext cx="4855464" cy="612457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88539" y="1121638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Diaphragm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10896" y="2772636"/>
            <a:ext cx="9412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Transverse</a:t>
            </a:r>
          </a:p>
          <a:p>
            <a:pPr algn="l"/>
            <a:r>
              <a:rPr lang="en-US" sz="1100" b="1" dirty="0"/>
              <a:t>colon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8011" y="3373771"/>
            <a:ext cx="9185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Ascending</a:t>
            </a:r>
          </a:p>
          <a:p>
            <a:pPr algn="l"/>
            <a:r>
              <a:rPr lang="en-US" sz="1100" b="1" dirty="0"/>
              <a:t>colon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50355" y="3941035"/>
            <a:ext cx="6591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Cecum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6062" y="3576970"/>
            <a:ext cx="984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Descending</a:t>
            </a:r>
          </a:p>
          <a:p>
            <a:pPr algn="l"/>
            <a:r>
              <a:rPr lang="en-US" sz="1100" b="1" dirty="0"/>
              <a:t>colon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7379" y="3174805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Teniae coli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47904" y="2692204"/>
            <a:ext cx="7804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Stomach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0372" y="3284870"/>
            <a:ext cx="8195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Ileocecal</a:t>
            </a:r>
          </a:p>
          <a:p>
            <a:r>
              <a:rPr lang="en-US" sz="1100" b="1" dirty="0"/>
              <a:t>sphincter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341" y="3653170"/>
            <a:ext cx="8515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Terminal</a:t>
            </a:r>
          </a:p>
          <a:p>
            <a:pPr algn="l"/>
            <a:r>
              <a:rPr lang="en-US" sz="1100" b="1" dirty="0"/>
              <a:t>portion of</a:t>
            </a:r>
          </a:p>
          <a:p>
            <a:pPr algn="l"/>
            <a:r>
              <a:rPr lang="en-US" sz="1100" b="1" dirty="0"/>
              <a:t>small</a:t>
            </a:r>
          </a:p>
          <a:p>
            <a:pPr algn="l"/>
            <a:r>
              <a:rPr lang="en-US" sz="1100" b="1" dirty="0"/>
              <a:t>intestine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3366" y="4546404"/>
            <a:ext cx="7410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Sigmoid</a:t>
            </a:r>
          </a:p>
          <a:p>
            <a:pPr algn="l"/>
            <a:r>
              <a:rPr lang="en-US" sz="1100" b="1" dirty="0"/>
              <a:t>colon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6913" y="4715738"/>
            <a:ext cx="7104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Rectum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19501" y="4436337"/>
            <a:ext cx="8901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Vermiform</a:t>
            </a:r>
          </a:p>
          <a:p>
            <a:pPr algn="l"/>
            <a:r>
              <a:rPr lang="en-US" sz="1100" b="1" dirty="0"/>
              <a:t>appendix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012" y="5283004"/>
            <a:ext cx="1141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Internal</a:t>
            </a:r>
          </a:p>
          <a:p>
            <a:pPr algn="l"/>
            <a:r>
              <a:rPr lang="en-US" sz="1100" b="1" dirty="0"/>
              <a:t>anal sphincter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9460" y="6019606"/>
            <a:ext cx="5501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Anus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80177" y="5384606"/>
            <a:ext cx="1141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dirty="0"/>
              <a:t>External</a:t>
            </a:r>
          </a:p>
          <a:p>
            <a:pPr algn="l"/>
            <a:r>
              <a:rPr lang="en-US" sz="1100" b="1" dirty="0"/>
              <a:t>anal sphincter</a:t>
            </a:r>
          </a:p>
        </p:txBody>
      </p:sp>
      <p:cxnSp>
        <p:nvCxnSpPr>
          <p:cNvPr id="53" name="Straight Connector 52"/>
          <p:cNvCxnSpPr/>
          <p:nvPr/>
        </p:nvCxnSpPr>
        <p:spPr bwMode="auto">
          <a:xfrm flipV="1">
            <a:off x="5245099" y="1341769"/>
            <a:ext cx="0" cy="3725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/>
          <p:nvPr/>
        </p:nvCxnSpPr>
        <p:spPr bwMode="auto">
          <a:xfrm>
            <a:off x="2980267" y="2929270"/>
            <a:ext cx="108796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2950634" y="3521937"/>
            <a:ext cx="6646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2730501" y="4097670"/>
            <a:ext cx="101176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V="1">
            <a:off x="2929468" y="4296637"/>
            <a:ext cx="1054099" cy="2921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8" name="Straight Connector 57"/>
          <p:cNvCxnSpPr/>
          <p:nvPr/>
        </p:nvCxnSpPr>
        <p:spPr bwMode="auto">
          <a:xfrm>
            <a:off x="3860801" y="4863903"/>
            <a:ext cx="48259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5215467" y="4686103"/>
            <a:ext cx="32596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0" name="Straight Connector 59"/>
          <p:cNvCxnSpPr/>
          <p:nvPr/>
        </p:nvCxnSpPr>
        <p:spPr bwMode="auto">
          <a:xfrm>
            <a:off x="3793067" y="5426936"/>
            <a:ext cx="7408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1" name="Straight Connector 60"/>
          <p:cNvCxnSpPr/>
          <p:nvPr/>
        </p:nvCxnSpPr>
        <p:spPr bwMode="auto">
          <a:xfrm>
            <a:off x="4643967" y="5537002"/>
            <a:ext cx="49106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2" name="Straight Connector 61"/>
          <p:cNvCxnSpPr/>
          <p:nvPr/>
        </p:nvCxnSpPr>
        <p:spPr bwMode="auto">
          <a:xfrm>
            <a:off x="4588933" y="5621670"/>
            <a:ext cx="414868" cy="4571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Straight Connector 62"/>
          <p:cNvCxnSpPr/>
          <p:nvPr/>
        </p:nvCxnSpPr>
        <p:spPr bwMode="auto">
          <a:xfrm>
            <a:off x="4292600" y="3801337"/>
            <a:ext cx="1439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Straight Connector 63"/>
          <p:cNvCxnSpPr/>
          <p:nvPr/>
        </p:nvCxnSpPr>
        <p:spPr bwMode="auto">
          <a:xfrm flipV="1">
            <a:off x="4042833" y="3437270"/>
            <a:ext cx="410634" cy="35136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>
            <a:off x="5541433" y="3716670"/>
            <a:ext cx="5715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5465233" y="3314503"/>
            <a:ext cx="6477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5532967" y="2366237"/>
            <a:ext cx="579966" cy="4571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84368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Gastrointestinal Tract</a:t>
            </a:r>
          </a:p>
        </p:txBody>
      </p:sp>
      <p:sp>
        <p:nvSpPr>
          <p:cNvPr id="74754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Rectum and anus</a:t>
            </a:r>
          </a:p>
          <a:p>
            <a:pPr lvl="1"/>
            <a:r>
              <a:rPr lang="en-US" dirty="0"/>
              <a:t>Colon empties into the rectum, then feces is excreted through the anus</a:t>
            </a:r>
          </a:p>
          <a:p>
            <a:pPr lvl="1"/>
            <a:r>
              <a:rPr lang="en-US" dirty="0"/>
              <a:t>Colon, rectum, and cecum make up the large intestine</a:t>
            </a:r>
          </a:p>
          <a:p>
            <a:pPr lvl="1"/>
            <a:r>
              <a:rPr lang="en-US" dirty="0"/>
              <a:t>Internal anal sphincter: smooth muscle</a:t>
            </a:r>
          </a:p>
          <a:p>
            <a:pPr lvl="1"/>
            <a:r>
              <a:rPr lang="en-US" dirty="0"/>
              <a:t>External anal sphincter: skeletal muscle</a:t>
            </a:r>
          </a:p>
          <a:p>
            <a:pPr lvl="1"/>
            <a:r>
              <a:rPr lang="en-US" dirty="0"/>
              <a:t>Relaxation of both sphincters necessary to open sphincter and excrete feces: defecation</a:t>
            </a:r>
          </a:p>
        </p:txBody>
      </p:sp>
    </p:spTree>
    <p:extLst>
      <p:ext uri="{BB962C8B-B14F-4D97-AF65-F5344CB8AC3E}">
        <p14:creationId xmlns:p14="http://schemas.microsoft.com/office/powerpoint/2010/main" val="23257047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7680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are secreted via ducts into the lumen of the GI tract</a:t>
            </a:r>
          </a:p>
          <a:p>
            <a:r>
              <a:rPr lang="en-US" dirty="0"/>
              <a:t>Four types of glands</a:t>
            </a:r>
          </a:p>
          <a:p>
            <a:pPr lvl="1"/>
            <a:r>
              <a:rPr lang="en-US" dirty="0"/>
              <a:t>Salivary glands: secrete saliva</a:t>
            </a:r>
          </a:p>
          <a:p>
            <a:pPr lvl="1"/>
            <a:r>
              <a:rPr lang="en-US" dirty="0"/>
              <a:t>Pancreas: secretes pancreatic juice</a:t>
            </a:r>
          </a:p>
          <a:p>
            <a:pPr lvl="1"/>
            <a:r>
              <a:rPr lang="en-US" dirty="0" err="1"/>
              <a:t>Acini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Liver: secretes bile</a:t>
            </a:r>
          </a:p>
        </p:txBody>
      </p:sp>
    </p:spTree>
    <p:extLst>
      <p:ext uri="{BB962C8B-B14F-4D97-AF65-F5344CB8AC3E}">
        <p14:creationId xmlns:p14="http://schemas.microsoft.com/office/powerpoint/2010/main" val="4166205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3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20.9  Generalized structure of an accessory gland.</a:t>
            </a:r>
          </a:p>
        </p:txBody>
      </p:sp>
      <p:pic>
        <p:nvPicPr>
          <p:cNvPr id="20" name="Picture 19" descr="figure_20_09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113"/>
          <a:stretch/>
        </p:blipFill>
        <p:spPr>
          <a:xfrm>
            <a:off x="266700" y="534924"/>
            <a:ext cx="8601456" cy="5788152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 bwMode="auto">
          <a:xfrm>
            <a:off x="2755900" y="3854450"/>
            <a:ext cx="457200" cy="2794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2178050" y="4705350"/>
            <a:ext cx="10541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/>
          <p:nvPr/>
        </p:nvCxnSpPr>
        <p:spPr bwMode="auto">
          <a:xfrm>
            <a:off x="6140450" y="5276850"/>
            <a:ext cx="4953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6635750" y="3892550"/>
            <a:ext cx="2032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5" name="Freeform 24"/>
          <p:cNvSpPr/>
          <p:nvPr/>
        </p:nvSpPr>
        <p:spPr>
          <a:xfrm>
            <a:off x="3416300" y="2324100"/>
            <a:ext cx="603250" cy="539750"/>
          </a:xfrm>
          <a:custGeom>
            <a:avLst/>
            <a:gdLst>
              <a:gd name="connsiteX0" fmla="*/ 0 w 603250"/>
              <a:gd name="connsiteY0" fmla="*/ 0 h 539750"/>
              <a:gd name="connsiteX1" fmla="*/ 603250 w 603250"/>
              <a:gd name="connsiteY1" fmla="*/ 6350 h 539750"/>
              <a:gd name="connsiteX2" fmla="*/ 31750 w 603250"/>
              <a:gd name="connsiteY2" fmla="*/ 539750 h 53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250" h="539750">
                <a:moveTo>
                  <a:pt x="0" y="0"/>
                </a:moveTo>
                <a:lnTo>
                  <a:pt x="603250" y="6350"/>
                </a:lnTo>
                <a:lnTo>
                  <a:pt x="31750" y="53975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55571" y="2101850"/>
            <a:ext cx="821121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Acini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204" y="1504949"/>
            <a:ext cx="1342156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Primary</a:t>
            </a:r>
          </a:p>
          <a:p>
            <a:pPr algn="l"/>
            <a:r>
              <a:rPr lang="en-US" sz="2030" b="1" dirty="0"/>
              <a:t>secretion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6139" y="3655482"/>
            <a:ext cx="2108269" cy="1029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Modiﬁcation by</a:t>
            </a:r>
          </a:p>
          <a:p>
            <a:pPr algn="l"/>
            <a:r>
              <a:rPr lang="en-US" sz="2030" b="1" dirty="0"/>
              <a:t>transport of</a:t>
            </a:r>
          </a:p>
          <a:p>
            <a:pPr algn="l"/>
            <a:r>
              <a:rPr lang="en-US" sz="2030" b="1" dirty="0"/>
              <a:t>ions and water</a:t>
            </a:r>
          </a:p>
        </p:txBody>
      </p:sp>
      <p:sp>
        <p:nvSpPr>
          <p:cNvPr id="29" name="Freeform 28"/>
          <p:cNvSpPr/>
          <p:nvPr/>
        </p:nvSpPr>
        <p:spPr>
          <a:xfrm>
            <a:off x="6434667" y="3395133"/>
            <a:ext cx="198966" cy="994834"/>
          </a:xfrm>
          <a:custGeom>
            <a:avLst/>
            <a:gdLst>
              <a:gd name="connsiteX0" fmla="*/ 8466 w 198966"/>
              <a:gd name="connsiteY0" fmla="*/ 8467 h 994834"/>
              <a:gd name="connsiteX1" fmla="*/ 198966 w 198966"/>
              <a:gd name="connsiteY1" fmla="*/ 0 h 994834"/>
              <a:gd name="connsiteX2" fmla="*/ 198966 w 198966"/>
              <a:gd name="connsiteY2" fmla="*/ 994834 h 994834"/>
              <a:gd name="connsiteX3" fmla="*/ 0 w 198966"/>
              <a:gd name="connsiteY3" fmla="*/ 994834 h 99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966" h="994834">
                <a:moveTo>
                  <a:pt x="8466" y="8467"/>
                </a:moveTo>
                <a:lnTo>
                  <a:pt x="198966" y="0"/>
                </a:lnTo>
                <a:lnTo>
                  <a:pt x="198966" y="994834"/>
                </a:lnTo>
                <a:lnTo>
                  <a:pt x="0" y="994834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92938" y="5052480"/>
            <a:ext cx="1341902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Epithelial</a:t>
            </a:r>
          </a:p>
          <a:p>
            <a:pPr algn="l"/>
            <a:r>
              <a:rPr lang="en-US" sz="2030" b="1" dirty="0"/>
              <a:t>cells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9336" y="3901014"/>
            <a:ext cx="1920012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Body of gland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4004" y="4476746"/>
            <a:ext cx="1399484" cy="4047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Main 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3602" y="5636680"/>
            <a:ext cx="1949756" cy="717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30" b="1" dirty="0"/>
              <a:t>To lumen of</a:t>
            </a:r>
          </a:p>
          <a:p>
            <a:pPr algn="l"/>
            <a:r>
              <a:rPr lang="en-US" sz="2030" b="1" dirty="0"/>
              <a:t>digestive tract</a:t>
            </a:r>
          </a:p>
        </p:txBody>
      </p:sp>
    </p:spTree>
    <p:extLst>
      <p:ext uri="{BB962C8B-B14F-4D97-AF65-F5344CB8AC3E}">
        <p14:creationId xmlns:p14="http://schemas.microsoft.com/office/powerpoint/2010/main" val="1304351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6" name="Rectangle 17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20.10  Location of the major salivary glands.</a:t>
            </a:r>
          </a:p>
        </p:txBody>
      </p:sp>
      <p:pic>
        <p:nvPicPr>
          <p:cNvPr id="15" name="Picture 14" descr="figure_20_10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"/>
          <a:stretch/>
        </p:blipFill>
        <p:spPr>
          <a:xfrm>
            <a:off x="1550698" y="444520"/>
            <a:ext cx="6042604" cy="612648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 flipH="1">
            <a:off x="2269067" y="3630527"/>
            <a:ext cx="190076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Straight Connector 16"/>
          <p:cNvCxnSpPr/>
          <p:nvPr/>
        </p:nvCxnSpPr>
        <p:spPr bwMode="auto">
          <a:xfrm>
            <a:off x="6040967" y="3698260"/>
            <a:ext cx="6985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>
            <a:off x="5854700" y="4176627"/>
            <a:ext cx="719667" cy="28786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>
            <a:off x="5291667" y="4578793"/>
            <a:ext cx="766233" cy="53763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1513786" y="3458230"/>
            <a:ext cx="803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rgbClr val="000000"/>
                </a:solidFill>
              </a:rPr>
              <a:t>Parotid</a:t>
            </a:r>
          </a:p>
          <a:p>
            <a:pPr algn="l"/>
            <a:r>
              <a:rPr lang="en-US" sz="1400" b="1" dirty="0">
                <a:solidFill>
                  <a:srgbClr val="000000"/>
                </a:solidFill>
              </a:rPr>
              <a:t>gland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6918" y="3517496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rgbClr val="000000"/>
                </a:solidFill>
              </a:rPr>
              <a:t>Tongue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518" y="4296430"/>
            <a:ext cx="1102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rgbClr val="000000"/>
                </a:solidFill>
              </a:rPr>
              <a:t>Sublingual</a:t>
            </a:r>
          </a:p>
          <a:p>
            <a:pPr algn="l"/>
            <a:r>
              <a:rPr lang="en-US" sz="1400" b="1" dirty="0">
                <a:solidFill>
                  <a:srgbClr val="000000"/>
                </a:solidFill>
              </a:rPr>
              <a:t>gland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9585" y="4939897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solidFill>
                  <a:srgbClr val="000000"/>
                </a:solidFill>
              </a:rPr>
              <a:t>Submandibular</a:t>
            </a:r>
          </a:p>
          <a:p>
            <a:pPr algn="l"/>
            <a:r>
              <a:rPr lang="en-US" sz="1400" b="1" dirty="0">
                <a:solidFill>
                  <a:srgbClr val="000000"/>
                </a:solidFill>
              </a:rPr>
              <a:t>gland</a:t>
            </a:r>
          </a:p>
        </p:txBody>
      </p:sp>
    </p:spTree>
    <p:extLst>
      <p:ext uri="{BB962C8B-B14F-4D97-AF65-F5344CB8AC3E}">
        <p14:creationId xmlns:p14="http://schemas.microsoft.com/office/powerpoint/2010/main" val="973660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8294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Characteristics of saliva</a:t>
            </a:r>
          </a:p>
          <a:p>
            <a:pPr lvl="1"/>
            <a:r>
              <a:rPr lang="en-US" dirty="0"/>
              <a:t>Rich in bicarbonate ions</a:t>
            </a:r>
          </a:p>
          <a:p>
            <a:pPr lvl="1"/>
            <a:r>
              <a:rPr lang="en-US" dirty="0"/>
              <a:t>Contains mucus</a:t>
            </a:r>
          </a:p>
          <a:p>
            <a:pPr lvl="1"/>
            <a:r>
              <a:rPr lang="en-US" dirty="0"/>
              <a:t>Enzymes present</a:t>
            </a:r>
          </a:p>
          <a:p>
            <a:pPr lvl="2"/>
            <a:r>
              <a:rPr lang="en-US" dirty="0"/>
              <a:t>Salivary amylase</a:t>
            </a:r>
          </a:p>
          <a:p>
            <a:pPr lvl="2"/>
            <a:r>
              <a:rPr lang="en-US" dirty="0"/>
              <a:t>Lysozyme</a:t>
            </a:r>
          </a:p>
        </p:txBody>
      </p:sp>
    </p:spTree>
    <p:extLst>
      <p:ext uri="{BB962C8B-B14F-4D97-AF65-F5344CB8AC3E}">
        <p14:creationId xmlns:p14="http://schemas.microsoft.com/office/powerpoint/2010/main" val="12708934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8499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pancreas</a:t>
            </a:r>
          </a:p>
          <a:p>
            <a:pPr lvl="1"/>
            <a:r>
              <a:rPr lang="en-US" dirty="0"/>
              <a:t>Has exocrine and endocrine portions</a:t>
            </a:r>
          </a:p>
          <a:p>
            <a:pPr lvl="1"/>
            <a:r>
              <a:rPr lang="en-US" dirty="0"/>
              <a:t>Exocrine portion produces pancreatic juice</a:t>
            </a:r>
          </a:p>
          <a:p>
            <a:pPr lvl="2"/>
            <a:r>
              <a:rPr lang="en-US" dirty="0"/>
              <a:t>Rich in bicarbonate</a:t>
            </a:r>
          </a:p>
          <a:p>
            <a:pPr lvl="2"/>
            <a:r>
              <a:rPr lang="en-US" dirty="0"/>
              <a:t>Relative to weight, secretes more protein than any other tissue in body</a:t>
            </a:r>
          </a:p>
          <a:p>
            <a:pPr lvl="2"/>
            <a:r>
              <a:rPr lang="en-US" dirty="0"/>
              <a:t>Enzymes present</a:t>
            </a:r>
          </a:p>
          <a:p>
            <a:pPr lvl="3"/>
            <a:r>
              <a:rPr lang="en-US" dirty="0"/>
              <a:t>Pancreatic amylase and lipases</a:t>
            </a:r>
          </a:p>
          <a:p>
            <a:pPr lvl="3"/>
            <a:r>
              <a:rPr lang="en-US" dirty="0"/>
              <a:t>Proteases</a:t>
            </a:r>
          </a:p>
          <a:p>
            <a:pPr lvl="3"/>
            <a:r>
              <a:rPr lang="en-US" dirty="0"/>
              <a:t>Nucleases</a:t>
            </a:r>
          </a:p>
        </p:txBody>
      </p:sp>
    </p:spTree>
    <p:extLst>
      <p:ext uri="{BB962C8B-B14F-4D97-AF65-F5344CB8AC3E}">
        <p14:creationId xmlns:p14="http://schemas.microsoft.com/office/powerpoint/2010/main" val="1257538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74" name="Rectangle 4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20.11  The pancreas and associated structures.</a:t>
            </a:r>
          </a:p>
        </p:txBody>
      </p:sp>
      <p:pic>
        <p:nvPicPr>
          <p:cNvPr id="39" name="Picture 38" descr="figure_20_1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"/>
          <a:stretch/>
        </p:blipFill>
        <p:spPr>
          <a:xfrm>
            <a:off x="947598" y="405140"/>
            <a:ext cx="7248805" cy="6126480"/>
          </a:xfrm>
          <a:prstGeom prst="rect">
            <a:avLst/>
          </a:prstGeom>
        </p:spPr>
      </p:pic>
      <p:cxnSp>
        <p:nvCxnSpPr>
          <p:cNvPr id="40" name="Straight Connector 39"/>
          <p:cNvCxnSpPr/>
          <p:nvPr/>
        </p:nvCxnSpPr>
        <p:spPr bwMode="auto">
          <a:xfrm>
            <a:off x="3765550" y="3312805"/>
            <a:ext cx="0" cy="4191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1" name="Straight Connector 40"/>
          <p:cNvCxnSpPr/>
          <p:nvPr/>
        </p:nvCxnSpPr>
        <p:spPr bwMode="auto">
          <a:xfrm>
            <a:off x="4441825" y="4004955"/>
            <a:ext cx="361950" cy="4064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013450" y="2506355"/>
            <a:ext cx="720725" cy="952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" name="Straight Connector 42"/>
          <p:cNvCxnSpPr/>
          <p:nvPr/>
        </p:nvCxnSpPr>
        <p:spPr bwMode="auto">
          <a:xfrm>
            <a:off x="3213100" y="2725430"/>
            <a:ext cx="3048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4991100" y="1902047"/>
            <a:ext cx="12276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5" name="Straight Connector 44"/>
          <p:cNvCxnSpPr/>
          <p:nvPr/>
        </p:nvCxnSpPr>
        <p:spPr bwMode="auto">
          <a:xfrm flipH="1">
            <a:off x="2658533" y="1880880"/>
            <a:ext cx="457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 flipH="1" flipV="1">
            <a:off x="1667933" y="2380413"/>
            <a:ext cx="279400" cy="1439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7" name="Freeform 46"/>
          <p:cNvSpPr/>
          <p:nvPr/>
        </p:nvSpPr>
        <p:spPr>
          <a:xfrm>
            <a:off x="2857500" y="1135813"/>
            <a:ext cx="385233" cy="436034"/>
          </a:xfrm>
          <a:custGeom>
            <a:avLst/>
            <a:gdLst>
              <a:gd name="connsiteX0" fmla="*/ 0 w 385233"/>
              <a:gd name="connsiteY0" fmla="*/ 436034 h 436034"/>
              <a:gd name="connsiteX1" fmla="*/ 207433 w 385233"/>
              <a:gd name="connsiteY1" fmla="*/ 0 h 436034"/>
              <a:gd name="connsiteX2" fmla="*/ 385233 w 385233"/>
              <a:gd name="connsiteY2" fmla="*/ 296334 h 436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233" h="436034">
                <a:moveTo>
                  <a:pt x="0" y="436034"/>
                </a:moveTo>
                <a:lnTo>
                  <a:pt x="207433" y="0"/>
                </a:lnTo>
                <a:lnTo>
                  <a:pt x="385233" y="296334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48" name="Straight Connector 47"/>
          <p:cNvCxnSpPr/>
          <p:nvPr/>
        </p:nvCxnSpPr>
        <p:spPr bwMode="auto">
          <a:xfrm flipH="1">
            <a:off x="4292600" y="2030105"/>
            <a:ext cx="920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9" name="Freeform 48"/>
          <p:cNvSpPr/>
          <p:nvPr/>
        </p:nvSpPr>
        <p:spPr>
          <a:xfrm>
            <a:off x="4384675" y="1811030"/>
            <a:ext cx="85725" cy="431800"/>
          </a:xfrm>
          <a:custGeom>
            <a:avLst/>
            <a:gdLst>
              <a:gd name="connsiteX0" fmla="*/ 76200 w 85725"/>
              <a:gd name="connsiteY0" fmla="*/ 0 h 431800"/>
              <a:gd name="connsiteX1" fmla="*/ 0 w 85725"/>
              <a:gd name="connsiteY1" fmla="*/ 0 h 431800"/>
              <a:gd name="connsiteX2" fmla="*/ 0 w 85725"/>
              <a:gd name="connsiteY2" fmla="*/ 431800 h 431800"/>
              <a:gd name="connsiteX3" fmla="*/ 85725 w 85725"/>
              <a:gd name="connsiteY3" fmla="*/ 428625 h 43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25" h="431800">
                <a:moveTo>
                  <a:pt x="76200" y="0"/>
                </a:moveTo>
                <a:lnTo>
                  <a:pt x="0" y="0"/>
                </a:lnTo>
                <a:lnTo>
                  <a:pt x="0" y="431800"/>
                </a:lnTo>
                <a:lnTo>
                  <a:pt x="85725" y="4286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50" name="Straight Connector 49"/>
          <p:cNvCxnSpPr/>
          <p:nvPr/>
        </p:nvCxnSpPr>
        <p:spPr bwMode="auto">
          <a:xfrm flipV="1">
            <a:off x="6659033" y="902980"/>
            <a:ext cx="309034" cy="5461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7497233" y="1770813"/>
            <a:ext cx="9313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2" name="Freeform 51"/>
          <p:cNvSpPr/>
          <p:nvPr/>
        </p:nvSpPr>
        <p:spPr>
          <a:xfrm>
            <a:off x="7421033" y="462713"/>
            <a:ext cx="80434" cy="2611967"/>
          </a:xfrm>
          <a:custGeom>
            <a:avLst/>
            <a:gdLst>
              <a:gd name="connsiteX0" fmla="*/ 4234 w 80434"/>
              <a:gd name="connsiteY0" fmla="*/ 4234 h 2611967"/>
              <a:gd name="connsiteX1" fmla="*/ 80434 w 80434"/>
              <a:gd name="connsiteY1" fmla="*/ 0 h 2611967"/>
              <a:gd name="connsiteX2" fmla="*/ 80434 w 80434"/>
              <a:gd name="connsiteY2" fmla="*/ 2611967 h 2611967"/>
              <a:gd name="connsiteX3" fmla="*/ 0 w 80434"/>
              <a:gd name="connsiteY3" fmla="*/ 2607734 h 2611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434" h="2611967">
                <a:moveTo>
                  <a:pt x="4234" y="4234"/>
                </a:moveTo>
                <a:lnTo>
                  <a:pt x="80434" y="0"/>
                </a:lnTo>
                <a:lnTo>
                  <a:pt x="80434" y="2611967"/>
                </a:lnTo>
                <a:lnTo>
                  <a:pt x="0" y="2607734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 flipH="1">
            <a:off x="1625600" y="3654647"/>
            <a:ext cx="3852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/>
          <p:nvPr/>
        </p:nvCxnSpPr>
        <p:spPr bwMode="auto">
          <a:xfrm>
            <a:off x="2527300" y="4552113"/>
            <a:ext cx="1176867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 flipH="1">
            <a:off x="1570567" y="4564813"/>
            <a:ext cx="808566" cy="33866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6" name="TextBox 55"/>
          <p:cNvSpPr txBox="1"/>
          <p:nvPr/>
        </p:nvSpPr>
        <p:spPr>
          <a:xfrm>
            <a:off x="962394" y="103569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From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liver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2469" y="803920"/>
            <a:ext cx="6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Hepatic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ducts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9244" y="473720"/>
            <a:ext cx="7426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From liver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3844" y="1765945"/>
            <a:ext cx="749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Endocrine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pancreas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37419" y="1772295"/>
            <a:ext cx="7873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Islet cells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(secrete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hormones)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80569" y="2483495"/>
            <a:ext cx="877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Duct cells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(secrete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bicarbonate-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rich ﬂuid)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61119" y="2597795"/>
            <a:ext cx="68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Common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bile duct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4594" y="1756420"/>
            <a:ext cx="86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Common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hepatic duct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3819" y="2248545"/>
            <a:ext cx="8196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Gallbladder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18786" y="3129079"/>
            <a:ext cx="6980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Pancreas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655" y="3518547"/>
            <a:ext cx="7873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Duodenum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22656" y="4272081"/>
            <a:ext cx="10442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Pancreatic duct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891" y="4780081"/>
            <a:ext cx="71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Sphincter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of Oddi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34694" y="4437181"/>
            <a:ext cx="78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Ampulla of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Vater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42062" y="1638947"/>
            <a:ext cx="69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>
                <a:solidFill>
                  <a:srgbClr val="000000"/>
                </a:solidFill>
              </a:rPr>
              <a:t>Exocrine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pancreas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48828" y="436681"/>
            <a:ext cx="83264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dirty="0" err="1">
                <a:solidFill>
                  <a:srgbClr val="000000"/>
                </a:solidFill>
              </a:rPr>
              <a:t>Acinar</a:t>
            </a:r>
            <a:r>
              <a:rPr lang="en-US" sz="900" b="1" dirty="0">
                <a:solidFill>
                  <a:srgbClr val="000000"/>
                </a:solidFill>
              </a:rPr>
              <a:t> cells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(secrete</a:t>
            </a:r>
          </a:p>
          <a:p>
            <a:pPr algn="l"/>
            <a:r>
              <a:rPr lang="en-US" sz="900" b="1" dirty="0">
                <a:solidFill>
                  <a:srgbClr val="000000"/>
                </a:solidFill>
              </a:rPr>
              <a:t>enzymes)</a:t>
            </a:r>
          </a:p>
        </p:txBody>
      </p:sp>
    </p:spTree>
    <p:extLst>
      <p:ext uri="{BB962C8B-B14F-4D97-AF65-F5344CB8AC3E}">
        <p14:creationId xmlns:p14="http://schemas.microsoft.com/office/powerpoint/2010/main" val="1136133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8909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liver</a:t>
            </a:r>
          </a:p>
          <a:p>
            <a:pPr lvl="1"/>
            <a:r>
              <a:rPr lang="en-US" dirty="0"/>
              <a:t>Secretes bile</a:t>
            </a:r>
          </a:p>
          <a:p>
            <a:pPr lvl="1"/>
            <a:r>
              <a:rPr lang="en-US" dirty="0"/>
              <a:t>Processes nutrients </a:t>
            </a:r>
          </a:p>
          <a:p>
            <a:pPr lvl="2"/>
            <a:r>
              <a:rPr lang="en-US" dirty="0"/>
              <a:t>Glucose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glycogen </a:t>
            </a:r>
          </a:p>
          <a:p>
            <a:pPr lvl="2"/>
            <a:r>
              <a:rPr lang="en-US" dirty="0">
                <a:sym typeface="Wingdings" charset="0"/>
              </a:rPr>
              <a:t>Amino acids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fatty acids</a:t>
            </a:r>
          </a:p>
          <a:p>
            <a:pPr lvl="2"/>
            <a:r>
              <a:rPr lang="en-US" dirty="0">
                <a:sym typeface="Wingdings" charset="0"/>
              </a:rPr>
              <a:t>Triglycerides and cholesterol synthesis</a:t>
            </a:r>
          </a:p>
          <a:p>
            <a:pPr lvl="2"/>
            <a:r>
              <a:rPr lang="en-US" dirty="0">
                <a:sym typeface="Wingdings" charset="0"/>
              </a:rPr>
              <a:t>Lipoprotein synthesis</a:t>
            </a:r>
          </a:p>
        </p:txBody>
      </p:sp>
    </p:spTree>
    <p:extLst>
      <p:ext uri="{BB962C8B-B14F-4D97-AF65-F5344CB8AC3E}">
        <p14:creationId xmlns:p14="http://schemas.microsoft.com/office/powerpoint/2010/main" val="1006674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9113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Liver functions</a:t>
            </a:r>
          </a:p>
          <a:p>
            <a:pPr lvl="1"/>
            <a:r>
              <a:rPr lang="en-US" dirty="0">
                <a:sym typeface="Wingdings" charset="0"/>
              </a:rPr>
              <a:t>Removal of old red blood cells</a:t>
            </a:r>
          </a:p>
          <a:p>
            <a:pPr lvl="2"/>
            <a:r>
              <a:rPr lang="en-US" dirty="0"/>
              <a:t>Catabolizes hemoglobin</a:t>
            </a:r>
          </a:p>
          <a:p>
            <a:pPr lvl="2"/>
            <a:r>
              <a:rPr lang="en-US" dirty="0"/>
              <a:t>Generates bilirubin</a:t>
            </a:r>
          </a:p>
          <a:p>
            <a:pPr lvl="1"/>
            <a:r>
              <a:rPr lang="en-US" dirty="0"/>
              <a:t>Elimination of wastes and toxins</a:t>
            </a:r>
          </a:p>
          <a:p>
            <a:pPr lvl="2"/>
            <a:r>
              <a:rPr lang="en-US" dirty="0"/>
              <a:t>Bilirubin is eliminated as bile pigments</a:t>
            </a:r>
          </a:p>
          <a:p>
            <a:pPr lvl="1"/>
            <a:r>
              <a:rPr lang="en-US" dirty="0"/>
              <a:t>Synthesis of plasma proteins</a:t>
            </a:r>
          </a:p>
          <a:p>
            <a:pPr lvl="1"/>
            <a:r>
              <a:rPr lang="en-US" dirty="0"/>
              <a:t>Secretion and modification of hormones</a:t>
            </a:r>
          </a:p>
        </p:txBody>
      </p:sp>
    </p:spTree>
    <p:extLst>
      <p:ext uri="{BB962C8B-B14F-4D97-AF65-F5344CB8AC3E}">
        <p14:creationId xmlns:p14="http://schemas.microsoft.com/office/powerpoint/2010/main" val="874280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9318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Biliary system: liver, gallbladder, and associated ducts</a:t>
            </a:r>
          </a:p>
          <a:p>
            <a:pPr lvl="1"/>
            <a:r>
              <a:rPr lang="en-US" dirty="0"/>
              <a:t>Liver synthesizes bile</a:t>
            </a:r>
          </a:p>
          <a:p>
            <a:pPr lvl="1"/>
            <a:r>
              <a:rPr lang="en-US" dirty="0"/>
              <a:t>Gallbladder stores bile</a:t>
            </a:r>
          </a:p>
          <a:p>
            <a:pPr lvl="1"/>
            <a:r>
              <a:rPr lang="en-US" dirty="0"/>
              <a:t>Common bile duct </a:t>
            </a:r>
          </a:p>
          <a:p>
            <a:pPr lvl="1"/>
            <a:r>
              <a:rPr lang="en-US" dirty="0"/>
              <a:t>Transports bile from liver and/or gallbladder to duodenum</a:t>
            </a:r>
          </a:p>
          <a:p>
            <a:pPr lvl="1"/>
            <a:r>
              <a:rPr lang="en-US" dirty="0"/>
              <a:t>Joins with pancreatic duct to form ampulla of </a:t>
            </a:r>
            <a:r>
              <a:rPr lang="en-US" dirty="0" err="1"/>
              <a:t>Vater</a:t>
            </a:r>
            <a:endParaRPr lang="en-US" dirty="0"/>
          </a:p>
          <a:p>
            <a:pPr lvl="1"/>
            <a:r>
              <a:rPr lang="en-US" dirty="0"/>
              <a:t>Sphincter of </a:t>
            </a:r>
            <a:r>
              <a:rPr lang="en-US" dirty="0" err="1"/>
              <a:t>Oddi</a:t>
            </a:r>
            <a:r>
              <a:rPr lang="en-US" dirty="0"/>
              <a:t>: regulates flow from pancreas and gallbladder to duodenum</a:t>
            </a:r>
          </a:p>
        </p:txBody>
      </p:sp>
    </p:spTree>
    <p:extLst>
      <p:ext uri="{BB962C8B-B14F-4D97-AF65-F5344CB8AC3E}">
        <p14:creationId xmlns:p14="http://schemas.microsoft.com/office/powerpoint/2010/main" val="4048871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Accessory Glands</a:t>
            </a:r>
          </a:p>
        </p:txBody>
      </p:sp>
      <p:sp>
        <p:nvSpPr>
          <p:cNvPr id="95234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Liver anatomy</a:t>
            </a:r>
          </a:p>
          <a:p>
            <a:pPr lvl="1"/>
            <a:r>
              <a:rPr lang="en-US" dirty="0"/>
              <a:t>Materials to make bile are taken up from blood in the sinusoids into hepatocytes</a:t>
            </a:r>
          </a:p>
          <a:p>
            <a:pPr lvl="1"/>
            <a:r>
              <a:rPr lang="en-US" dirty="0"/>
              <a:t>Hepatocytes secrete bile into bile </a:t>
            </a:r>
            <a:r>
              <a:rPr lang="en-US" dirty="0" err="1"/>
              <a:t>canaliculi</a:t>
            </a:r>
            <a:r>
              <a:rPr lang="en-US" dirty="0"/>
              <a:t>, on the side opposite of the sinusoids</a:t>
            </a:r>
          </a:p>
          <a:p>
            <a:pPr lvl="1"/>
            <a:r>
              <a:rPr lang="en-US" dirty="0" err="1"/>
              <a:t>Canaliculi</a:t>
            </a:r>
            <a:r>
              <a:rPr lang="en-US" dirty="0"/>
              <a:t> drain into bile ducts</a:t>
            </a:r>
          </a:p>
          <a:p>
            <a:pPr lvl="1"/>
            <a:r>
              <a:rPr lang="en-US" dirty="0"/>
              <a:t>Bile ducts drain into common hepatic duct</a:t>
            </a:r>
          </a:p>
        </p:txBody>
      </p:sp>
    </p:spTree>
    <p:extLst>
      <p:ext uri="{BB962C8B-B14F-4D97-AF65-F5344CB8AC3E}">
        <p14:creationId xmlns:p14="http://schemas.microsoft.com/office/powerpoint/2010/main" val="3911695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03" name="Rectangle 31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20.12a  Structures of the biliary system.</a:t>
            </a:r>
          </a:p>
        </p:txBody>
      </p:sp>
      <p:pic>
        <p:nvPicPr>
          <p:cNvPr id="28" name="Picture 27" descr="figure_20_12a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"/>
          <a:stretch/>
        </p:blipFill>
        <p:spPr>
          <a:xfrm>
            <a:off x="1063579" y="424830"/>
            <a:ext cx="7016843" cy="6126480"/>
          </a:xfrm>
          <a:prstGeom prst="rect">
            <a:avLst/>
          </a:prstGeom>
        </p:spPr>
      </p:pic>
      <p:cxnSp>
        <p:nvCxnSpPr>
          <p:cNvPr id="29" name="Straight Connector 28"/>
          <p:cNvCxnSpPr/>
          <p:nvPr/>
        </p:nvCxnSpPr>
        <p:spPr bwMode="auto">
          <a:xfrm flipV="1">
            <a:off x="3359243" y="5291470"/>
            <a:ext cx="857157" cy="3040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405640" y="4610309"/>
            <a:ext cx="215366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>
            <a:off x="4655661" y="4621467"/>
            <a:ext cx="528782" cy="2762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5105400" y="4446920"/>
            <a:ext cx="320620" cy="16012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>
            <a:off x="5257800" y="3383379"/>
            <a:ext cx="81883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 flipH="1">
            <a:off x="2396024" y="3381837"/>
            <a:ext cx="159812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5" name="Freeform 34"/>
          <p:cNvSpPr/>
          <p:nvPr/>
        </p:nvSpPr>
        <p:spPr>
          <a:xfrm>
            <a:off x="4860861" y="754347"/>
            <a:ext cx="676339" cy="1355773"/>
          </a:xfrm>
          <a:custGeom>
            <a:avLst/>
            <a:gdLst>
              <a:gd name="connsiteX0" fmla="*/ 0 w 260350"/>
              <a:gd name="connsiteY0" fmla="*/ 501650 h 501650"/>
              <a:gd name="connsiteX1" fmla="*/ 146050 w 260350"/>
              <a:gd name="connsiteY1" fmla="*/ 0 h 501650"/>
              <a:gd name="connsiteX2" fmla="*/ 260350 w 260350"/>
              <a:gd name="connsiteY2" fmla="*/ 422275 h 5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350" h="501650">
                <a:moveTo>
                  <a:pt x="0" y="501650"/>
                </a:moveTo>
                <a:lnTo>
                  <a:pt x="146050" y="0"/>
                </a:lnTo>
                <a:lnTo>
                  <a:pt x="260350" y="422275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7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36" name="Straight Connector 35"/>
          <p:cNvCxnSpPr/>
          <p:nvPr/>
        </p:nvCxnSpPr>
        <p:spPr bwMode="auto">
          <a:xfrm flipH="1" flipV="1">
            <a:off x="2831822" y="1204388"/>
            <a:ext cx="609878" cy="13103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2347128" y="2079250"/>
            <a:ext cx="2339172" cy="57062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/>
          <p:nvPr/>
        </p:nvCxnSpPr>
        <p:spPr bwMode="auto">
          <a:xfrm flipV="1">
            <a:off x="5258740" y="2408570"/>
            <a:ext cx="1383360" cy="69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9" name="TextBox 38"/>
          <p:cNvSpPr txBox="1"/>
          <p:nvPr/>
        </p:nvSpPr>
        <p:spPr>
          <a:xfrm>
            <a:off x="2164346" y="1009402"/>
            <a:ext cx="710451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6251" y="383555"/>
            <a:ext cx="1614175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Hepatic ducts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4572" y="1862946"/>
            <a:ext cx="1359761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Cystic duct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3679" y="2230526"/>
            <a:ext cx="146865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Common</a:t>
            </a:r>
          </a:p>
          <a:p>
            <a:pPr algn="l"/>
            <a:r>
              <a:rPr lang="en-US" sz="1700" b="1" dirty="0">
                <a:solidFill>
                  <a:srgbClr val="000000"/>
                </a:solidFill>
              </a:rPr>
              <a:t>hepatic 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0900" y="3199098"/>
            <a:ext cx="2086173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Common bile duct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569" y="3165261"/>
            <a:ext cx="1390124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Gallbladder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36414" y="4396546"/>
            <a:ext cx="119776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Sphincter</a:t>
            </a:r>
          </a:p>
          <a:p>
            <a:pPr algn="l"/>
            <a:r>
              <a:rPr lang="en-US" sz="1700" b="1" dirty="0">
                <a:solidFill>
                  <a:srgbClr val="000000"/>
                </a:solidFill>
              </a:rPr>
              <a:t>of Oddi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135" y="3711007"/>
            <a:ext cx="1747663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From pancreas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84663" y="4390921"/>
            <a:ext cx="1808233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Pancreatic duct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5147" y="4675043"/>
            <a:ext cx="1915909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Ampulla of Vater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8710" y="5388794"/>
            <a:ext cx="1323036" cy="3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00" b="1" dirty="0">
                <a:solidFill>
                  <a:srgbClr val="000000"/>
                </a:solidFill>
              </a:rPr>
              <a:t>Duodenum</a:t>
            </a:r>
          </a:p>
        </p:txBody>
      </p:sp>
    </p:spTree>
    <p:extLst>
      <p:ext uri="{BB962C8B-B14F-4D97-AF65-F5344CB8AC3E}">
        <p14:creationId xmlns:p14="http://schemas.microsoft.com/office/powerpoint/2010/main" val="40514291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42" name="Rectangle 21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20.12b  Structures of the biliary system.</a:t>
            </a:r>
          </a:p>
        </p:txBody>
      </p:sp>
      <p:pic>
        <p:nvPicPr>
          <p:cNvPr id="19" name="Picture 18" descr="figure_20_12b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"/>
          <a:stretch/>
        </p:blipFill>
        <p:spPr>
          <a:xfrm>
            <a:off x="2417655" y="424830"/>
            <a:ext cx="4308690" cy="6126480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 bwMode="auto">
          <a:xfrm flipV="1">
            <a:off x="5858933" y="2890616"/>
            <a:ext cx="308021" cy="47892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>
            <a:off x="5149850" y="5495200"/>
            <a:ext cx="25086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4107712" y="5494689"/>
            <a:ext cx="61033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Straight Connector 22"/>
          <p:cNvCxnSpPr/>
          <p:nvPr/>
        </p:nvCxnSpPr>
        <p:spPr bwMode="auto">
          <a:xfrm>
            <a:off x="4122567" y="5741610"/>
            <a:ext cx="2716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2961217" y="3450811"/>
            <a:ext cx="36935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V="1">
            <a:off x="4349750" y="913643"/>
            <a:ext cx="429665" cy="15825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6" name="TextBox 25"/>
          <p:cNvSpPr txBox="1"/>
          <p:nvPr/>
        </p:nvSpPr>
        <p:spPr>
          <a:xfrm>
            <a:off x="4723207" y="761750"/>
            <a:ext cx="1038353" cy="266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Hepatic vein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8517" y="2580456"/>
            <a:ext cx="696755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Central</a:t>
            </a:r>
          </a:p>
          <a:p>
            <a:pPr algn="l"/>
            <a:r>
              <a:rPr lang="en-US" sz="1110" b="1" dirty="0">
                <a:solidFill>
                  <a:srgbClr val="000000"/>
                </a:solidFill>
              </a:rPr>
              <a:t>vein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5542" y="3298922"/>
            <a:ext cx="659591" cy="266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Lobule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145" y="5350376"/>
            <a:ext cx="1151211" cy="266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Hepatic artery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9834" y="5598318"/>
            <a:ext cx="800219" cy="266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Bile 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4506" y="5367895"/>
            <a:ext cx="917430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10" b="1" dirty="0">
                <a:solidFill>
                  <a:srgbClr val="000000"/>
                </a:solidFill>
              </a:rPr>
              <a:t>Hepatic</a:t>
            </a:r>
          </a:p>
          <a:p>
            <a:pPr algn="l"/>
            <a:r>
              <a:rPr lang="en-US" sz="1110" b="1" dirty="0">
                <a:solidFill>
                  <a:srgbClr val="000000"/>
                </a:solidFill>
              </a:rPr>
              <a:t>portal vein</a:t>
            </a:r>
          </a:p>
        </p:txBody>
      </p:sp>
    </p:spTree>
    <p:extLst>
      <p:ext uri="{BB962C8B-B14F-4D97-AF65-F5344CB8AC3E}">
        <p14:creationId xmlns:p14="http://schemas.microsoft.com/office/powerpoint/2010/main" val="9436916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ble_20_0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"/>
          <a:stretch/>
        </p:blipFill>
        <p:spPr>
          <a:xfrm>
            <a:off x="266700" y="1595628"/>
            <a:ext cx="8601456" cy="36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138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20.3	Digestion and Absorption of Nutrients and Water</a:t>
            </a:r>
          </a:p>
        </p:txBody>
      </p:sp>
      <p:sp>
        <p:nvSpPr>
          <p:cNvPr id="103426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Carbohydrates</a:t>
            </a:r>
          </a:p>
          <a:p>
            <a:r>
              <a:rPr lang="en-US" dirty="0"/>
              <a:t>Proteins</a:t>
            </a:r>
          </a:p>
          <a:p>
            <a:r>
              <a:rPr lang="en-US" dirty="0"/>
              <a:t>Lipids</a:t>
            </a:r>
          </a:p>
          <a:p>
            <a:r>
              <a:rPr lang="en-US" dirty="0"/>
              <a:t>Absorption of vitamins</a:t>
            </a:r>
          </a:p>
          <a:p>
            <a:r>
              <a:rPr lang="en-US" dirty="0"/>
              <a:t>Absorption of minerals </a:t>
            </a:r>
          </a:p>
          <a:p>
            <a:r>
              <a:rPr lang="en-US" dirty="0"/>
              <a:t>Absorption of water</a:t>
            </a:r>
          </a:p>
        </p:txBody>
      </p:sp>
    </p:spTree>
    <p:extLst>
      <p:ext uri="{BB962C8B-B14F-4D97-AF65-F5344CB8AC3E}">
        <p14:creationId xmlns:p14="http://schemas.microsoft.com/office/powerpoint/2010/main" val="1469742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Carbohydrates</a:t>
            </a:r>
          </a:p>
        </p:txBody>
      </p:sp>
      <p:sp>
        <p:nvSpPr>
          <p:cNvPr id="105474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diet: 500 grams/day carbohydrates</a:t>
            </a:r>
          </a:p>
          <a:p>
            <a:r>
              <a:rPr lang="en-US" dirty="0"/>
              <a:t>Most consumed as disaccharides or polysaccharides</a:t>
            </a:r>
          </a:p>
          <a:p>
            <a:pPr lvl="1"/>
            <a:r>
              <a:rPr lang="en-US" dirty="0"/>
              <a:t>Sucrose</a:t>
            </a:r>
          </a:p>
          <a:p>
            <a:pPr lvl="1"/>
            <a:r>
              <a:rPr lang="en-US" dirty="0"/>
              <a:t>Lactose</a:t>
            </a:r>
          </a:p>
          <a:p>
            <a:pPr lvl="1"/>
            <a:r>
              <a:rPr lang="en-US" dirty="0"/>
              <a:t>Maltose</a:t>
            </a:r>
          </a:p>
          <a:p>
            <a:pPr lvl="1"/>
            <a:r>
              <a:rPr lang="en-US" dirty="0"/>
              <a:t>Starch</a:t>
            </a:r>
          </a:p>
          <a:p>
            <a:pPr lvl="1"/>
            <a:r>
              <a:rPr lang="en-US" dirty="0"/>
              <a:t>Glycogen</a:t>
            </a:r>
          </a:p>
          <a:p>
            <a:pPr lvl="1"/>
            <a:r>
              <a:rPr lang="en-US" dirty="0"/>
              <a:t>Cellulose (fiber; cannot be digested)</a:t>
            </a:r>
          </a:p>
        </p:txBody>
      </p:sp>
    </p:spTree>
    <p:extLst>
      <p:ext uri="{BB962C8B-B14F-4D97-AF65-F5344CB8AC3E}">
        <p14:creationId xmlns:p14="http://schemas.microsoft.com/office/powerpoint/2010/main" val="2479738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Carbohydrates</a:t>
            </a:r>
          </a:p>
        </p:txBody>
      </p:sp>
      <p:sp>
        <p:nvSpPr>
          <p:cNvPr id="10752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Carbohydrate digestion</a:t>
            </a:r>
          </a:p>
          <a:p>
            <a:pPr lvl="1"/>
            <a:r>
              <a:rPr lang="en-US" dirty="0"/>
              <a:t>Only </a:t>
            </a:r>
            <a:r>
              <a:rPr lang="en-US" dirty="0" err="1"/>
              <a:t>monosaccharides</a:t>
            </a:r>
            <a:r>
              <a:rPr lang="en-US" dirty="0"/>
              <a:t> are absorbed</a:t>
            </a:r>
          </a:p>
          <a:p>
            <a:pPr lvl="1"/>
            <a:r>
              <a:rPr lang="en-US" dirty="0"/>
              <a:t>Disaccharides and polysaccharides must be digested to </a:t>
            </a:r>
            <a:r>
              <a:rPr lang="en-US" dirty="0" err="1"/>
              <a:t>monosaccharides</a:t>
            </a:r>
            <a:endParaRPr lang="en-US" dirty="0"/>
          </a:p>
          <a:p>
            <a:pPr lvl="1"/>
            <a:r>
              <a:rPr lang="en-US" dirty="0"/>
              <a:t>Digestion of starch</a:t>
            </a:r>
          </a:p>
          <a:p>
            <a:pPr lvl="2"/>
            <a:r>
              <a:rPr lang="en-US" dirty="0"/>
              <a:t>Enzyme of digestion</a:t>
            </a:r>
          </a:p>
          <a:p>
            <a:pPr lvl="3"/>
            <a:r>
              <a:rPr lang="en-US" dirty="0"/>
              <a:t>Salivary amylase</a:t>
            </a:r>
          </a:p>
          <a:p>
            <a:pPr lvl="3"/>
            <a:r>
              <a:rPr lang="en-US" dirty="0"/>
              <a:t>Pancreatic amylase</a:t>
            </a:r>
          </a:p>
          <a:p>
            <a:pPr lvl="2"/>
            <a:r>
              <a:rPr lang="en-US" dirty="0"/>
              <a:t>End-product</a:t>
            </a:r>
          </a:p>
          <a:p>
            <a:pPr lvl="3"/>
            <a:r>
              <a:rPr lang="en-US" dirty="0"/>
              <a:t>Disaccharides (maltose)</a:t>
            </a:r>
          </a:p>
          <a:p>
            <a:pPr lvl="3"/>
            <a:r>
              <a:rPr lang="en-US" dirty="0"/>
              <a:t>Limit </a:t>
            </a:r>
            <a:r>
              <a:rPr lang="en-US" dirty="0" err="1"/>
              <a:t>dextrins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588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9" name="Rectangle 1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20.13  Digestion of starch by salivary or pancreatic amylase.</a:t>
            </a:r>
          </a:p>
        </p:txBody>
      </p:sp>
      <p:pic>
        <p:nvPicPr>
          <p:cNvPr id="16" name="Picture 15" descr="figure_20_13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"/>
          <a:stretch/>
        </p:blipFill>
        <p:spPr>
          <a:xfrm>
            <a:off x="2080092" y="395295"/>
            <a:ext cx="4983816" cy="6126480"/>
          </a:xfrm>
          <a:prstGeom prst="rect">
            <a:avLst/>
          </a:prstGeom>
        </p:spPr>
      </p:pic>
      <p:sp>
        <p:nvSpPr>
          <p:cNvPr id="17" name="Freeform 16"/>
          <p:cNvSpPr/>
          <p:nvPr/>
        </p:nvSpPr>
        <p:spPr>
          <a:xfrm>
            <a:off x="3602567" y="943935"/>
            <a:ext cx="330200" cy="673100"/>
          </a:xfrm>
          <a:custGeom>
            <a:avLst/>
            <a:gdLst>
              <a:gd name="connsiteX0" fmla="*/ 0 w 330200"/>
              <a:gd name="connsiteY0" fmla="*/ 618067 h 673100"/>
              <a:gd name="connsiteX1" fmla="*/ 330200 w 330200"/>
              <a:gd name="connsiteY1" fmla="*/ 0 h 673100"/>
              <a:gd name="connsiteX2" fmla="*/ 325966 w 330200"/>
              <a:gd name="connsiteY2" fmla="*/ 67310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673100">
                <a:moveTo>
                  <a:pt x="0" y="618067"/>
                </a:moveTo>
                <a:lnTo>
                  <a:pt x="330200" y="0"/>
                </a:lnTo>
                <a:cubicBezTo>
                  <a:pt x="328789" y="224367"/>
                  <a:pt x="327377" y="448733"/>
                  <a:pt x="325966" y="673100"/>
                </a:cubicBez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77549" y="5355505"/>
            <a:ext cx="1349799" cy="466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Maltose</a:t>
            </a:r>
          </a:p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(disaccharide)</a:t>
            </a:r>
          </a:p>
        </p:txBody>
      </p:sp>
      <p:sp>
        <p:nvSpPr>
          <p:cNvPr id="19" name="Freeform 18"/>
          <p:cNvSpPr/>
          <p:nvPr/>
        </p:nvSpPr>
        <p:spPr>
          <a:xfrm>
            <a:off x="2587625" y="5039685"/>
            <a:ext cx="812800" cy="663575"/>
          </a:xfrm>
          <a:custGeom>
            <a:avLst/>
            <a:gdLst>
              <a:gd name="connsiteX0" fmla="*/ 812800 w 812800"/>
              <a:gd name="connsiteY0" fmla="*/ 0 h 663575"/>
              <a:gd name="connsiteX1" fmla="*/ 0 w 812800"/>
              <a:gd name="connsiteY1" fmla="*/ 460375 h 663575"/>
              <a:gd name="connsiteX2" fmla="*/ 504825 w 812800"/>
              <a:gd name="connsiteY2" fmla="*/ 663575 h 6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2800" h="663575">
                <a:moveTo>
                  <a:pt x="812800" y="0"/>
                </a:moveTo>
                <a:lnTo>
                  <a:pt x="0" y="460375"/>
                </a:lnTo>
                <a:lnTo>
                  <a:pt x="504825" y="66357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 flipH="1">
            <a:off x="5705475" y="5522285"/>
            <a:ext cx="12382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1" name="Freeform 20"/>
          <p:cNvSpPr/>
          <p:nvPr/>
        </p:nvSpPr>
        <p:spPr>
          <a:xfrm>
            <a:off x="5594350" y="5309559"/>
            <a:ext cx="120650" cy="415925"/>
          </a:xfrm>
          <a:custGeom>
            <a:avLst/>
            <a:gdLst>
              <a:gd name="connsiteX0" fmla="*/ 3175 w 120650"/>
              <a:gd name="connsiteY0" fmla="*/ 0 h 425450"/>
              <a:gd name="connsiteX1" fmla="*/ 120650 w 120650"/>
              <a:gd name="connsiteY1" fmla="*/ 3175 h 425450"/>
              <a:gd name="connsiteX2" fmla="*/ 117475 w 120650"/>
              <a:gd name="connsiteY2" fmla="*/ 412750 h 425450"/>
              <a:gd name="connsiteX3" fmla="*/ 0 w 120650"/>
              <a:gd name="connsiteY3" fmla="*/ 415925 h 425450"/>
              <a:gd name="connsiteX4" fmla="*/ 79375 w 120650"/>
              <a:gd name="connsiteY4" fmla="*/ 425450 h 425450"/>
              <a:gd name="connsiteX0" fmla="*/ 3175 w 120650"/>
              <a:gd name="connsiteY0" fmla="*/ 0 h 415925"/>
              <a:gd name="connsiteX1" fmla="*/ 120650 w 120650"/>
              <a:gd name="connsiteY1" fmla="*/ 3175 h 415925"/>
              <a:gd name="connsiteX2" fmla="*/ 117475 w 120650"/>
              <a:gd name="connsiteY2" fmla="*/ 412750 h 415925"/>
              <a:gd name="connsiteX3" fmla="*/ 0 w 120650"/>
              <a:gd name="connsiteY3" fmla="*/ 415925 h 41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50" h="415925">
                <a:moveTo>
                  <a:pt x="3175" y="0"/>
                </a:moveTo>
                <a:lnTo>
                  <a:pt x="120650" y="3175"/>
                </a:lnTo>
                <a:cubicBezTo>
                  <a:pt x="119592" y="139700"/>
                  <a:pt x="118533" y="276225"/>
                  <a:pt x="117475" y="412750"/>
                </a:cubicBezTo>
                <a:lnTo>
                  <a:pt x="0" y="4159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1216" y="3705563"/>
            <a:ext cx="1063508" cy="652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Salivary or</a:t>
            </a:r>
          </a:p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pancreatic</a:t>
            </a:r>
          </a:p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amylase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849" y="2685329"/>
            <a:ext cx="719489" cy="281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Starch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2967" y="701359"/>
            <a:ext cx="1788969" cy="281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Glucose monomers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31033" y="5355353"/>
            <a:ext cx="853153" cy="466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Limit</a:t>
            </a:r>
          </a:p>
          <a:p>
            <a:pPr algn="l">
              <a:lnSpc>
                <a:spcPct val="90000"/>
              </a:lnSpc>
            </a:pPr>
            <a:r>
              <a:rPr lang="en-US" sz="1340" b="1" dirty="0">
                <a:solidFill>
                  <a:srgbClr val="000000"/>
                </a:solidFill>
              </a:rPr>
              <a:t>dextrins</a:t>
            </a:r>
          </a:p>
        </p:txBody>
      </p:sp>
    </p:spTree>
    <p:extLst>
      <p:ext uri="{BB962C8B-B14F-4D97-AF65-F5344CB8AC3E}">
        <p14:creationId xmlns:p14="http://schemas.microsoft.com/office/powerpoint/2010/main" val="154791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Carbohydrates</a:t>
            </a:r>
          </a:p>
        </p:txBody>
      </p:sp>
      <p:sp>
        <p:nvSpPr>
          <p:cNvPr id="111618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Enzymes of digestion</a:t>
            </a:r>
          </a:p>
          <a:p>
            <a:pPr lvl="1"/>
            <a:r>
              <a:rPr lang="en-US" dirty="0" err="1"/>
              <a:t>Dextrinase</a:t>
            </a:r>
            <a:r>
              <a:rPr lang="en-US" dirty="0"/>
              <a:t>: limit </a:t>
            </a:r>
            <a:r>
              <a:rPr lang="en-US" dirty="0" err="1"/>
              <a:t>dextrins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glucose</a:t>
            </a:r>
          </a:p>
          <a:p>
            <a:pPr lvl="1"/>
            <a:r>
              <a:rPr lang="en-US" dirty="0" err="1">
                <a:sym typeface="Wingdings" charset="0"/>
              </a:rPr>
              <a:t>Glucoamylase</a:t>
            </a:r>
            <a:r>
              <a:rPr lang="en-US" dirty="0">
                <a:sym typeface="Wingdings" charset="0"/>
              </a:rPr>
              <a:t>: polysaccharides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glucose</a:t>
            </a:r>
          </a:p>
          <a:p>
            <a:pPr lvl="1"/>
            <a:r>
              <a:rPr lang="en-US" dirty="0" err="1">
                <a:sym typeface="Wingdings" charset="0"/>
              </a:rPr>
              <a:t>Sucrase</a:t>
            </a:r>
            <a:r>
              <a:rPr lang="en-US" dirty="0">
                <a:sym typeface="Wingdings" charset="0"/>
              </a:rPr>
              <a:t>: sucrose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fructose + glucose</a:t>
            </a:r>
          </a:p>
          <a:p>
            <a:pPr lvl="1"/>
            <a:r>
              <a:rPr lang="en-US" dirty="0">
                <a:sym typeface="Wingdings" charset="0"/>
              </a:rPr>
              <a:t>Lactase: lactose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galactose + glucose</a:t>
            </a:r>
          </a:p>
          <a:p>
            <a:pPr lvl="1"/>
            <a:r>
              <a:rPr lang="en-US" dirty="0">
                <a:sym typeface="Wingdings" charset="0"/>
              </a:rPr>
              <a:t>Maltase: maltose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2 glucose</a:t>
            </a:r>
          </a:p>
          <a:p>
            <a:r>
              <a:rPr lang="en-US" dirty="0"/>
              <a:t>Location of enzymes: brush border of small intestine</a:t>
            </a:r>
          </a:p>
          <a:p>
            <a:pPr lvl="1"/>
            <a:r>
              <a:rPr lang="en-US" dirty="0"/>
              <a:t>Brush border enzymes</a:t>
            </a:r>
          </a:p>
        </p:txBody>
      </p:sp>
    </p:spTree>
    <p:extLst>
      <p:ext uri="{BB962C8B-B14F-4D97-AF65-F5344CB8AC3E}">
        <p14:creationId xmlns:p14="http://schemas.microsoft.com/office/powerpoint/2010/main" val="21600487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Carbohydrates</a:t>
            </a:r>
          </a:p>
        </p:txBody>
      </p:sp>
      <p:sp>
        <p:nvSpPr>
          <p:cNvPr id="11366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Absorption: transport of nutrients from lumen to blood</a:t>
            </a:r>
          </a:p>
          <a:p>
            <a:r>
              <a:rPr lang="en-US" dirty="0"/>
              <a:t>Glucose and galactose are absorbed in two ways:</a:t>
            </a:r>
          </a:p>
          <a:p>
            <a:pPr lvl="1"/>
            <a:r>
              <a:rPr lang="en-US" dirty="0"/>
              <a:t>Secondary active transport across apical membrane </a:t>
            </a:r>
          </a:p>
          <a:p>
            <a:pPr lvl="1"/>
            <a:r>
              <a:rPr lang="en-US" dirty="0"/>
              <a:t>Facilitated diffusion across </a:t>
            </a:r>
            <a:r>
              <a:rPr lang="en-US" dirty="0" err="1"/>
              <a:t>basolateral</a:t>
            </a:r>
            <a:r>
              <a:rPr lang="en-US" dirty="0"/>
              <a:t> membrane</a:t>
            </a:r>
          </a:p>
          <a:p>
            <a:r>
              <a:rPr lang="en-US" dirty="0"/>
              <a:t>Fructose is absorbed in one way:</a:t>
            </a:r>
          </a:p>
          <a:p>
            <a:pPr lvl="1"/>
            <a:r>
              <a:rPr lang="en-US" dirty="0"/>
              <a:t>Facilitated diffusion across both membranes</a:t>
            </a:r>
          </a:p>
        </p:txBody>
      </p:sp>
    </p:spTree>
    <p:extLst>
      <p:ext uri="{BB962C8B-B14F-4D97-AF65-F5344CB8AC3E}">
        <p14:creationId xmlns:p14="http://schemas.microsoft.com/office/powerpoint/2010/main" val="3358094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52" name="Rectangle 47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20.14  Digestion and absorption of maltose.</a:t>
            </a:r>
          </a:p>
        </p:txBody>
      </p:sp>
      <p:pic>
        <p:nvPicPr>
          <p:cNvPr id="45" name="Picture 44" descr="figure_20_14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0"/>
          <a:stretch/>
        </p:blipFill>
        <p:spPr>
          <a:xfrm>
            <a:off x="266700" y="525780"/>
            <a:ext cx="8601456" cy="5813177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 bwMode="auto">
          <a:xfrm flipV="1">
            <a:off x="2578100" y="758825"/>
            <a:ext cx="0" cy="1301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V="1">
            <a:off x="3638550" y="850900"/>
            <a:ext cx="0" cy="1143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8" name="Freeform 47"/>
          <p:cNvSpPr/>
          <p:nvPr/>
        </p:nvSpPr>
        <p:spPr>
          <a:xfrm>
            <a:off x="2270125" y="879475"/>
            <a:ext cx="625475" cy="133350"/>
          </a:xfrm>
          <a:custGeom>
            <a:avLst/>
            <a:gdLst>
              <a:gd name="connsiteX0" fmla="*/ 0 w 625475"/>
              <a:gd name="connsiteY0" fmla="*/ 133350 h 133350"/>
              <a:gd name="connsiteX1" fmla="*/ 3175 w 625475"/>
              <a:gd name="connsiteY1" fmla="*/ 9525 h 133350"/>
              <a:gd name="connsiteX2" fmla="*/ 625475 w 625475"/>
              <a:gd name="connsiteY2" fmla="*/ 0 h 133350"/>
              <a:gd name="connsiteX3" fmla="*/ 622300 w 625475"/>
              <a:gd name="connsiteY3" fmla="*/ 130175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475" h="133350">
                <a:moveTo>
                  <a:pt x="0" y="133350"/>
                </a:moveTo>
                <a:cubicBezTo>
                  <a:pt x="1058" y="92075"/>
                  <a:pt x="2117" y="50800"/>
                  <a:pt x="3175" y="9525"/>
                </a:cubicBezTo>
                <a:lnTo>
                  <a:pt x="625475" y="0"/>
                </a:lnTo>
                <a:cubicBezTo>
                  <a:pt x="624417" y="43392"/>
                  <a:pt x="623358" y="86783"/>
                  <a:pt x="622300" y="130175"/>
                </a:cubicBez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1570567" y="2383367"/>
            <a:ext cx="203200" cy="2455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1837267" y="3941233"/>
            <a:ext cx="194733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8077200" y="1974850"/>
            <a:ext cx="1206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2" name="Freeform 51"/>
          <p:cNvSpPr/>
          <p:nvPr/>
        </p:nvSpPr>
        <p:spPr>
          <a:xfrm>
            <a:off x="7956550" y="1530350"/>
            <a:ext cx="127000" cy="895350"/>
          </a:xfrm>
          <a:custGeom>
            <a:avLst/>
            <a:gdLst>
              <a:gd name="connsiteX0" fmla="*/ 6350 w 127000"/>
              <a:gd name="connsiteY0" fmla="*/ 0 h 895350"/>
              <a:gd name="connsiteX1" fmla="*/ 127000 w 127000"/>
              <a:gd name="connsiteY1" fmla="*/ 0 h 895350"/>
              <a:gd name="connsiteX2" fmla="*/ 114300 w 127000"/>
              <a:gd name="connsiteY2" fmla="*/ 895350 h 895350"/>
              <a:gd name="connsiteX3" fmla="*/ 0 w 127000"/>
              <a:gd name="connsiteY3" fmla="*/ 89535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" h="895350">
                <a:moveTo>
                  <a:pt x="6350" y="0"/>
                </a:moveTo>
                <a:lnTo>
                  <a:pt x="127000" y="0"/>
                </a:lnTo>
                <a:lnTo>
                  <a:pt x="114300" y="895350"/>
                </a:lnTo>
                <a:lnTo>
                  <a:pt x="0" y="895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 flipV="1">
            <a:off x="2861733" y="5930900"/>
            <a:ext cx="198967" cy="25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4" name="TextBox 53"/>
          <p:cNvSpPr txBox="1"/>
          <p:nvPr/>
        </p:nvSpPr>
        <p:spPr>
          <a:xfrm>
            <a:off x="1970708" y="6014793"/>
            <a:ext cx="94304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Capillary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3133" y="5557593"/>
            <a:ext cx="69320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Blood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7808" y="4884493"/>
            <a:ext cx="1471401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Interstitial ﬂuid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07408" y="4779718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3983" y="4703518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5858" y="5014668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40833" y="5065468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58897" y="4883432"/>
            <a:ext cx="38421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K</a:t>
            </a:r>
            <a:r>
              <a:rPr lang="en-US" sz="1400" b="1" baseline="30000" dirty="0"/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7161" y="5560767"/>
            <a:ext cx="813043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To liver</a:t>
            </a:r>
            <a:endParaRPr lang="en-US" sz="1400" b="1" baseline="30000" dirty="0"/>
          </a:p>
        </p:txBody>
      </p:sp>
      <p:sp>
        <p:nvSpPr>
          <p:cNvPr id="63" name="TextBox 62"/>
          <p:cNvSpPr txBox="1"/>
          <p:nvPr/>
        </p:nvSpPr>
        <p:spPr>
          <a:xfrm>
            <a:off x="4664163" y="2660933"/>
            <a:ext cx="38421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K</a:t>
            </a:r>
            <a:r>
              <a:rPr lang="en-US" sz="1400" b="1" baseline="30000" dirty="0"/>
              <a:t>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97418" y="2959382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2933" y="3063100"/>
            <a:ext cx="38421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K</a:t>
            </a:r>
            <a:r>
              <a:rPr lang="en-US" sz="1400" b="1" baseline="30000" dirty="0"/>
              <a:t>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43565" y="2885300"/>
            <a:ext cx="38421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K</a:t>
            </a:r>
            <a:r>
              <a:rPr lang="en-US" sz="1400" b="1" baseline="30000" dirty="0"/>
              <a:t>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6997" y="3262066"/>
            <a:ext cx="384219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K</a:t>
            </a:r>
            <a:r>
              <a:rPr lang="en-US" sz="1400" b="1" baseline="30000" dirty="0"/>
              <a:t>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65198" y="3418705"/>
            <a:ext cx="56372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ADP</a:t>
            </a:r>
            <a:endParaRPr lang="en-US" sz="1400" b="1" baseline="30000" dirty="0"/>
          </a:p>
        </p:txBody>
      </p:sp>
      <p:sp>
        <p:nvSpPr>
          <p:cNvPr id="69" name="TextBox 68"/>
          <p:cNvSpPr txBox="1"/>
          <p:nvPr/>
        </p:nvSpPr>
        <p:spPr>
          <a:xfrm>
            <a:off x="4472949" y="3613439"/>
            <a:ext cx="492397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+ P</a:t>
            </a:r>
            <a:r>
              <a:rPr lang="en-US" sz="1400" b="1" baseline="-25000" dirty="0"/>
              <a:t>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509" y="3783826"/>
            <a:ext cx="1152654" cy="483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 err="1"/>
              <a:t>Basolateral</a:t>
            </a:r>
            <a:endParaRPr lang="en-US" sz="1400" b="1" dirty="0"/>
          </a:p>
          <a:p>
            <a:pPr algn="l">
              <a:lnSpc>
                <a:spcPct val="90000"/>
              </a:lnSpc>
            </a:pPr>
            <a:r>
              <a:rPr lang="en-US" sz="1400" b="1" dirty="0"/>
              <a:t>membrane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5542" y="3195393"/>
            <a:ext cx="1471752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Absorptive cell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736" y="2492659"/>
            <a:ext cx="1095172" cy="483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Apical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membrane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6269" y="634230"/>
            <a:ext cx="77315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Lumen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61199" y="511462"/>
            <a:ext cx="853106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Maltose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94132" y="600362"/>
            <a:ext cx="893081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Glucose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97798" y="1438562"/>
            <a:ext cx="851515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Maltase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87916" y="1143281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24986" y="753816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65255" y="800381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91688" y="1194079"/>
            <a:ext cx="484068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Na</a:t>
            </a:r>
            <a:r>
              <a:rPr lang="en-US" sz="1400" b="1" baseline="30000" dirty="0"/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60719" y="1808978"/>
            <a:ext cx="761747" cy="483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Brush</a:t>
            </a:r>
          </a:p>
          <a:p>
            <a:pPr algn="l">
              <a:lnSpc>
                <a:spcPct val="90000"/>
              </a:lnSpc>
            </a:pPr>
            <a:r>
              <a:rPr lang="en-US" sz="1400" b="1" dirty="0"/>
              <a:t>border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25830" y="3554460"/>
            <a:ext cx="530414" cy="289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400" b="1" dirty="0"/>
              <a:t>ATP</a:t>
            </a:r>
            <a:endParaRPr lang="en-US" sz="1400" b="1" baseline="30000" dirty="0"/>
          </a:p>
        </p:txBody>
      </p:sp>
    </p:spTree>
    <p:extLst>
      <p:ext uri="{BB962C8B-B14F-4D97-AF65-F5344CB8AC3E}">
        <p14:creationId xmlns:p14="http://schemas.microsoft.com/office/powerpoint/2010/main" val="6458241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ext Box 2"/>
          <p:cNvSpPr txBox="1">
            <a:spLocks noChangeArrowheads="1"/>
          </p:cNvSpPr>
          <p:nvPr/>
        </p:nvSpPr>
        <p:spPr bwMode="auto">
          <a:xfrm>
            <a:off x="1370013" y="152400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endParaRPr lang="en-US" sz="2800" b="1"/>
          </a:p>
        </p:txBody>
      </p:sp>
      <p:sp>
        <p:nvSpPr>
          <p:cNvPr id="1177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Proteins</a:t>
            </a:r>
          </a:p>
        </p:txBody>
      </p:sp>
      <p:sp>
        <p:nvSpPr>
          <p:cNvPr id="11776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diet: 125 grams/day protein</a:t>
            </a:r>
          </a:p>
          <a:p>
            <a:r>
              <a:rPr lang="en-US" dirty="0"/>
              <a:t>Digestion and absorption of proteins</a:t>
            </a:r>
          </a:p>
          <a:p>
            <a:pPr lvl="1"/>
            <a:r>
              <a:rPr lang="en-US" dirty="0"/>
              <a:t>Consumed in diet</a:t>
            </a:r>
          </a:p>
          <a:p>
            <a:pPr lvl="1"/>
            <a:r>
              <a:rPr lang="en-US" dirty="0"/>
              <a:t>Secreted into lumen of intestinal tract</a:t>
            </a:r>
          </a:p>
          <a:p>
            <a:pPr lvl="1"/>
            <a:r>
              <a:rPr lang="en-US" dirty="0"/>
              <a:t>Sloughed off with cells lining intestinal tract</a:t>
            </a:r>
          </a:p>
          <a:p>
            <a:r>
              <a:rPr lang="en-US" dirty="0"/>
              <a:t>Protein digestion products</a:t>
            </a:r>
          </a:p>
          <a:p>
            <a:pPr lvl="1"/>
            <a:r>
              <a:rPr lang="en-US" dirty="0"/>
              <a:t>Amino acids</a:t>
            </a:r>
          </a:p>
          <a:p>
            <a:pPr lvl="1"/>
            <a:r>
              <a:rPr lang="en-US" dirty="0"/>
              <a:t>Dipeptides</a:t>
            </a:r>
          </a:p>
          <a:p>
            <a:pPr lvl="1"/>
            <a:r>
              <a:rPr lang="en-US" dirty="0" err="1"/>
              <a:t>Tripeptides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589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Proteins</a:t>
            </a:r>
          </a:p>
        </p:txBody>
      </p:sp>
      <p:sp>
        <p:nvSpPr>
          <p:cNvPr id="119810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Proteases</a:t>
            </a:r>
          </a:p>
          <a:p>
            <a:pPr lvl="1"/>
            <a:r>
              <a:rPr lang="en-US" dirty="0" err="1"/>
              <a:t>Endopeptidases</a:t>
            </a:r>
            <a:endParaRPr lang="en-US" dirty="0"/>
          </a:p>
          <a:p>
            <a:pPr lvl="2"/>
            <a:r>
              <a:rPr lang="en-US" dirty="0"/>
              <a:t>Split polypeptides at interior peptide bonds into small peptide fragments</a:t>
            </a:r>
          </a:p>
          <a:p>
            <a:pPr lvl="1"/>
            <a:r>
              <a:rPr lang="en-US" dirty="0" err="1"/>
              <a:t>Exopeptidases</a:t>
            </a:r>
            <a:endParaRPr lang="en-US" dirty="0"/>
          </a:p>
          <a:p>
            <a:pPr lvl="2"/>
            <a:r>
              <a:rPr lang="en-US" dirty="0"/>
              <a:t>Cleave amino acids from one end of polypeptide</a:t>
            </a:r>
          </a:p>
          <a:p>
            <a:pPr lvl="1"/>
            <a:r>
              <a:rPr lang="en-US" dirty="0"/>
              <a:t>Zymogens</a:t>
            </a:r>
          </a:p>
          <a:p>
            <a:pPr lvl="2"/>
            <a:r>
              <a:rPr lang="en-US" dirty="0"/>
              <a:t>Inactive storage form of proteases</a:t>
            </a:r>
          </a:p>
          <a:p>
            <a:pPr lvl="2"/>
            <a:r>
              <a:rPr lang="en-US" dirty="0"/>
              <a:t>Stored in zymogen granules</a:t>
            </a:r>
          </a:p>
          <a:p>
            <a:pPr lvl="2"/>
            <a:r>
              <a:rPr lang="en-US" dirty="0"/>
              <a:t>Secreted by exocytosis</a:t>
            </a:r>
          </a:p>
          <a:p>
            <a:pPr lvl="2"/>
            <a:r>
              <a:rPr lang="en-US" dirty="0"/>
              <a:t>Activated by proteolysis</a:t>
            </a:r>
          </a:p>
        </p:txBody>
      </p:sp>
    </p:spTree>
    <p:extLst>
      <p:ext uri="{BB962C8B-B14F-4D97-AF65-F5344CB8AC3E}">
        <p14:creationId xmlns:p14="http://schemas.microsoft.com/office/powerpoint/2010/main" val="1277282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Proteins</a:t>
            </a:r>
          </a:p>
        </p:txBody>
      </p:sp>
      <p:sp>
        <p:nvSpPr>
          <p:cNvPr id="12185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Protein digestion begins in stomach</a:t>
            </a:r>
          </a:p>
          <a:p>
            <a:r>
              <a:rPr lang="en-US" dirty="0"/>
              <a:t>Enzyme: pepsin</a:t>
            </a:r>
          </a:p>
          <a:p>
            <a:r>
              <a:rPr lang="en-US" dirty="0"/>
              <a:t>Inactive (secreted) form: pepsinogen</a:t>
            </a:r>
          </a:p>
          <a:p>
            <a:r>
              <a:rPr lang="en-US" dirty="0"/>
              <a:t>Activated by acid</a:t>
            </a:r>
          </a:p>
          <a:p>
            <a:r>
              <a:rPr lang="en-US" dirty="0"/>
              <a:t>Pepsin: activation and activity</a:t>
            </a:r>
          </a:p>
          <a:p>
            <a:pPr lvl="1"/>
            <a:r>
              <a:rPr lang="en-US" dirty="0"/>
              <a:t>Chief cells secrete pepsinogen</a:t>
            </a:r>
          </a:p>
          <a:p>
            <a:pPr lvl="2"/>
            <a:r>
              <a:rPr lang="en-US" dirty="0"/>
              <a:t>Pepsinogen: inactive form</a:t>
            </a:r>
          </a:p>
          <a:p>
            <a:pPr lvl="1"/>
            <a:r>
              <a:rPr lang="en-US" dirty="0"/>
              <a:t>HCl cleaves pepsinogen to pepsin</a:t>
            </a:r>
          </a:p>
          <a:p>
            <a:pPr lvl="2"/>
            <a:r>
              <a:rPr lang="en-US" dirty="0"/>
              <a:t>Pepsin: active form</a:t>
            </a:r>
          </a:p>
          <a:p>
            <a:pPr lvl="1"/>
            <a:r>
              <a:rPr lang="en-US" dirty="0"/>
              <a:t>Parietal cells secrete HCl</a:t>
            </a:r>
          </a:p>
        </p:txBody>
      </p:sp>
    </p:spTree>
    <p:extLst>
      <p:ext uri="{BB962C8B-B14F-4D97-AF65-F5344CB8AC3E}">
        <p14:creationId xmlns:p14="http://schemas.microsoft.com/office/powerpoint/2010/main" val="3062522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23" name="Rectangle 26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20.15  Activation and activity of pepsin in the stomach.</a:t>
            </a:r>
          </a:p>
        </p:txBody>
      </p:sp>
      <p:pic>
        <p:nvPicPr>
          <p:cNvPr id="24" name="Picture 23" descr="figure_20_15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3"/>
          <a:stretch/>
        </p:blipFill>
        <p:spPr>
          <a:xfrm>
            <a:off x="1641348" y="416061"/>
            <a:ext cx="5861304" cy="61243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46460" y="516577"/>
            <a:ext cx="773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Lumen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3428" y="819739"/>
            <a:ext cx="773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Pepsin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6075" y="1975027"/>
            <a:ext cx="1202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 dirty="0"/>
              <a:t>Pepsinogen</a:t>
            </a:r>
            <a:endParaRPr lang="en-US" sz="1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821108" y="5211481"/>
            <a:ext cx="1082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Chief cells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4026" y="4850964"/>
            <a:ext cx="833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/>
              <a:t>Parietal</a:t>
            </a:r>
          </a:p>
          <a:p>
            <a:pPr algn="l"/>
            <a:r>
              <a:rPr lang="en-US" sz="1400" b="1" dirty="0"/>
              <a:t>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2547" y="4383933"/>
            <a:ext cx="864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sz="1400" b="1" dirty="0"/>
              <a:t>Gastric</a:t>
            </a:r>
          </a:p>
          <a:p>
            <a:pPr algn="l"/>
            <a:r>
              <a:rPr lang="es-ES_tradnl" sz="1400" b="1" dirty="0"/>
              <a:t>mucosa</a:t>
            </a:r>
            <a:endParaRPr lang="en-US" sz="1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311394" y="2138898"/>
            <a:ext cx="493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HCl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500" y="1966835"/>
            <a:ext cx="1272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 dirty="0"/>
              <a:t>Pepsinogen*</a:t>
            </a:r>
            <a:endParaRPr lang="en-US" sz="14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293824" y="885284"/>
            <a:ext cx="10526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/>
              <a:t>Smaller</a:t>
            </a:r>
          </a:p>
          <a:p>
            <a:pPr algn="l"/>
            <a:r>
              <a:rPr lang="en-US" sz="1400" b="1" dirty="0"/>
              <a:t>peptide</a:t>
            </a:r>
          </a:p>
          <a:p>
            <a:pPr algn="l"/>
            <a:r>
              <a:rPr lang="en-US" sz="1400" b="1" dirty="0"/>
              <a:t>fragments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5660" y="483803"/>
            <a:ext cx="803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/>
              <a:t>Protein</a:t>
            </a:r>
            <a:endParaRPr lang="en-US" sz="1400" b="1" dirty="0"/>
          </a:p>
        </p:txBody>
      </p:sp>
      <p:sp>
        <p:nvSpPr>
          <p:cNvPr id="35" name="Freeform 34"/>
          <p:cNvSpPr/>
          <p:nvPr/>
        </p:nvSpPr>
        <p:spPr>
          <a:xfrm>
            <a:off x="6464743" y="2581825"/>
            <a:ext cx="131096" cy="3932904"/>
          </a:xfrm>
          <a:custGeom>
            <a:avLst/>
            <a:gdLst>
              <a:gd name="connsiteX0" fmla="*/ 8193 w 131096"/>
              <a:gd name="connsiteY0" fmla="*/ 0 h 3932904"/>
              <a:gd name="connsiteX1" fmla="*/ 131096 w 131096"/>
              <a:gd name="connsiteY1" fmla="*/ 0 h 3932904"/>
              <a:gd name="connsiteX2" fmla="*/ 131096 w 131096"/>
              <a:gd name="connsiteY2" fmla="*/ 3932904 h 3932904"/>
              <a:gd name="connsiteX3" fmla="*/ 0 w 131096"/>
              <a:gd name="connsiteY3" fmla="*/ 3932904 h 393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096" h="3932904">
                <a:moveTo>
                  <a:pt x="8193" y="0"/>
                </a:moveTo>
                <a:lnTo>
                  <a:pt x="131096" y="0"/>
                </a:lnTo>
                <a:lnTo>
                  <a:pt x="131096" y="3932904"/>
                </a:lnTo>
                <a:lnTo>
                  <a:pt x="0" y="3932904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 w="19050" cmpd="sng">
                <a:solidFill>
                  <a:srgbClr val="000000"/>
                </a:solidFill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36" name="Straight Connector 35"/>
          <p:cNvCxnSpPr/>
          <p:nvPr/>
        </p:nvCxnSpPr>
        <p:spPr bwMode="auto">
          <a:xfrm>
            <a:off x="6596268" y="4547558"/>
            <a:ext cx="145465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7" name="Freeform 36"/>
          <p:cNvSpPr/>
          <p:nvPr/>
        </p:nvSpPr>
        <p:spPr>
          <a:xfrm>
            <a:off x="4805933" y="5011938"/>
            <a:ext cx="425204" cy="693773"/>
          </a:xfrm>
          <a:custGeom>
            <a:avLst/>
            <a:gdLst>
              <a:gd name="connsiteX0" fmla="*/ 11189 w 425204"/>
              <a:gd name="connsiteY0" fmla="*/ 0 h 693773"/>
              <a:gd name="connsiteX1" fmla="*/ 425204 w 425204"/>
              <a:gd name="connsiteY1" fmla="*/ 0 h 693773"/>
              <a:gd name="connsiteX2" fmla="*/ 0 w 425204"/>
              <a:gd name="connsiteY2" fmla="*/ 693773 h 693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204" h="693773">
                <a:moveTo>
                  <a:pt x="11189" y="0"/>
                </a:moveTo>
                <a:lnTo>
                  <a:pt x="425204" y="0"/>
                </a:lnTo>
                <a:lnTo>
                  <a:pt x="0" y="693773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2830968" y="5386800"/>
            <a:ext cx="391636" cy="290937"/>
          </a:xfrm>
          <a:custGeom>
            <a:avLst/>
            <a:gdLst>
              <a:gd name="connsiteX0" fmla="*/ 346878 w 391636"/>
              <a:gd name="connsiteY0" fmla="*/ 0 h 290937"/>
              <a:gd name="connsiteX1" fmla="*/ 0 w 391636"/>
              <a:gd name="connsiteY1" fmla="*/ 0 h 290937"/>
              <a:gd name="connsiteX2" fmla="*/ 391636 w 391636"/>
              <a:gd name="connsiteY2" fmla="*/ 290937 h 290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1636" h="290937">
                <a:moveTo>
                  <a:pt x="346878" y="0"/>
                </a:moveTo>
                <a:lnTo>
                  <a:pt x="0" y="0"/>
                </a:lnTo>
                <a:lnTo>
                  <a:pt x="391636" y="290937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5085673" y="1045125"/>
            <a:ext cx="134275" cy="481165"/>
          </a:xfrm>
          <a:custGeom>
            <a:avLst/>
            <a:gdLst>
              <a:gd name="connsiteX0" fmla="*/ 0 w 134275"/>
              <a:gd name="connsiteY0" fmla="*/ 0 h 481165"/>
              <a:gd name="connsiteX1" fmla="*/ 134275 w 134275"/>
              <a:gd name="connsiteY1" fmla="*/ 0 h 481165"/>
              <a:gd name="connsiteX2" fmla="*/ 134275 w 134275"/>
              <a:gd name="connsiteY2" fmla="*/ 481165 h 481165"/>
              <a:gd name="connsiteX3" fmla="*/ 5594 w 134275"/>
              <a:gd name="connsiteY3" fmla="*/ 475570 h 481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275" h="481165">
                <a:moveTo>
                  <a:pt x="0" y="0"/>
                </a:moveTo>
                <a:lnTo>
                  <a:pt x="134275" y="0"/>
                </a:lnTo>
                <a:lnTo>
                  <a:pt x="134275" y="481165"/>
                </a:lnTo>
                <a:lnTo>
                  <a:pt x="5594" y="475570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40" name="Straight Connector 39"/>
          <p:cNvCxnSpPr/>
          <p:nvPr/>
        </p:nvCxnSpPr>
        <p:spPr bwMode="auto">
          <a:xfrm flipV="1">
            <a:off x="5186379" y="647892"/>
            <a:ext cx="173439" cy="11189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1" name="Straight Connector 40"/>
          <p:cNvCxnSpPr/>
          <p:nvPr/>
        </p:nvCxnSpPr>
        <p:spPr bwMode="auto">
          <a:xfrm>
            <a:off x="5225542" y="1280112"/>
            <a:ext cx="123086" cy="1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4522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Proteins</a:t>
            </a:r>
          </a:p>
        </p:txBody>
      </p:sp>
      <p:sp>
        <p:nvSpPr>
          <p:cNvPr id="12595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Protein digestion in small intestine</a:t>
            </a:r>
          </a:p>
          <a:p>
            <a:pPr lvl="1"/>
            <a:r>
              <a:rPr lang="en-US" dirty="0"/>
              <a:t>Pancreatic proteases</a:t>
            </a:r>
          </a:p>
          <a:p>
            <a:pPr lvl="2"/>
            <a:r>
              <a:rPr lang="en-US" dirty="0"/>
              <a:t>Trypsin</a:t>
            </a:r>
          </a:p>
          <a:p>
            <a:pPr lvl="2"/>
            <a:r>
              <a:rPr lang="en-US" dirty="0"/>
              <a:t>Chymotrypsin</a:t>
            </a:r>
          </a:p>
          <a:p>
            <a:pPr lvl="2"/>
            <a:r>
              <a:rPr lang="en-US" dirty="0" err="1"/>
              <a:t>Carboxypeptidase</a:t>
            </a:r>
            <a:endParaRPr lang="en-US" dirty="0"/>
          </a:p>
          <a:p>
            <a:pPr lvl="1"/>
            <a:r>
              <a:rPr lang="en-US" dirty="0"/>
              <a:t>Brush border proteases</a:t>
            </a:r>
          </a:p>
          <a:p>
            <a:pPr lvl="2"/>
            <a:r>
              <a:rPr lang="en-US" dirty="0" err="1"/>
              <a:t>Aminopeptidase</a:t>
            </a:r>
            <a:endParaRPr lang="en-US" dirty="0"/>
          </a:p>
          <a:p>
            <a:pPr lvl="2"/>
            <a:r>
              <a:rPr lang="en-US" dirty="0" err="1"/>
              <a:t>Enterokinase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467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ure_20_16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9"/>
          <a:stretch/>
        </p:blipFill>
        <p:spPr>
          <a:xfrm>
            <a:off x="266700" y="461772"/>
            <a:ext cx="8601456" cy="5928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34422" y="1136650"/>
            <a:ext cx="248502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Lumen of small intestine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1684" y="914400"/>
            <a:ext cx="1177198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30" b="1" dirty="0"/>
              <a:t>Pancreatic</a:t>
            </a:r>
          </a:p>
          <a:p>
            <a:pPr algn="l"/>
            <a:r>
              <a:rPr lang="en-US" sz="1530" b="1" dirty="0"/>
              <a:t>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5846" y="4057650"/>
            <a:ext cx="130787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Enterocytes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1322" y="4102100"/>
            <a:ext cx="1329623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0" b="1" dirty="0"/>
              <a:t>Procarboxy-</a:t>
            </a:r>
          </a:p>
          <a:p>
            <a:pPr algn="ctr"/>
            <a:r>
              <a:rPr lang="en-US" sz="1530" b="1" dirty="0"/>
              <a:t>peptidase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9723" y="3654425"/>
            <a:ext cx="197247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94" y="3048000"/>
            <a:ext cx="13511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208" y="3743325"/>
            <a:ext cx="141690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Enterokinase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381" y="4457700"/>
            <a:ext cx="88250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362" y="5857875"/>
            <a:ext cx="188567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Carboxypeptidase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6267450" y="1416050"/>
            <a:ext cx="0" cy="6794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 flipH="1" flipV="1">
            <a:off x="1562100" y="3911600"/>
            <a:ext cx="387350" cy="63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" name="Freeform 18"/>
          <p:cNvSpPr/>
          <p:nvPr/>
        </p:nvSpPr>
        <p:spPr>
          <a:xfrm>
            <a:off x="6305550" y="4216400"/>
            <a:ext cx="723900" cy="361950"/>
          </a:xfrm>
          <a:custGeom>
            <a:avLst/>
            <a:gdLst>
              <a:gd name="connsiteX0" fmla="*/ 0 w 723900"/>
              <a:gd name="connsiteY0" fmla="*/ 0 h 361950"/>
              <a:gd name="connsiteX1" fmla="*/ 723900 w 723900"/>
              <a:gd name="connsiteY1" fmla="*/ 0 h 361950"/>
              <a:gd name="connsiteX2" fmla="*/ 31750 w 723900"/>
              <a:gd name="connsiteY2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361950">
                <a:moveTo>
                  <a:pt x="0" y="0"/>
                </a:moveTo>
                <a:lnTo>
                  <a:pt x="723900" y="0"/>
                </a:lnTo>
                <a:lnTo>
                  <a:pt x="31750" y="36195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2516" y="5458559"/>
            <a:ext cx="150379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</a:t>
            </a:r>
          </a:p>
        </p:txBody>
      </p:sp>
      <p:sp>
        <p:nvSpPr>
          <p:cNvPr id="22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20.16  Activation of proteases in the small intestine.</a:t>
            </a: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7238535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16_unlabeled_Slide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0"/>
          <a:stretch/>
        </p:blipFill>
        <p:spPr>
          <a:xfrm>
            <a:off x="266700" y="461772"/>
            <a:ext cx="8601456" cy="5931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34422" y="1136650"/>
            <a:ext cx="248502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Lumen of small intestine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1684" y="914400"/>
            <a:ext cx="1177198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30" b="1" dirty="0"/>
              <a:t>Pancreatic</a:t>
            </a:r>
          </a:p>
          <a:p>
            <a:pPr algn="l"/>
            <a:r>
              <a:rPr lang="en-US" sz="1530" b="1" dirty="0"/>
              <a:t>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5846" y="4057650"/>
            <a:ext cx="130787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Enterocytes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94" y="3048000"/>
            <a:ext cx="13511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208" y="3743325"/>
            <a:ext cx="141690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Enterokinase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381" y="4457700"/>
            <a:ext cx="88250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6267450" y="1416050"/>
            <a:ext cx="0" cy="6794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 flipH="1" flipV="1">
            <a:off x="1562100" y="3911600"/>
            <a:ext cx="387350" cy="63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" name="Freeform 18"/>
          <p:cNvSpPr/>
          <p:nvPr/>
        </p:nvSpPr>
        <p:spPr>
          <a:xfrm>
            <a:off x="6305550" y="4216400"/>
            <a:ext cx="723900" cy="361950"/>
          </a:xfrm>
          <a:custGeom>
            <a:avLst/>
            <a:gdLst>
              <a:gd name="connsiteX0" fmla="*/ 0 w 723900"/>
              <a:gd name="connsiteY0" fmla="*/ 0 h 361950"/>
              <a:gd name="connsiteX1" fmla="*/ 723900 w 723900"/>
              <a:gd name="connsiteY1" fmla="*/ 0 h 361950"/>
              <a:gd name="connsiteX2" fmla="*/ 31750 w 723900"/>
              <a:gd name="connsiteY2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361950">
                <a:moveTo>
                  <a:pt x="0" y="0"/>
                </a:moveTo>
                <a:lnTo>
                  <a:pt x="723900" y="0"/>
                </a:lnTo>
                <a:lnTo>
                  <a:pt x="31750" y="36195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6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20.16  Activation of proteases in the small intestine.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4934414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16_unlabeled_Slide03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0"/>
          <a:stretch/>
        </p:blipFill>
        <p:spPr>
          <a:xfrm>
            <a:off x="266700" y="461772"/>
            <a:ext cx="8601456" cy="5931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34422" y="1136650"/>
            <a:ext cx="248502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Lumen of small intestine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1684" y="914400"/>
            <a:ext cx="1177198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30" b="1" dirty="0"/>
              <a:t>Pancreatic</a:t>
            </a:r>
          </a:p>
          <a:p>
            <a:pPr algn="l"/>
            <a:r>
              <a:rPr lang="en-US" sz="1530" b="1" dirty="0"/>
              <a:t>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5846" y="4057650"/>
            <a:ext cx="130787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Enterocytes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9723" y="3654425"/>
            <a:ext cx="197247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94" y="3048000"/>
            <a:ext cx="13511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208" y="3743325"/>
            <a:ext cx="141690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Enterokinase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381" y="4457700"/>
            <a:ext cx="88250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6267450" y="1416050"/>
            <a:ext cx="0" cy="6794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 flipH="1" flipV="1">
            <a:off x="1562100" y="3911600"/>
            <a:ext cx="387350" cy="63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" name="Freeform 18"/>
          <p:cNvSpPr/>
          <p:nvPr/>
        </p:nvSpPr>
        <p:spPr>
          <a:xfrm>
            <a:off x="6305550" y="4216400"/>
            <a:ext cx="723900" cy="361950"/>
          </a:xfrm>
          <a:custGeom>
            <a:avLst/>
            <a:gdLst>
              <a:gd name="connsiteX0" fmla="*/ 0 w 723900"/>
              <a:gd name="connsiteY0" fmla="*/ 0 h 361950"/>
              <a:gd name="connsiteX1" fmla="*/ 723900 w 723900"/>
              <a:gd name="connsiteY1" fmla="*/ 0 h 361950"/>
              <a:gd name="connsiteX2" fmla="*/ 31750 w 723900"/>
              <a:gd name="connsiteY2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361950">
                <a:moveTo>
                  <a:pt x="0" y="0"/>
                </a:moveTo>
                <a:lnTo>
                  <a:pt x="723900" y="0"/>
                </a:lnTo>
                <a:lnTo>
                  <a:pt x="31750" y="36195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2516" y="5458559"/>
            <a:ext cx="150379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</a:t>
            </a:r>
          </a:p>
        </p:txBody>
      </p:sp>
      <p:sp>
        <p:nvSpPr>
          <p:cNvPr id="22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20.16  Activation of proteases in the small intestine.</a:t>
            </a: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18669112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ure_20_16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9"/>
          <a:stretch/>
        </p:blipFill>
        <p:spPr>
          <a:xfrm>
            <a:off x="266700" y="461772"/>
            <a:ext cx="8601456" cy="5928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34422" y="1136650"/>
            <a:ext cx="2485023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Lumen of small intestine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1684" y="914400"/>
            <a:ext cx="1177198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30" b="1" dirty="0"/>
              <a:t>Pancreatic</a:t>
            </a:r>
          </a:p>
          <a:p>
            <a:pPr algn="l"/>
            <a:r>
              <a:rPr lang="en-US" sz="1530" b="1" dirty="0"/>
              <a:t>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5846" y="4057650"/>
            <a:ext cx="130787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Enterocytes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1322" y="4102100"/>
            <a:ext cx="1329623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0" b="1" dirty="0" err="1"/>
              <a:t>Procarboxy</a:t>
            </a:r>
            <a:r>
              <a:rPr lang="en-US" sz="1530" b="1" dirty="0"/>
              <a:t>-</a:t>
            </a:r>
          </a:p>
          <a:p>
            <a:pPr algn="ctr"/>
            <a:r>
              <a:rPr lang="en-US" sz="1530" b="1" dirty="0"/>
              <a:t>peptidase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9723" y="3654425"/>
            <a:ext cx="197247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94" y="3048000"/>
            <a:ext cx="13511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208" y="3743325"/>
            <a:ext cx="141690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Enterokinase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1381" y="4457700"/>
            <a:ext cx="88250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Trypsin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362" y="5857875"/>
            <a:ext cx="188567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Carboxypeptidase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 flipV="1">
            <a:off x="6267450" y="1416050"/>
            <a:ext cx="0" cy="6794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8" name="Straight Connector 17"/>
          <p:cNvCxnSpPr/>
          <p:nvPr/>
        </p:nvCxnSpPr>
        <p:spPr bwMode="auto">
          <a:xfrm flipH="1" flipV="1">
            <a:off x="1562100" y="3911600"/>
            <a:ext cx="387350" cy="63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9" name="Freeform 18"/>
          <p:cNvSpPr/>
          <p:nvPr/>
        </p:nvSpPr>
        <p:spPr>
          <a:xfrm>
            <a:off x="6305550" y="4216400"/>
            <a:ext cx="723900" cy="361950"/>
          </a:xfrm>
          <a:custGeom>
            <a:avLst/>
            <a:gdLst>
              <a:gd name="connsiteX0" fmla="*/ 0 w 723900"/>
              <a:gd name="connsiteY0" fmla="*/ 0 h 361950"/>
              <a:gd name="connsiteX1" fmla="*/ 723900 w 723900"/>
              <a:gd name="connsiteY1" fmla="*/ 0 h 361950"/>
              <a:gd name="connsiteX2" fmla="*/ 31750 w 723900"/>
              <a:gd name="connsiteY2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361950">
                <a:moveTo>
                  <a:pt x="0" y="0"/>
                </a:moveTo>
                <a:lnTo>
                  <a:pt x="723900" y="0"/>
                </a:lnTo>
                <a:lnTo>
                  <a:pt x="31750" y="361950"/>
                </a:lnTo>
              </a:path>
            </a:pathLst>
          </a:custGeom>
          <a:ln w="190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2516" y="5458559"/>
            <a:ext cx="150379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Chymotrypsin</a:t>
            </a:r>
          </a:p>
        </p:txBody>
      </p:sp>
      <p:sp>
        <p:nvSpPr>
          <p:cNvPr id="22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20.16  Activation of proteases in the small intestine.</a:t>
            </a: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36703041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Proteins</a:t>
            </a:r>
          </a:p>
        </p:txBody>
      </p:sp>
      <p:sp>
        <p:nvSpPr>
          <p:cNvPr id="13619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of amino acids</a:t>
            </a:r>
          </a:p>
          <a:p>
            <a:pPr lvl="1"/>
            <a:r>
              <a:rPr lang="en-US" dirty="0"/>
              <a:t>Cross the apical membrane by sodium-linked secondary active transport or facilitated diffusion</a:t>
            </a:r>
          </a:p>
          <a:p>
            <a:pPr lvl="1"/>
            <a:r>
              <a:rPr lang="en-US" dirty="0"/>
              <a:t>Cross the </a:t>
            </a:r>
            <a:r>
              <a:rPr lang="en-US" dirty="0" err="1"/>
              <a:t>basolateral</a:t>
            </a:r>
            <a:r>
              <a:rPr lang="en-US" dirty="0"/>
              <a:t> membrane by facilitated diffusion</a:t>
            </a:r>
          </a:p>
          <a:p>
            <a:r>
              <a:rPr lang="en-US" dirty="0"/>
              <a:t>Absorption of dipeptides and </a:t>
            </a:r>
            <a:r>
              <a:rPr lang="en-US" dirty="0" err="1"/>
              <a:t>tripeptides</a:t>
            </a:r>
            <a:endParaRPr lang="en-US" dirty="0"/>
          </a:p>
          <a:p>
            <a:pPr lvl="1"/>
            <a:r>
              <a:rPr lang="en-US" dirty="0"/>
              <a:t>Cross the apical membrane by active transport</a:t>
            </a:r>
          </a:p>
          <a:p>
            <a:pPr lvl="1"/>
            <a:r>
              <a:rPr lang="en-US" dirty="0"/>
              <a:t>Broken down inside cells to amino acids</a:t>
            </a:r>
          </a:p>
          <a:p>
            <a:pPr lvl="1"/>
            <a:r>
              <a:rPr lang="en-US" dirty="0"/>
              <a:t>Amino acids cross the </a:t>
            </a:r>
            <a:r>
              <a:rPr lang="en-US" dirty="0" err="1"/>
              <a:t>basolateral</a:t>
            </a:r>
            <a:r>
              <a:rPr lang="en-US" dirty="0"/>
              <a:t> membrane by facilitated diffusion</a:t>
            </a:r>
          </a:p>
        </p:txBody>
      </p:sp>
    </p:spTree>
    <p:extLst>
      <p:ext uri="{BB962C8B-B14F-4D97-AF65-F5344CB8AC3E}">
        <p14:creationId xmlns:p14="http://schemas.microsoft.com/office/powerpoint/2010/main" val="1460954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Lipids</a:t>
            </a:r>
          </a:p>
        </p:txBody>
      </p:sp>
      <p:sp>
        <p:nvSpPr>
          <p:cNvPr id="13824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Typical diet: 50 grams/day lipids</a:t>
            </a:r>
          </a:p>
          <a:p>
            <a:pPr lvl="1"/>
            <a:r>
              <a:rPr lang="en-US" dirty="0"/>
              <a:t>90% triglycerides</a:t>
            </a:r>
          </a:p>
          <a:p>
            <a:r>
              <a:rPr lang="en-US" dirty="0"/>
              <a:t>Lipids face special problem in digestion and absorption</a:t>
            </a:r>
          </a:p>
          <a:p>
            <a:pPr lvl="1"/>
            <a:r>
              <a:rPr lang="en-US" dirty="0"/>
              <a:t>Not water soluble</a:t>
            </a:r>
          </a:p>
          <a:p>
            <a:pPr lvl="1"/>
            <a:r>
              <a:rPr lang="en-US" dirty="0"/>
              <a:t>Do not mix with stomach or intestinal contents</a:t>
            </a:r>
          </a:p>
          <a:p>
            <a:pPr lvl="1"/>
            <a:r>
              <a:rPr lang="en-US" dirty="0"/>
              <a:t>Form fat droplets</a:t>
            </a:r>
          </a:p>
        </p:txBody>
      </p:sp>
    </p:spTree>
    <p:extLst>
      <p:ext uri="{BB962C8B-B14F-4D97-AF65-F5344CB8AC3E}">
        <p14:creationId xmlns:p14="http://schemas.microsoft.com/office/powerpoint/2010/main" val="10238212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Lipids</a:t>
            </a:r>
          </a:p>
        </p:txBody>
      </p:sp>
      <p:sp>
        <p:nvSpPr>
          <p:cNvPr id="14029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Lipid digestion</a:t>
            </a:r>
          </a:p>
          <a:p>
            <a:pPr lvl="1"/>
            <a:r>
              <a:rPr lang="en-US" dirty="0"/>
              <a:t>Enzymes of digestion: lipases</a:t>
            </a:r>
          </a:p>
          <a:p>
            <a:pPr lvl="1"/>
            <a:r>
              <a:rPr lang="en-US" dirty="0"/>
              <a:t>Secreted from pancreas</a:t>
            </a:r>
          </a:p>
          <a:p>
            <a:pPr lvl="1"/>
            <a:r>
              <a:rPr lang="en-US" dirty="0"/>
              <a:t>Lipases can only act on molecules near the edge of a fat droplet</a:t>
            </a:r>
          </a:p>
          <a:p>
            <a:pPr lvl="1"/>
            <a:r>
              <a:rPr lang="en-US" dirty="0"/>
              <a:t>Bile salts increase the surface area of droplets by breaking each large droplet into several small droplets: emulsification</a:t>
            </a:r>
          </a:p>
        </p:txBody>
      </p:sp>
    </p:spTree>
    <p:extLst>
      <p:ext uri="{BB962C8B-B14F-4D97-AF65-F5344CB8AC3E}">
        <p14:creationId xmlns:p14="http://schemas.microsoft.com/office/powerpoint/2010/main" val="388363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Lipids</a:t>
            </a:r>
          </a:p>
        </p:txBody>
      </p:sp>
      <p:sp>
        <p:nvSpPr>
          <p:cNvPr id="14233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Bile salts</a:t>
            </a:r>
          </a:p>
          <a:p>
            <a:pPr lvl="1"/>
            <a:r>
              <a:rPr lang="en-US" dirty="0"/>
              <a:t>Synthesized in liver from cholesterol</a:t>
            </a:r>
          </a:p>
          <a:p>
            <a:pPr lvl="1"/>
            <a:r>
              <a:rPr lang="en-US" dirty="0"/>
              <a:t>Secreted in bile to duodenum</a:t>
            </a:r>
          </a:p>
          <a:p>
            <a:pPr lvl="1"/>
            <a:r>
              <a:rPr lang="en-US" dirty="0"/>
              <a:t>Amphipathic molecule</a:t>
            </a:r>
          </a:p>
          <a:p>
            <a:pPr lvl="1"/>
            <a:r>
              <a:rPr lang="en-US" dirty="0"/>
              <a:t>Emulsify fat</a:t>
            </a:r>
          </a:p>
        </p:txBody>
      </p:sp>
    </p:spTree>
    <p:extLst>
      <p:ext uri="{BB962C8B-B14F-4D97-AF65-F5344CB8AC3E}">
        <p14:creationId xmlns:p14="http://schemas.microsoft.com/office/powerpoint/2010/main" val="8280733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93" name="Rectangle 35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20.17  A representative bile salt.</a:t>
            </a:r>
          </a:p>
        </p:txBody>
      </p:sp>
      <p:pic>
        <p:nvPicPr>
          <p:cNvPr id="14" name="Picture 13" descr="figure_20_17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5"/>
          <a:stretch/>
        </p:blipFill>
        <p:spPr>
          <a:xfrm>
            <a:off x="1389888" y="427822"/>
            <a:ext cx="6364224" cy="61204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05557" y="2354521"/>
            <a:ext cx="4732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3382" y="3503871"/>
            <a:ext cx="13708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90" b="1" dirty="0"/>
              <a:t>Hydrophobic</a:t>
            </a:r>
          </a:p>
          <a:p>
            <a:pPr algn="l"/>
            <a:r>
              <a:rPr lang="en-US" sz="1490" b="1" dirty="0"/>
              <a:t>(nonpolar)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3607" y="2354521"/>
            <a:ext cx="4732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OH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7057" y="506671"/>
            <a:ext cx="4732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6614" y="1217871"/>
            <a:ext cx="333292" cy="780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C</a:t>
            </a:r>
          </a:p>
          <a:p>
            <a:endParaRPr lang="en-US" sz="1490" b="1" dirty="0"/>
          </a:p>
          <a:p>
            <a:r>
              <a:rPr lang="en-US" sz="1490" b="1" dirty="0"/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5757" y="1224221"/>
            <a:ext cx="4732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1764" y="1224221"/>
            <a:ext cx="531492" cy="321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CH</a:t>
            </a:r>
            <a:r>
              <a:rPr lang="en-US" sz="1490" b="1" baseline="-25000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0047" y="1224221"/>
            <a:ext cx="697627" cy="321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COO</a:t>
            </a:r>
            <a:r>
              <a:rPr lang="en-US" sz="1490" b="1" baseline="30000" dirty="0"/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7103" y="1224221"/>
            <a:ext cx="503315" cy="321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90" b="1" dirty="0"/>
              <a:t>Na</a:t>
            </a:r>
            <a:r>
              <a:rPr lang="en-US" sz="1490" b="1" baseline="30000" dirty="0"/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4982" y="4519871"/>
            <a:ext cx="1800493" cy="321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90" b="1" dirty="0"/>
              <a:t>Hydrophobic 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4982" y="4964371"/>
            <a:ext cx="1672253" cy="321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90" b="1" dirty="0"/>
              <a:t>Hydrophilic 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2782" y="6043871"/>
            <a:ext cx="1479665" cy="550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90" b="1" dirty="0"/>
              <a:t>Hydrophilic</a:t>
            </a:r>
          </a:p>
          <a:p>
            <a:pPr algn="l"/>
            <a:r>
              <a:rPr lang="en-US" sz="1490" b="1" dirty="0"/>
              <a:t>groups (polar)</a:t>
            </a:r>
          </a:p>
        </p:txBody>
      </p:sp>
      <p:cxnSp>
        <p:nvCxnSpPr>
          <p:cNvPr id="27" name="Straight Connector 26"/>
          <p:cNvCxnSpPr/>
          <p:nvPr/>
        </p:nvCxnSpPr>
        <p:spPr bwMode="auto">
          <a:xfrm flipV="1">
            <a:off x="4298950" y="3678570"/>
            <a:ext cx="387350" cy="5397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 flipV="1">
            <a:off x="4197350" y="5691520"/>
            <a:ext cx="247650" cy="4127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9" name="Freeform 28"/>
          <p:cNvSpPr/>
          <p:nvPr/>
        </p:nvSpPr>
        <p:spPr>
          <a:xfrm>
            <a:off x="3178175" y="5545470"/>
            <a:ext cx="2209800" cy="565150"/>
          </a:xfrm>
          <a:custGeom>
            <a:avLst/>
            <a:gdLst>
              <a:gd name="connsiteX0" fmla="*/ 0 w 2209800"/>
              <a:gd name="connsiteY0" fmla="*/ 0 h 565150"/>
              <a:gd name="connsiteX1" fmla="*/ 1016000 w 2209800"/>
              <a:gd name="connsiteY1" fmla="*/ 565150 h 565150"/>
              <a:gd name="connsiteX2" fmla="*/ 2209800 w 2209800"/>
              <a:gd name="connsiteY2" fmla="*/ 263525 h 565150"/>
              <a:gd name="connsiteX3" fmla="*/ 2209800 w 2209800"/>
              <a:gd name="connsiteY3" fmla="*/ 263525 h 565150"/>
              <a:gd name="connsiteX4" fmla="*/ 2209800 w 2209800"/>
              <a:gd name="connsiteY4" fmla="*/ 263525 h 565150"/>
              <a:gd name="connsiteX5" fmla="*/ 2209800 w 2209800"/>
              <a:gd name="connsiteY5" fmla="*/ 263525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9800" h="565150">
                <a:moveTo>
                  <a:pt x="0" y="0"/>
                </a:moveTo>
                <a:lnTo>
                  <a:pt x="1016000" y="565150"/>
                </a:lnTo>
                <a:lnTo>
                  <a:pt x="2209800" y="263525"/>
                </a:lnTo>
                <a:lnTo>
                  <a:pt x="2209800" y="263525"/>
                </a:lnTo>
                <a:lnTo>
                  <a:pt x="2209800" y="263525"/>
                </a:lnTo>
                <a:lnTo>
                  <a:pt x="2209800" y="263525"/>
                </a:lnTo>
              </a:path>
            </a:pathLst>
          </a:custGeom>
          <a:ln w="1905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1931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44" name="Rectangle 19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20.18  Emulsification of a fat globule by bile salts.</a:t>
            </a:r>
          </a:p>
        </p:txBody>
      </p:sp>
      <p:pic>
        <p:nvPicPr>
          <p:cNvPr id="17" name="Picture 16" descr="figure_20_18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3"/>
          <a:stretch/>
        </p:blipFill>
        <p:spPr>
          <a:xfrm>
            <a:off x="2734056" y="435628"/>
            <a:ext cx="3675888" cy="61245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7902" y="1651123"/>
            <a:ext cx="1364476" cy="226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70" b="1" dirty="0"/>
              <a:t>Fat globule (nonpolar)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6434" y="2614206"/>
            <a:ext cx="868569" cy="226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70" b="1" dirty="0"/>
              <a:t>Water (polar)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934" y="3788954"/>
            <a:ext cx="916073" cy="360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0" b="1" dirty="0"/>
              <a:t>Bile salts</a:t>
            </a:r>
          </a:p>
          <a:p>
            <a:pPr algn="l"/>
            <a:r>
              <a:rPr lang="en-US" sz="870" b="1" dirty="0"/>
              <a:t>(amphipathic)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7394" y="5185954"/>
            <a:ext cx="761086" cy="360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0" b="1" dirty="0"/>
              <a:t>Fat droplet</a:t>
            </a:r>
          </a:p>
          <a:p>
            <a:pPr algn="l"/>
            <a:r>
              <a:rPr lang="en-US" sz="870" b="1" dirty="0"/>
              <a:t>(nonpolar)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8224" y="5281204"/>
            <a:ext cx="953227" cy="226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0" b="1" dirty="0"/>
              <a:t>Phospholipids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2267" y="5873872"/>
            <a:ext cx="810987" cy="226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0" b="1" dirty="0"/>
              <a:t>Triglyceride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3850" y="6265456"/>
            <a:ext cx="868569" cy="226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70" b="1" dirty="0"/>
              <a:t>Water (polar)</a:t>
            </a:r>
          </a:p>
        </p:txBody>
      </p:sp>
      <p:cxnSp>
        <p:nvCxnSpPr>
          <p:cNvPr id="25" name="Straight Connector 24"/>
          <p:cNvCxnSpPr/>
          <p:nvPr/>
        </p:nvCxnSpPr>
        <p:spPr bwMode="auto">
          <a:xfrm flipV="1">
            <a:off x="3551767" y="5015565"/>
            <a:ext cx="283633" cy="2899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6" name="Freeform 25"/>
          <p:cNvSpPr/>
          <p:nvPr/>
        </p:nvSpPr>
        <p:spPr>
          <a:xfrm>
            <a:off x="4600575" y="5393390"/>
            <a:ext cx="317500" cy="174625"/>
          </a:xfrm>
          <a:custGeom>
            <a:avLst/>
            <a:gdLst>
              <a:gd name="connsiteX0" fmla="*/ 0 w 317500"/>
              <a:gd name="connsiteY0" fmla="*/ 152400 h 174625"/>
              <a:gd name="connsiteX1" fmla="*/ 317500 w 317500"/>
              <a:gd name="connsiteY1" fmla="*/ 0 h 174625"/>
              <a:gd name="connsiteX2" fmla="*/ 120650 w 317500"/>
              <a:gd name="connsiteY2" fmla="*/ 174625 h 174625"/>
              <a:gd name="connsiteX3" fmla="*/ 120650 w 317500"/>
              <a:gd name="connsiteY3" fmla="*/ 174625 h 17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500" h="174625">
                <a:moveTo>
                  <a:pt x="0" y="152400"/>
                </a:moveTo>
                <a:lnTo>
                  <a:pt x="317500" y="0"/>
                </a:lnTo>
                <a:lnTo>
                  <a:pt x="120650" y="174625"/>
                </a:lnTo>
                <a:lnTo>
                  <a:pt x="120650" y="174625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>
            <a:off x="4727575" y="5990290"/>
            <a:ext cx="3683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918164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Lipids</a:t>
            </a:r>
          </a:p>
        </p:txBody>
      </p:sp>
      <p:sp>
        <p:nvSpPr>
          <p:cNvPr id="14848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Digestion by pancreatic lipases</a:t>
            </a:r>
          </a:p>
          <a:p>
            <a:pPr lvl="1"/>
            <a:r>
              <a:rPr lang="en-US" dirty="0"/>
              <a:t>Triglycerides </a:t>
            </a:r>
            <a:r>
              <a:rPr lang="en-US" dirty="0">
                <a:sym typeface="Symbol" charset="0"/>
              </a:rPr>
              <a:t>→</a:t>
            </a:r>
            <a:r>
              <a:rPr lang="en-US" dirty="0">
                <a:sym typeface="Wingdings" charset="0"/>
              </a:rPr>
              <a:t> </a:t>
            </a:r>
            <a:r>
              <a:rPr lang="en-US" dirty="0" err="1">
                <a:sym typeface="Wingdings" charset="0"/>
              </a:rPr>
              <a:t>monoglyceride</a:t>
            </a:r>
            <a:r>
              <a:rPr lang="en-US" dirty="0">
                <a:sym typeface="Wingdings" charset="0"/>
              </a:rPr>
              <a:t> + 3 fatty acids</a:t>
            </a:r>
            <a:endParaRPr lang="en-US" dirty="0"/>
          </a:p>
          <a:p>
            <a:pPr lvl="1"/>
            <a:r>
              <a:rPr lang="en-US" dirty="0"/>
              <a:t>Some fatty acids and </a:t>
            </a:r>
            <a:r>
              <a:rPr lang="en-US" dirty="0" err="1"/>
              <a:t>monoglycerides</a:t>
            </a:r>
            <a:r>
              <a:rPr lang="en-US" dirty="0"/>
              <a:t> are absorbed </a:t>
            </a:r>
          </a:p>
          <a:p>
            <a:pPr lvl="1"/>
            <a:r>
              <a:rPr lang="en-US" dirty="0"/>
              <a:t>Others form micelles</a:t>
            </a:r>
          </a:p>
          <a:p>
            <a:pPr lvl="1"/>
            <a:r>
              <a:rPr lang="en-US" dirty="0"/>
              <a:t>Equilibrium between micelles and the fatty acids and </a:t>
            </a:r>
            <a:r>
              <a:rPr lang="en-US" dirty="0" err="1"/>
              <a:t>monoglycerides</a:t>
            </a:r>
            <a:r>
              <a:rPr lang="en-US" dirty="0"/>
              <a:t> formed by action of lipases</a:t>
            </a:r>
          </a:p>
        </p:txBody>
      </p:sp>
    </p:spTree>
    <p:extLst>
      <p:ext uri="{BB962C8B-B14F-4D97-AF65-F5344CB8AC3E}">
        <p14:creationId xmlns:p14="http://schemas.microsoft.com/office/powerpoint/2010/main" val="42179052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48" name="Rectangle 27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20.19  Liberation of fatty acids and </a:t>
            </a:r>
            <a:r>
              <a:rPr lang="en-US" sz="1200" b="1" dirty="0" err="1">
                <a:solidFill>
                  <a:srgbClr val="000000"/>
                </a:solidFill>
              </a:rPr>
              <a:t>monoglycerides</a:t>
            </a:r>
            <a:r>
              <a:rPr lang="en-US" sz="1200" b="1" dirty="0">
                <a:solidFill>
                  <a:srgbClr val="000000"/>
                </a:solidFill>
              </a:rPr>
              <a:t> from fat droplets by lipases.</a:t>
            </a:r>
          </a:p>
        </p:txBody>
      </p:sp>
      <p:pic>
        <p:nvPicPr>
          <p:cNvPr id="25" name="Picture 24" descr="figure_20_19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4"/>
          <a:stretch/>
        </p:blipFill>
        <p:spPr>
          <a:xfrm>
            <a:off x="489204" y="456905"/>
            <a:ext cx="8165592" cy="6121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4773" y="768055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" b="1" dirty="0"/>
              <a:t>Fat </a:t>
            </a:r>
            <a:r>
              <a:rPr lang="en-US" sz="1390" b="1" dirty="0"/>
              <a:t>droplet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860" y="672805"/>
            <a:ext cx="1522146" cy="5170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90" b="1" dirty="0"/>
              <a:t>Lipase</a:t>
            </a:r>
          </a:p>
          <a:p>
            <a:pPr algn="l"/>
            <a:r>
              <a:rPr lang="en-US" sz="1390" b="1" dirty="0"/>
              <a:t>(from pancreas)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7723" y="672805"/>
            <a:ext cx="1441420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Monoglyceride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902" y="907755"/>
            <a:ext cx="1010762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Fatty acid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8892" y="533105"/>
            <a:ext cx="873281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Micelles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7363" y="1955505"/>
            <a:ext cx="1305340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Phospholipid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513" y="1961855"/>
            <a:ext cx="1184940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Triglyceride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59" y="2507955"/>
            <a:ext cx="764748" cy="304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Lumen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0705" y="4978105"/>
            <a:ext cx="1462556" cy="306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Absorptive cell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605" y="6133805"/>
            <a:ext cx="1462556" cy="306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0" b="1" dirty="0"/>
              <a:t>Interstitial ﬂuid</a:t>
            </a:r>
          </a:p>
        </p:txBody>
      </p:sp>
      <p:cxnSp>
        <p:nvCxnSpPr>
          <p:cNvPr id="36" name="Straight Connector 35"/>
          <p:cNvCxnSpPr/>
          <p:nvPr/>
        </p:nvCxnSpPr>
        <p:spPr bwMode="auto">
          <a:xfrm flipH="1" flipV="1">
            <a:off x="1811867" y="947972"/>
            <a:ext cx="207433" cy="1979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 flipH="1">
            <a:off x="1630893" y="2044405"/>
            <a:ext cx="121707" cy="814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8" name="Straight Connector 37"/>
          <p:cNvCxnSpPr/>
          <p:nvPr/>
        </p:nvCxnSpPr>
        <p:spPr bwMode="auto">
          <a:xfrm flipH="1" flipV="1">
            <a:off x="2501900" y="1974555"/>
            <a:ext cx="161926" cy="1079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/>
          <p:nvPr/>
        </p:nvCxnSpPr>
        <p:spPr bwMode="auto">
          <a:xfrm flipH="1" flipV="1">
            <a:off x="3200400" y="1120480"/>
            <a:ext cx="317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Straight Connector 39"/>
          <p:cNvCxnSpPr/>
          <p:nvPr/>
        </p:nvCxnSpPr>
        <p:spPr bwMode="auto">
          <a:xfrm flipH="1" flipV="1">
            <a:off x="5654676" y="977605"/>
            <a:ext cx="342899" cy="4540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1" name="Straight Connector 40"/>
          <p:cNvCxnSpPr/>
          <p:nvPr/>
        </p:nvCxnSpPr>
        <p:spPr bwMode="auto">
          <a:xfrm flipV="1">
            <a:off x="6359525" y="1174456"/>
            <a:ext cx="57152" cy="26034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2" name="Freeform 41"/>
          <p:cNvSpPr/>
          <p:nvPr/>
        </p:nvSpPr>
        <p:spPr>
          <a:xfrm>
            <a:off x="7150100" y="820972"/>
            <a:ext cx="143933" cy="1761066"/>
          </a:xfrm>
          <a:custGeom>
            <a:avLst/>
            <a:gdLst>
              <a:gd name="connsiteX0" fmla="*/ 131233 w 143933"/>
              <a:gd name="connsiteY0" fmla="*/ 0 h 1761066"/>
              <a:gd name="connsiteX1" fmla="*/ 0 w 143933"/>
              <a:gd name="connsiteY1" fmla="*/ 0 h 1761066"/>
              <a:gd name="connsiteX2" fmla="*/ 4233 w 143933"/>
              <a:gd name="connsiteY2" fmla="*/ 1761066 h 1761066"/>
              <a:gd name="connsiteX3" fmla="*/ 143933 w 143933"/>
              <a:gd name="connsiteY3" fmla="*/ 1761066 h 1761066"/>
              <a:gd name="connsiteX4" fmla="*/ 143933 w 143933"/>
              <a:gd name="connsiteY4" fmla="*/ 1761066 h 1761066"/>
              <a:gd name="connsiteX5" fmla="*/ 143933 w 143933"/>
              <a:gd name="connsiteY5" fmla="*/ 1761066 h 1761066"/>
              <a:gd name="connsiteX6" fmla="*/ 143933 w 143933"/>
              <a:gd name="connsiteY6" fmla="*/ 1761066 h 1761066"/>
              <a:gd name="connsiteX7" fmla="*/ 143933 w 143933"/>
              <a:gd name="connsiteY7" fmla="*/ 1761066 h 1761066"/>
              <a:gd name="connsiteX8" fmla="*/ 143933 w 143933"/>
              <a:gd name="connsiteY8" fmla="*/ 1761066 h 176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933" h="1761066">
                <a:moveTo>
                  <a:pt x="131233" y="0"/>
                </a:moveTo>
                <a:lnTo>
                  <a:pt x="0" y="0"/>
                </a:lnTo>
                <a:lnTo>
                  <a:pt x="4233" y="1761066"/>
                </a:lnTo>
                <a:lnTo>
                  <a:pt x="143933" y="1761066"/>
                </a:lnTo>
                <a:lnTo>
                  <a:pt x="143933" y="1761066"/>
                </a:lnTo>
                <a:lnTo>
                  <a:pt x="143933" y="1761066"/>
                </a:lnTo>
                <a:lnTo>
                  <a:pt x="143933" y="1761066"/>
                </a:lnTo>
                <a:lnTo>
                  <a:pt x="143933" y="1761066"/>
                </a:lnTo>
                <a:lnTo>
                  <a:pt x="143933" y="1761066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cxnSp>
        <p:nvCxnSpPr>
          <p:cNvPr id="43" name="Straight Connector 42"/>
          <p:cNvCxnSpPr/>
          <p:nvPr/>
        </p:nvCxnSpPr>
        <p:spPr bwMode="auto">
          <a:xfrm flipH="1" flipV="1">
            <a:off x="7022044" y="1699390"/>
            <a:ext cx="132289" cy="211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616094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Lipids</a:t>
            </a:r>
          </a:p>
        </p:txBody>
      </p:sp>
      <p:sp>
        <p:nvSpPr>
          <p:cNvPr id="15257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of </a:t>
            </a:r>
            <a:r>
              <a:rPr lang="en-US" dirty="0" err="1"/>
              <a:t>monoglycerides</a:t>
            </a:r>
            <a:r>
              <a:rPr lang="en-US" dirty="0"/>
              <a:t> and fatty acids</a:t>
            </a:r>
          </a:p>
          <a:p>
            <a:pPr lvl="1"/>
            <a:r>
              <a:rPr lang="en-US" dirty="0"/>
              <a:t>Equilibrium between free fatty acids and </a:t>
            </a:r>
            <a:r>
              <a:rPr lang="en-US" dirty="0" err="1"/>
              <a:t>monoglycerides</a:t>
            </a:r>
            <a:r>
              <a:rPr lang="en-US" dirty="0"/>
              <a:t> and those inside micelles</a:t>
            </a:r>
          </a:p>
          <a:p>
            <a:pPr lvl="2"/>
            <a:r>
              <a:rPr lang="en-US" dirty="0"/>
              <a:t>Free form can be absorbed by simple diffusion across epithelium</a:t>
            </a:r>
          </a:p>
          <a:p>
            <a:pPr lvl="1"/>
            <a:r>
              <a:rPr lang="en-US" dirty="0"/>
              <a:t>Inside epithelial cell </a:t>
            </a:r>
          </a:p>
          <a:p>
            <a:pPr lvl="2"/>
            <a:r>
              <a:rPr lang="en-US" dirty="0"/>
              <a:t>Enter smooth ER and re-form triglycerides and other lipids</a:t>
            </a:r>
          </a:p>
          <a:p>
            <a:pPr lvl="2"/>
            <a:r>
              <a:rPr lang="en-US" dirty="0"/>
              <a:t>Lipids enter Golgi apparatus to be packaged </a:t>
            </a:r>
            <a:br>
              <a:rPr lang="en-US" dirty="0"/>
            </a:br>
            <a:r>
              <a:rPr lang="en-US" dirty="0"/>
              <a:t>into chylomicrons</a:t>
            </a:r>
          </a:p>
          <a:p>
            <a:pPr lvl="2"/>
            <a:r>
              <a:rPr lang="en-US" dirty="0"/>
              <a:t>Chylomicrons are secreted by exocytosis into interstitial fluid</a:t>
            </a:r>
          </a:p>
          <a:p>
            <a:pPr lvl="2"/>
            <a:r>
              <a:rPr lang="en-US" dirty="0"/>
              <a:t>Chylomicrons enter lymphatic system via lacteal</a:t>
            </a:r>
          </a:p>
        </p:txBody>
      </p:sp>
    </p:spTree>
    <p:extLst>
      <p:ext uri="{BB962C8B-B14F-4D97-AF65-F5344CB8AC3E}">
        <p14:creationId xmlns:p14="http://schemas.microsoft.com/office/powerpoint/2010/main" val="19733856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8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20.20  The </a:t>
            </a:r>
            <a:r>
              <a:rPr lang="en-US" sz="1200" b="1" dirty="0" err="1">
                <a:solidFill>
                  <a:srgbClr val="000000"/>
                </a:solidFill>
              </a:rPr>
              <a:t>enterohepatic</a:t>
            </a:r>
            <a:r>
              <a:rPr lang="en-US" sz="1200" b="1" dirty="0">
                <a:solidFill>
                  <a:srgbClr val="000000"/>
                </a:solidFill>
              </a:rPr>
              <a:t> circulation.</a:t>
            </a:r>
          </a:p>
        </p:txBody>
      </p:sp>
      <p:pic>
        <p:nvPicPr>
          <p:cNvPr id="19" name="Picture 18" descr="figure_20_20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9"/>
          <a:stretch/>
        </p:blipFill>
        <p:spPr>
          <a:xfrm>
            <a:off x="271272" y="1195910"/>
            <a:ext cx="8601456" cy="44661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64144" y="1567121"/>
            <a:ext cx="135494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Hepatic portal vein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289" y="2104656"/>
            <a:ext cx="497307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009" y="3693633"/>
            <a:ext cx="90428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Gallbladder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6965" y="4036237"/>
            <a:ext cx="751445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Common</a:t>
            </a:r>
          </a:p>
          <a:p>
            <a:r>
              <a:rPr lang="en-US" sz="1020" b="1" dirty="0"/>
              <a:t>bile 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8699" y="4467445"/>
            <a:ext cx="759044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Bile salts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913" y="3280144"/>
            <a:ext cx="846290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b="1" dirty="0"/>
              <a:t>Capillaries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7590" y="5459818"/>
            <a:ext cx="584426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dirty="0">
                <a:latin typeface="Arial Black"/>
                <a:cs typeface="Arial Black"/>
              </a:rPr>
              <a:t>Ileum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8372" y="5459819"/>
            <a:ext cx="941283" cy="24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20" dirty="0">
                <a:latin typeface="Arial Black"/>
                <a:cs typeface="Arial Black"/>
              </a:rPr>
              <a:t>Duodenum</a:t>
            </a:r>
          </a:p>
        </p:txBody>
      </p:sp>
      <p:cxnSp>
        <p:nvCxnSpPr>
          <p:cNvPr id="28" name="Straight Connector 27"/>
          <p:cNvCxnSpPr/>
          <p:nvPr/>
        </p:nvCxnSpPr>
        <p:spPr bwMode="auto">
          <a:xfrm>
            <a:off x="676423" y="2253290"/>
            <a:ext cx="584052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>
            <a:off x="1066948" y="3834440"/>
            <a:ext cx="190352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108200" y="4167815"/>
            <a:ext cx="336550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Freeform 30"/>
          <p:cNvSpPr/>
          <p:nvPr/>
        </p:nvSpPr>
        <p:spPr>
          <a:xfrm>
            <a:off x="3559175" y="4679950"/>
            <a:ext cx="225425" cy="422275"/>
          </a:xfrm>
          <a:custGeom>
            <a:avLst/>
            <a:gdLst>
              <a:gd name="connsiteX0" fmla="*/ 0 w 225425"/>
              <a:gd name="connsiteY0" fmla="*/ 422275 h 422275"/>
              <a:gd name="connsiteX1" fmla="*/ 225425 w 225425"/>
              <a:gd name="connsiteY1" fmla="*/ 0 h 422275"/>
              <a:gd name="connsiteX2" fmla="*/ 225425 w 225425"/>
              <a:gd name="connsiteY2" fmla="*/ 254000 h 422275"/>
              <a:gd name="connsiteX3" fmla="*/ 225425 w 225425"/>
              <a:gd name="connsiteY3" fmla="*/ 254000 h 422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425" h="422275">
                <a:moveTo>
                  <a:pt x="0" y="422275"/>
                </a:moveTo>
                <a:lnTo>
                  <a:pt x="225425" y="0"/>
                </a:lnTo>
                <a:lnTo>
                  <a:pt x="225425" y="254000"/>
                </a:lnTo>
                <a:lnTo>
                  <a:pt x="225425" y="254000"/>
                </a:lnTo>
              </a:path>
            </a:pathLst>
          </a:custGeom>
          <a:ln w="15875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4783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_20_21_unlabeled_Slide07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1"/>
          <a:stretch/>
        </p:blipFill>
        <p:spPr>
          <a:xfrm>
            <a:off x="1453896" y="366841"/>
            <a:ext cx="6236208" cy="6137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7091" y="2512488"/>
            <a:ext cx="1018227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Other lipids</a:t>
            </a:r>
          </a:p>
          <a:p>
            <a:pPr algn="l"/>
            <a:r>
              <a:rPr lang="en-US" sz="1080" b="1" dirty="0"/>
              <a:t>and proteins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640" y="3426888"/>
            <a:ext cx="96693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Triglyceride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412" y="3717079"/>
            <a:ext cx="10311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Chylomicron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6154" y="4946656"/>
            <a:ext cx="66197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Lacteal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865" y="5712889"/>
            <a:ext cx="16135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To general circulation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326" y="5988056"/>
            <a:ext cx="633503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Lymph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3609975" y="3124200"/>
            <a:ext cx="485775" cy="371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4552950" y="3559175"/>
            <a:ext cx="733425" cy="2984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>
            <a:off x="4982633" y="5091643"/>
            <a:ext cx="23600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6184072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21_unlabeled_Slide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0"/>
          <a:stretch/>
        </p:blipFill>
        <p:spPr>
          <a:xfrm>
            <a:off x="1453896" y="366841"/>
            <a:ext cx="6236208" cy="6139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2199565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21_unlabeled_Slide03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"/>
          <a:stretch/>
        </p:blipFill>
        <p:spPr>
          <a:xfrm>
            <a:off x="1453896" y="366842"/>
            <a:ext cx="6236208" cy="61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0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40884588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gure_20_21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2"/>
          <a:stretch/>
        </p:blipFill>
        <p:spPr>
          <a:xfrm>
            <a:off x="1453896" y="366842"/>
            <a:ext cx="6236208" cy="61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7091" y="2512488"/>
            <a:ext cx="1018227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Other lipids</a:t>
            </a:r>
          </a:p>
          <a:p>
            <a:pPr algn="l"/>
            <a:r>
              <a:rPr lang="en-US" sz="1080" b="1" dirty="0"/>
              <a:t>and proteins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640" y="3426888"/>
            <a:ext cx="96693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Triglyceride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3609975" y="3124200"/>
            <a:ext cx="485775" cy="371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3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5842999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21_unlabeled_Slide05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0"/>
          <a:stretch/>
        </p:blipFill>
        <p:spPr>
          <a:xfrm>
            <a:off x="1453896" y="366841"/>
            <a:ext cx="6236208" cy="6139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7091" y="2512488"/>
            <a:ext cx="1018227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Other lipids</a:t>
            </a:r>
          </a:p>
          <a:p>
            <a:pPr algn="l"/>
            <a:r>
              <a:rPr lang="en-US" sz="1080" b="1" dirty="0"/>
              <a:t>and proteins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640" y="3426888"/>
            <a:ext cx="96693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Triglyceride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412" y="3717079"/>
            <a:ext cx="10311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Chylomicron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3609975" y="3124200"/>
            <a:ext cx="485775" cy="371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4552950" y="3559175"/>
            <a:ext cx="733425" cy="2984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5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7157936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0_21_unlabeled_Slide06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0"/>
          <a:stretch/>
        </p:blipFill>
        <p:spPr>
          <a:xfrm>
            <a:off x="1453896" y="366841"/>
            <a:ext cx="6236208" cy="6139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7091" y="2512488"/>
            <a:ext cx="1018227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Other lipids</a:t>
            </a:r>
          </a:p>
          <a:p>
            <a:pPr algn="l"/>
            <a:r>
              <a:rPr lang="en-US" sz="1080" b="1" dirty="0"/>
              <a:t>and proteins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640" y="3426888"/>
            <a:ext cx="96693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Triglyceride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412" y="3717079"/>
            <a:ext cx="10311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Chylomicron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6154" y="4946656"/>
            <a:ext cx="66197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Lacteal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326" y="5988056"/>
            <a:ext cx="633503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Lymph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3609975" y="3124200"/>
            <a:ext cx="485775" cy="371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4552950" y="3559175"/>
            <a:ext cx="733425" cy="2984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>
            <a:off x="4982633" y="5091643"/>
            <a:ext cx="23600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18155914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_20_21_unlabeled_Slide07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1"/>
          <a:stretch/>
        </p:blipFill>
        <p:spPr>
          <a:xfrm>
            <a:off x="1453896" y="366841"/>
            <a:ext cx="6236208" cy="6137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1145" y="484719"/>
            <a:ext cx="647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0702" y="931337"/>
            <a:ext cx="1031282" cy="590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Smooth</a:t>
            </a:r>
          </a:p>
          <a:p>
            <a:pPr algn="l"/>
            <a:r>
              <a:rPr lang="en-US" sz="1080" b="1" dirty="0"/>
              <a:t>endoplasmic</a:t>
            </a:r>
          </a:p>
          <a:p>
            <a:pPr algn="l"/>
            <a:r>
              <a:rPr lang="en-US" sz="1080" b="1" dirty="0"/>
              <a:t>reticulum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8621" y="720729"/>
            <a:ext cx="116200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Monoglyceride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7651" y="717554"/>
            <a:ext cx="831175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Fatty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7091" y="2512488"/>
            <a:ext cx="1018227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Other lipids</a:t>
            </a:r>
          </a:p>
          <a:p>
            <a:pPr algn="l"/>
            <a:r>
              <a:rPr lang="en-US" sz="1080" b="1" dirty="0"/>
              <a:t>and proteins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715" y="2990854"/>
            <a:ext cx="851515" cy="424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80" b="1" dirty="0"/>
              <a:t>Golgi</a:t>
            </a:r>
          </a:p>
          <a:p>
            <a:pPr algn="l"/>
            <a:r>
              <a:rPr lang="en-US" sz="1080" b="1" dirty="0"/>
              <a:t>apparatus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640" y="3426888"/>
            <a:ext cx="96693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Triglyceride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966" y="3774021"/>
            <a:ext cx="90281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Enterocyte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953" y="4188887"/>
            <a:ext cx="57696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Blood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7412" y="3717079"/>
            <a:ext cx="10311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Chylomicron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6154" y="4946656"/>
            <a:ext cx="66197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Lacteal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1194" y="4933957"/>
            <a:ext cx="1177288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Interstitial ﬂuid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865" y="5712889"/>
            <a:ext cx="1613547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To general circulation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326" y="5988056"/>
            <a:ext cx="633503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80" b="1" dirty="0"/>
              <a:t>Lymph</a:t>
            </a:r>
          </a:p>
        </p:txBody>
      </p:sp>
      <p:cxnSp>
        <p:nvCxnSpPr>
          <p:cNvPr id="21" name="Straight Connector 20"/>
          <p:cNvCxnSpPr/>
          <p:nvPr/>
        </p:nvCxnSpPr>
        <p:spPr bwMode="auto">
          <a:xfrm>
            <a:off x="4676775" y="860425"/>
            <a:ext cx="190500" cy="79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 flipH="1">
            <a:off x="5441950" y="860425"/>
            <a:ext cx="238125" cy="1460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3228976" y="1463675"/>
            <a:ext cx="634999" cy="10953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2743200" y="3571875"/>
            <a:ext cx="3175" cy="260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3609975" y="3124200"/>
            <a:ext cx="485775" cy="3714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4552950" y="3559175"/>
            <a:ext cx="733425" cy="2984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Connector 33"/>
          <p:cNvCxnSpPr/>
          <p:nvPr/>
        </p:nvCxnSpPr>
        <p:spPr bwMode="auto">
          <a:xfrm>
            <a:off x="5337175" y="3127375"/>
            <a:ext cx="2032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>
            <a:off x="4982633" y="5091643"/>
            <a:ext cx="23600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Rectangle 3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>
                <a:solidFill>
                  <a:srgbClr val="000000"/>
                </a:solidFill>
              </a:rPr>
              <a:t>Figure 20.21  Events in the absorption of fats.</a:t>
            </a: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8463255" y="113574"/>
            <a:ext cx="68074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en-US" sz="1200" b="1" dirty="0">
                <a:cs typeface="Arial" charset="0"/>
              </a:rP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33029683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Vitamins</a:t>
            </a:r>
          </a:p>
        </p:txBody>
      </p:sp>
      <p:sp>
        <p:nvSpPr>
          <p:cNvPr id="17101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Fat-soluble vitamins (A, D, E, and K)</a:t>
            </a:r>
          </a:p>
          <a:p>
            <a:pPr lvl="1"/>
            <a:r>
              <a:rPr lang="en-US" dirty="0"/>
              <a:t>Absorbed with lipids</a:t>
            </a:r>
          </a:p>
          <a:p>
            <a:pPr lvl="1"/>
            <a:r>
              <a:rPr lang="en-US" dirty="0"/>
              <a:t>Dissolve in lipid droplets, micelles, and chylomicrons</a:t>
            </a:r>
          </a:p>
          <a:p>
            <a:r>
              <a:rPr lang="en-US" dirty="0"/>
              <a:t>Water-soluble vitamins</a:t>
            </a:r>
          </a:p>
          <a:p>
            <a:pPr lvl="1"/>
            <a:r>
              <a:rPr lang="en-US" dirty="0"/>
              <a:t>Require special transport proteins</a:t>
            </a:r>
          </a:p>
          <a:p>
            <a:r>
              <a:rPr lang="en-US" dirty="0"/>
              <a:t>Vitamin B</a:t>
            </a:r>
            <a:r>
              <a:rPr lang="en-US" baseline="-25000" dirty="0"/>
              <a:t>12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Absorbed only if bound to intrinsic factor</a:t>
            </a:r>
          </a:p>
        </p:txBody>
      </p:sp>
    </p:spTree>
    <p:extLst>
      <p:ext uri="{BB962C8B-B14F-4D97-AF65-F5344CB8AC3E}">
        <p14:creationId xmlns:p14="http://schemas.microsoft.com/office/powerpoint/2010/main" val="9066912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Minerals</a:t>
            </a:r>
          </a:p>
        </p:txBody>
      </p:sp>
      <p:sp>
        <p:nvSpPr>
          <p:cNvPr id="17305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Sodium</a:t>
            </a:r>
          </a:p>
          <a:p>
            <a:pPr lvl="1"/>
            <a:r>
              <a:rPr lang="en-US" dirty="0"/>
              <a:t>Solvent drag with water reabsorption</a:t>
            </a:r>
          </a:p>
          <a:p>
            <a:pPr lvl="1"/>
            <a:r>
              <a:rPr lang="en-US" dirty="0"/>
              <a:t>Actively absorbed in jejunum, ileum, and colon</a:t>
            </a:r>
          </a:p>
          <a:p>
            <a:r>
              <a:rPr lang="en-US" dirty="0"/>
              <a:t>Chloride</a:t>
            </a:r>
          </a:p>
          <a:p>
            <a:pPr lvl="1"/>
            <a:r>
              <a:rPr lang="en-US" dirty="0"/>
              <a:t>Passively follows sodium absorption</a:t>
            </a:r>
          </a:p>
          <a:p>
            <a:r>
              <a:rPr lang="en-US" dirty="0"/>
              <a:t>Potassium</a:t>
            </a:r>
          </a:p>
          <a:p>
            <a:pPr lvl="1"/>
            <a:r>
              <a:rPr lang="en-US" dirty="0"/>
              <a:t>Passively absorbed</a:t>
            </a:r>
          </a:p>
          <a:p>
            <a:pPr lvl="1"/>
            <a:r>
              <a:rPr lang="en-US" dirty="0"/>
              <a:t>Secreted when </a:t>
            </a:r>
            <a:r>
              <a:rPr lang="en-US" dirty="0" err="1"/>
              <a:t>lumenal</a:t>
            </a:r>
            <a:r>
              <a:rPr lang="en-US" dirty="0"/>
              <a:t> concentrations are very low</a:t>
            </a:r>
          </a:p>
        </p:txBody>
      </p:sp>
    </p:spTree>
    <p:extLst>
      <p:ext uri="{BB962C8B-B14F-4D97-AF65-F5344CB8AC3E}">
        <p14:creationId xmlns:p14="http://schemas.microsoft.com/office/powerpoint/2010/main" val="39667462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Minerals</a:t>
            </a:r>
          </a:p>
        </p:txBody>
      </p:sp>
      <p:sp>
        <p:nvSpPr>
          <p:cNvPr id="17510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and secretion of bicarbonate</a:t>
            </a:r>
          </a:p>
          <a:p>
            <a:pPr lvl="1"/>
            <a:r>
              <a:rPr lang="en-US" dirty="0"/>
              <a:t>Jejunum</a:t>
            </a:r>
          </a:p>
          <a:p>
            <a:pPr lvl="2"/>
            <a:r>
              <a:rPr lang="en-US" dirty="0"/>
              <a:t>Bicarbonate ions are passively absorbed</a:t>
            </a:r>
          </a:p>
          <a:p>
            <a:pPr lvl="1"/>
            <a:r>
              <a:rPr lang="en-US" dirty="0"/>
              <a:t>Ileum and colon</a:t>
            </a:r>
          </a:p>
          <a:p>
            <a:pPr lvl="2"/>
            <a:r>
              <a:rPr lang="en-US" dirty="0"/>
              <a:t>Bicarbonate are secreted in exchange for chloride ions</a:t>
            </a:r>
          </a:p>
        </p:txBody>
      </p:sp>
    </p:spTree>
    <p:extLst>
      <p:ext uri="{BB962C8B-B14F-4D97-AF65-F5344CB8AC3E}">
        <p14:creationId xmlns:p14="http://schemas.microsoft.com/office/powerpoint/2010/main" val="5311323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Minerals</a:t>
            </a:r>
          </a:p>
        </p:txBody>
      </p:sp>
      <p:sp>
        <p:nvSpPr>
          <p:cNvPr id="17715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Calcium</a:t>
            </a:r>
          </a:p>
          <a:p>
            <a:pPr lvl="1"/>
            <a:r>
              <a:rPr lang="en-US" dirty="0"/>
              <a:t>Actively absorbed in duodenum and jejunum</a:t>
            </a:r>
          </a:p>
          <a:p>
            <a:pPr lvl="1"/>
            <a:r>
              <a:rPr lang="en-US" dirty="0"/>
              <a:t>Binds to brush border protein: calcium-binding protein</a:t>
            </a:r>
          </a:p>
          <a:p>
            <a:pPr lvl="2"/>
            <a:r>
              <a:rPr lang="en-US" dirty="0"/>
              <a:t>Transported into epithelial cells</a:t>
            </a:r>
          </a:p>
          <a:p>
            <a:pPr lvl="1"/>
            <a:r>
              <a:rPr lang="en-US" dirty="0"/>
              <a:t>Transported out of cells across the </a:t>
            </a:r>
            <a:r>
              <a:rPr lang="en-US" dirty="0" err="1"/>
              <a:t>basolateral</a:t>
            </a:r>
            <a:r>
              <a:rPr lang="en-US" dirty="0"/>
              <a:t> membrane by the Ca</a:t>
            </a:r>
            <a:r>
              <a:rPr lang="en-US" baseline="30000" dirty="0"/>
              <a:t>2+</a:t>
            </a:r>
            <a:r>
              <a:rPr lang="en-US" dirty="0"/>
              <a:t> pump</a:t>
            </a:r>
          </a:p>
          <a:p>
            <a:pPr lvl="1"/>
            <a:r>
              <a:rPr lang="en-US" dirty="0"/>
              <a:t>1,25-(OH)</a:t>
            </a:r>
            <a:r>
              <a:rPr lang="en-US" baseline="-25000" dirty="0"/>
              <a:t>2</a:t>
            </a:r>
            <a:r>
              <a:rPr lang="en-US" dirty="0"/>
              <a:t>D</a:t>
            </a:r>
            <a:r>
              <a:rPr lang="en-US" baseline="-25000" dirty="0"/>
              <a:t>3</a:t>
            </a:r>
            <a:r>
              <a:rPr lang="en-US" dirty="0"/>
              <a:t> increases calcium absorption by increasing the concentration of calcium-binding protein</a:t>
            </a:r>
          </a:p>
        </p:txBody>
      </p:sp>
    </p:spTree>
    <p:extLst>
      <p:ext uri="{BB962C8B-B14F-4D97-AF65-F5344CB8AC3E}">
        <p14:creationId xmlns:p14="http://schemas.microsoft.com/office/powerpoint/2010/main" val="5702368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Minerals</a:t>
            </a:r>
          </a:p>
        </p:txBody>
      </p:sp>
      <p:sp>
        <p:nvSpPr>
          <p:cNvPr id="17920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Iron</a:t>
            </a:r>
          </a:p>
          <a:p>
            <a:pPr lvl="1"/>
            <a:r>
              <a:rPr lang="en-US"/>
              <a:t>Transferrin is secreted by enterocytes into the lumen of the small intestine</a:t>
            </a:r>
          </a:p>
          <a:p>
            <a:pPr lvl="1"/>
            <a:r>
              <a:rPr lang="en-US"/>
              <a:t>Transferrin binds iron</a:t>
            </a:r>
          </a:p>
          <a:p>
            <a:pPr lvl="2"/>
            <a:r>
              <a:rPr lang="en-US"/>
              <a:t>Transferrin–iron complex binds receptor</a:t>
            </a:r>
          </a:p>
          <a:p>
            <a:pPr lvl="2"/>
            <a:r>
              <a:rPr lang="en-US"/>
              <a:t>Taken into cells by receptor-mediated endocytosis</a:t>
            </a:r>
          </a:p>
          <a:p>
            <a:pPr lvl="1"/>
            <a:r>
              <a:rPr lang="en-US"/>
              <a:t>Some iron is stored in enterocytes as ferritin</a:t>
            </a:r>
          </a:p>
          <a:p>
            <a:pPr lvl="1"/>
            <a:r>
              <a:rPr lang="en-US"/>
              <a:t>Some iron is transported into blood: bound to transferrin</a:t>
            </a:r>
          </a:p>
        </p:txBody>
      </p:sp>
    </p:spTree>
    <p:extLst>
      <p:ext uri="{BB962C8B-B14F-4D97-AF65-F5344CB8AC3E}">
        <p14:creationId xmlns:p14="http://schemas.microsoft.com/office/powerpoint/2010/main" val="2966155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Absorption of Water</a:t>
            </a:r>
          </a:p>
        </p:txBody>
      </p:sp>
      <p:sp>
        <p:nvSpPr>
          <p:cNvPr id="18125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 in GI tract </a:t>
            </a:r>
          </a:p>
          <a:p>
            <a:pPr lvl="1"/>
            <a:r>
              <a:rPr lang="en-US" dirty="0"/>
              <a:t>Secretions: 7 liters/day</a:t>
            </a:r>
          </a:p>
          <a:p>
            <a:pPr lvl="1"/>
            <a:r>
              <a:rPr lang="en-US" dirty="0"/>
              <a:t>Intake: 2 liters/day</a:t>
            </a:r>
          </a:p>
          <a:p>
            <a:r>
              <a:rPr lang="en-US" dirty="0"/>
              <a:t>Water absorption is passive</a:t>
            </a:r>
          </a:p>
          <a:p>
            <a:r>
              <a:rPr lang="en-US" dirty="0"/>
              <a:t>Water follows absorption of solutes by osmosis</a:t>
            </a:r>
          </a:p>
        </p:txBody>
      </p:sp>
    </p:spTree>
    <p:extLst>
      <p:ext uri="{BB962C8B-B14F-4D97-AF65-F5344CB8AC3E}">
        <p14:creationId xmlns:p14="http://schemas.microsoft.com/office/powerpoint/2010/main" val="224288005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3068</Words>
  <Application>Microsoft Office PowerPoint</Application>
  <PresentationFormat>On-screen Show (4:3)</PresentationFormat>
  <Paragraphs>994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Arial</vt:lpstr>
      <vt:lpstr>Arial Black</vt:lpstr>
      <vt:lpstr>Calibri</vt:lpstr>
      <vt:lpstr>Times</vt:lpstr>
      <vt:lpstr>Wingdings</vt:lpstr>
      <vt:lpstr>Blank Presentation</vt:lpstr>
      <vt:lpstr>The Gastrointestinal System</vt:lpstr>
      <vt:lpstr>Chapter Outline</vt:lpstr>
      <vt:lpstr>20.1 Overview of Gastrointestinal System Processes</vt:lpstr>
      <vt:lpstr>Figure 20.1  Overview of the four basic digestive processes: digestion, absorption, secretion, and motility.</vt:lpstr>
      <vt:lpstr>20.2 Functional Anatomy of the Gastrointestinal System</vt:lpstr>
      <vt:lpstr>Figure 20.2  Major structures of the gastrointestinal system.</vt:lpstr>
      <vt:lpstr>The Gastrointestinal Tract</vt:lpstr>
      <vt:lpstr>The Gastrointestinal Tract</vt:lpstr>
      <vt:lpstr>Figure 20.3  Generalized structure of the gastrointestinal wall, depicting the four major layers and the tissues within them.</vt:lpstr>
      <vt:lpstr>The Gastrointestinal Tract</vt:lpstr>
      <vt:lpstr>The Gastrointestinal Tract</vt:lpstr>
      <vt:lpstr>The Gastrointestinal Tract</vt:lpstr>
      <vt:lpstr>The Gastrointestinal Tract</vt:lpstr>
      <vt:lpstr>The Gastrointestinal Tract</vt:lpstr>
      <vt:lpstr>Figure 20.4  Mesenteries.</vt:lpstr>
      <vt:lpstr>The Gastrointestinal Tract</vt:lpstr>
      <vt:lpstr>Figure 20.5  Anatomy of the mouth, pharynx, esophagus, and stomach.</vt:lpstr>
      <vt:lpstr>The Gastrointestinal Tract</vt:lpstr>
      <vt:lpstr>The Gastrointestinal Tract</vt:lpstr>
      <vt:lpstr>The Gastrointestinal Tract</vt:lpstr>
      <vt:lpstr>The Gastrointestinal Tract</vt:lpstr>
      <vt:lpstr>The Gastrointestinal Tract</vt:lpstr>
      <vt:lpstr>The Gastrointestinal Tract</vt:lpstr>
      <vt:lpstr>The Gastrointestinal Tract</vt:lpstr>
      <vt:lpstr>Figure 20.6  Anatomy of the small intestine.</vt:lpstr>
      <vt:lpstr>The Gastrointestinal Tract</vt:lpstr>
      <vt:lpstr>The Gastrointestinal Tract</vt:lpstr>
      <vt:lpstr>The Gastrointestinal Tract</vt:lpstr>
      <vt:lpstr>The Gastrointestinal Tract</vt:lpstr>
      <vt:lpstr>The Gastrointestinal Tract</vt:lpstr>
      <vt:lpstr>Figure 20.7  Circulatory route of materials absorbed in the small intestine and colon.</vt:lpstr>
      <vt:lpstr>The Gastrointestinal Tract</vt:lpstr>
      <vt:lpstr>The Gastrointestinal Tract</vt:lpstr>
      <vt:lpstr>Figure 20.8  Major anatomical features of the colon.</vt:lpstr>
      <vt:lpstr>The Gastrointestinal Tract</vt:lpstr>
      <vt:lpstr>The Accessory Glands</vt:lpstr>
      <vt:lpstr>Figure 20.9  Generalized structure of an accessory gland.</vt:lpstr>
      <vt:lpstr>Figure 20.10  Location of the major salivary glands.</vt:lpstr>
      <vt:lpstr>The Accessory Glands</vt:lpstr>
      <vt:lpstr>The Accessory Glands</vt:lpstr>
      <vt:lpstr>Figure 20.11  The pancreas and associated structures.</vt:lpstr>
      <vt:lpstr>The Accessory Glands</vt:lpstr>
      <vt:lpstr>The Accessory Glands</vt:lpstr>
      <vt:lpstr>The Accessory Glands</vt:lpstr>
      <vt:lpstr>The Accessory Glands</vt:lpstr>
      <vt:lpstr>Figure 20.12a  Structures of the biliary system.</vt:lpstr>
      <vt:lpstr>Figure 20.12b  Structures of the biliary system.</vt:lpstr>
      <vt:lpstr>PowerPoint Presentation</vt:lpstr>
      <vt:lpstr>20.3 Digestion and Absorption of Nutrients and Water</vt:lpstr>
      <vt:lpstr>Carbohydrates</vt:lpstr>
      <vt:lpstr>Carbohydrates</vt:lpstr>
      <vt:lpstr>Figure 20.13  Digestion of starch by salivary or pancreatic amylase.</vt:lpstr>
      <vt:lpstr>Carbohydrates</vt:lpstr>
      <vt:lpstr>Absorption of Carbohydrates</vt:lpstr>
      <vt:lpstr>Figure 20.14  Digestion and absorption of maltose.</vt:lpstr>
      <vt:lpstr>Proteins</vt:lpstr>
      <vt:lpstr>Proteins</vt:lpstr>
      <vt:lpstr>Proteins</vt:lpstr>
      <vt:lpstr>Figure 20.15  Activation and activity of pepsin in the stomach.</vt:lpstr>
      <vt:lpstr>Proteins</vt:lpstr>
      <vt:lpstr>Figure 20.16  Activation of proteases in the small intestine.</vt:lpstr>
      <vt:lpstr>Figure 20.16  Activation of proteases in the small intestine.</vt:lpstr>
      <vt:lpstr>Figure 20.16  Activation of proteases in the small intestine.</vt:lpstr>
      <vt:lpstr>Figure 20.16  Activation of proteases in the small intestine.</vt:lpstr>
      <vt:lpstr>Proteins</vt:lpstr>
      <vt:lpstr>Lipids</vt:lpstr>
      <vt:lpstr>Lipids</vt:lpstr>
      <vt:lpstr>Lipids</vt:lpstr>
      <vt:lpstr>Figure 20.17  A representative bile salt.</vt:lpstr>
      <vt:lpstr>Figure 20.18  Emulsification of a fat globule by bile salts.</vt:lpstr>
      <vt:lpstr>Lipids</vt:lpstr>
      <vt:lpstr>Figure 20.19  Liberation of fatty acids and monoglycerides from fat droplets by lipases.</vt:lpstr>
      <vt:lpstr>Lipids</vt:lpstr>
      <vt:lpstr>Figure 20.20  The enterohepatic circulation.</vt:lpstr>
      <vt:lpstr>Figure 20.21  Events in the absorption of fats.</vt:lpstr>
      <vt:lpstr>Figure 20.21  Events in the absorption of fats.</vt:lpstr>
      <vt:lpstr>Figure 20.21  Events in the absorption of fats.</vt:lpstr>
      <vt:lpstr>Figure 20.21  Events in the absorption of fats.</vt:lpstr>
      <vt:lpstr>Figure 20.21  Events in the absorption of fats.</vt:lpstr>
      <vt:lpstr>Figure 20.21  Events in the absorption of fats.</vt:lpstr>
      <vt:lpstr>Figure 20.21  Events in the absorption of fats.</vt:lpstr>
      <vt:lpstr>Absorption of Vitamins</vt:lpstr>
      <vt:lpstr>Absorption of Minerals</vt:lpstr>
      <vt:lpstr>Absorption of Minerals</vt:lpstr>
      <vt:lpstr>Absorption of Minerals</vt:lpstr>
      <vt:lpstr>Absorption of Minerals</vt:lpstr>
      <vt:lpstr>Absorption of Water</vt:lpstr>
    </vt:vector>
  </TitlesOfParts>
  <Company>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PMG</dc:creator>
  <cp:lastModifiedBy>dhurlbut1@outlook.com</cp:lastModifiedBy>
  <cp:revision>60</cp:revision>
  <dcterms:created xsi:type="dcterms:W3CDTF">2012-07-13T15:05:13Z</dcterms:created>
  <dcterms:modified xsi:type="dcterms:W3CDTF">2020-11-30T17:20:08Z</dcterms:modified>
</cp:coreProperties>
</file>